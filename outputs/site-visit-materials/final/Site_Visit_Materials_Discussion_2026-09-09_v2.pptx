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3393d7be9e4c56" /><Relationship Type="http://schemas.openxmlformats.org/officeDocument/2006/relationships/extended-properties" Target="/docProps/app.xml" Id="R245da8d7c865405a" /><Relationship Type="http://schemas.openxmlformats.org/officeDocument/2006/relationships/officeDocument" Target="/ppt/presentation.xml" Id="R271c7fb92236426f" /></Relationships>
</file>

<file path=ppt/presentation.xml><?xml version="1.0" encoding="utf-8"?>
<p:presentation xmlns:p="http://schemas.openxmlformats.org/presentationml/2006/main">
  <p:sldMasterIdLst>
    <p:sldMasterId xmlns:r="http://schemas.openxmlformats.org/officeDocument/2006/relationships" id="2147483648" r:id="R6d9b89b908ad439d"/>
  </p:sldMasterIdLst>
  <p:notesMasterIdLst>
    <p:notesMasterId xmlns:r="http://schemas.openxmlformats.org/officeDocument/2006/relationships" r:id="R2b7949d94f96498f"/>
  </p:notesMasterIdLst>
  <p:sldIdLst>
    <p:sldId xmlns:r="http://schemas.openxmlformats.org/officeDocument/2006/relationships" id="256" r:id="Rd8e2c8e0c29643dc"/>
    <p:sldId xmlns:r="http://schemas.openxmlformats.org/officeDocument/2006/relationships" id="257" r:id="R2b24d927ced74c98"/>
    <p:sldId xmlns:r="http://schemas.openxmlformats.org/officeDocument/2006/relationships" id="258" r:id="Rbd20d816e0fe4e25"/>
    <p:sldId xmlns:r="http://schemas.openxmlformats.org/officeDocument/2006/relationships" id="259" r:id="Re3d9752f492d42a7"/>
    <p:sldId xmlns:r="http://schemas.openxmlformats.org/officeDocument/2006/relationships" id="260" r:id="Rc720f661e3d84c50"/>
    <p:sldId xmlns:r="http://schemas.openxmlformats.org/officeDocument/2006/relationships" id="261" r:id="R3ec56635804648b6"/>
    <p:sldId xmlns:r="http://schemas.openxmlformats.org/officeDocument/2006/relationships" id="262" r:id="Rac5d80895dfa4b4f"/>
    <p:sldId xmlns:r="http://schemas.openxmlformats.org/officeDocument/2006/relationships" id="263" r:id="R18b848a3fb4c41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aeb5ea17a249a6" /><Relationship Type="http://schemas.openxmlformats.org/officeDocument/2006/relationships/slideMaster" Target="/ppt/slideMasters/slideMaster1.xml" Id="R6d9b89b908ad439d" /><Relationship Type="http://schemas.openxmlformats.org/officeDocument/2006/relationships/notesMaster" Target="/ppt/notesMasters/notesMaster1.xml" Id="R2b7949d94f96498f" /><Relationship Type="http://schemas.openxmlformats.org/officeDocument/2006/relationships/presProps" Target="/ppt/presProps.xml" Id="R9b806cd341874335" /><Relationship Type="http://schemas.openxmlformats.org/officeDocument/2006/relationships/tableStyles" Target="/ppt/tableStyles.xml" Id="R4511257541e742cb" /><Relationship Type="http://schemas.openxmlformats.org/officeDocument/2006/relationships/slide" Target="/ppt/slides/slide1.xml" Id="Rd8e2c8e0c29643dc" /><Relationship Type="http://schemas.openxmlformats.org/officeDocument/2006/relationships/slide" Target="/ppt/slides/slide2.xml" Id="R2b24d927ced74c98" /><Relationship Type="http://schemas.openxmlformats.org/officeDocument/2006/relationships/slide" Target="/ppt/slides/slide3.xml" Id="Rbd20d816e0fe4e25" /><Relationship Type="http://schemas.openxmlformats.org/officeDocument/2006/relationships/slide" Target="/ppt/slides/slide4.xml" Id="Re3d9752f492d42a7" /><Relationship Type="http://schemas.openxmlformats.org/officeDocument/2006/relationships/slide" Target="/ppt/slides/slide5.xml" Id="Rc720f661e3d84c50" /><Relationship Type="http://schemas.openxmlformats.org/officeDocument/2006/relationships/slide" Target="/ppt/slides/slide6.xml" Id="R3ec56635804648b6" /><Relationship Type="http://schemas.openxmlformats.org/officeDocument/2006/relationships/slide" Target="/ppt/slides/slide7.xml" Id="Rac5d80895dfa4b4f" /><Relationship Type="http://schemas.openxmlformats.org/officeDocument/2006/relationships/slide" Target="/ppt/slides/slide8.xml" Id="R18b848a3fb4c41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9c1c6dc1fb4d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1dd4182120433c" /><Relationship Type="http://schemas.openxmlformats.org/officeDocument/2006/relationships/notesMaster" Target="/ppt/notesMasters/notesMaster1.xml" Id="Rc4f01fb90e6549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60df095e43451c" /><Relationship Type="http://schemas.openxmlformats.org/officeDocument/2006/relationships/notesMaster" Target="/ppt/notesMasters/notesMaster1.xml" Id="R539bf941062d4f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40fa4b9717407d" /><Relationship Type="http://schemas.openxmlformats.org/officeDocument/2006/relationships/notesMaster" Target="/ppt/notesMasters/notesMaster1.xml" Id="Rc8dcdbf53f664c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5c07957fa147d7" /><Relationship Type="http://schemas.openxmlformats.org/officeDocument/2006/relationships/notesMaster" Target="/ppt/notesMasters/notesMaster1.xml" Id="R7879a9abe2634f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003fa115624220" /><Relationship Type="http://schemas.openxmlformats.org/officeDocument/2006/relationships/notesMaster" Target="/ppt/notesMasters/notesMaster1.xml" Id="R9a48e87197a544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b4a5ac8a994c76" /><Relationship Type="http://schemas.openxmlformats.org/officeDocument/2006/relationships/notesMaster" Target="/ppt/notesMasters/notesMaster1.xml" Id="R0f37bf8ba49844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c2a2ae01704384" /><Relationship Type="http://schemas.openxmlformats.org/officeDocument/2006/relationships/notesMaster" Target="/ppt/notesMasters/notesMaster1.xml" Id="R1f7c662484f048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d2000ed98341bc" /><Relationship Type="http://schemas.openxmlformats.org/officeDocument/2006/relationships/notesMaster" Target="/ppt/notesMasters/notesMaster1.xml" Id="Rb2321ce9402942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test the proposed operating model against how PCs and Ops actually work. Invite correction throughout rather than waiting for the final slide.</a:t>
            </a:r>
          </a:p>
          <a:p xmlns:a="http://schemas.openxmlformats.org/drawingml/2006/main">
            <a:r>
              <a:t/>
            </a:r>
          </a:p>
          <a:p xmlns:a="http://schemas.openxmlformats.org/drawingml/2006/main">
            <a:r>
              <a:t>Source: docs/APPLICANT_ADDITIONAL_MATERIALS_PLAN.md, owner-reconciled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recent example: Where did the files arrive, who followed up, and how did the final package reach meeting participants? The first Site Visit is close enough that the initial release needs a safe fallback.</a:t>
            </a:r>
          </a:p>
          <a:p xmlns:a="http://schemas.openxmlformats.org/drawingml/2006/main">
            <a:r>
              <a:t/>
            </a:r>
          </a:p>
          <a:p xmlns:a="http://schemas.openxmlformats.org/drawingml/2006/main">
            <a:r>
              <a:t>Source: docs/APPLICANT_ADDITIONAL_MATERIALS_PLAN.md, owner-reconciled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PC remains responsible for making sure the boxes get checked. The applicant team decides who clicks Upload. Confirm whether a three-day deadline reflects current practice.</a:t>
            </a:r>
          </a:p>
          <a:p xmlns:a="http://schemas.openxmlformats.org/drawingml/2006/main">
            <a:r>
              <a:t/>
            </a:r>
          </a:p>
          <a:p xmlns:a="http://schemas.openxmlformats.org/drawingml/2006/main">
            <a:r>
              <a:t>Source: docs/APPLICANT_ADDITIONAL_MATERIALS_PLAN.md, owner-reconciled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feedback. Ask where the proposed division of responsibility would create extra work. Emphasize that link use provides lightweight provenance, not a formal audit trail of the person uploading.</a:t>
            </a:r>
          </a:p>
          <a:p xmlns:a="http://schemas.openxmlformats.org/drawingml/2006/main">
            <a:r>
              <a:t/>
            </a:r>
          </a:p>
          <a:p xmlns:a="http://schemas.openxmlformats.org/drawingml/2006/main">
            <a:r>
              <a:t>Source: docs/APPLICANT_ADDITIONAL_MATERIALS_PLAN.md, owner-reconciled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which materials the audience truly needs. The working assumption favors the PDF deck for printing and preview. The PC may include the source deck deliberately when useful. Exact version pointers keep the briefing stable while staff assess later revisions.</a:t>
            </a:r>
          </a:p>
          <a:p xmlns:a="http://schemas.openxmlformats.org/drawingml/2006/main">
            <a:r>
              <a:t/>
            </a:r>
          </a:p>
          <a:p xmlns:a="http://schemas.openxmlformats.org/drawingml/2006/main">
            <a:r>
              <a:t>Source: docs/APPLICANT_ADDITIONAL_MATERIALS_PLAN.md, owner-reconciled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side shows the candidate physical structure. The right side shows a logical briefing manifest. The manifest points to the exact SharePoint item and version, so publishing a package does not make another physical copy. Confirm the nested-folder experience in AkoyaGo before implementation.</a:t>
            </a:r>
          </a:p>
          <a:p xmlns:a="http://schemas.openxmlformats.org/drawingml/2006/main">
            <a:r>
              <a:t/>
            </a:r>
          </a:p>
          <a:p xmlns:a="http://schemas.openxmlformats.org/drawingml/2006/main">
            <a:r>
              <a:t>Source: docs/APPLICANT_ADDITIONAL_MATERIALS_PLAN.md, owner-reconciled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each row as provisional. Ask the group to identify hidden handoffs, exceptions, and terminology that the current model misses. Site Visit remains a placeholder name if the process itself has changed.</a:t>
            </a:r>
          </a:p>
          <a:p xmlns:a="http://schemas.openxmlformats.org/drawingml/2006/main">
            <a:r>
              <a:t/>
            </a:r>
          </a:p>
          <a:p xmlns:a="http://schemas.openxmlformats.org/drawingml/2006/main">
            <a:r>
              <a:t>Source: docs/APPLICANT_ADDITIONAL_MATERIALS_PLAN.md, owner-reconciled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assigning follow-up owners for unanswered questions. If possible, review the current applicant email, a recent set of files, and the way those files appear in AkoyaGo during or immediately after the meeting.</a:t>
            </a:r>
          </a:p>
          <a:p xmlns:a="http://schemas.openxmlformats.org/drawingml/2006/main">
            <a:r>
              <a:t/>
            </a:r>
          </a:p>
          <a:p xmlns:a="http://schemas.openxmlformats.org/drawingml/2006/main">
            <a:r>
              <a:t>Source: docs/APPLICANT_ADDITIONAL_MATERIALS_PLAN.md, owner-reconciled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a1bf9cea7a43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d84ed275c74d1c" /><Relationship Type="http://schemas.openxmlformats.org/officeDocument/2006/relationships/slideLayout" Target="/ppt/slideLayouts/slideLayout1.xml" Id="R6039fa3cd3e94d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39fa3cd3e94d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4877fbe1c04417" /><Relationship Type="http://schemas.openxmlformats.org/officeDocument/2006/relationships/image" Target="/ppt/media/image.png" Id="Rdaa708905eaa4fee" /><Relationship Type="http://schemas.openxmlformats.org/officeDocument/2006/relationships/notesSlide" Target="/ppt/notesSlides/notesSlide1.xml" Id="R4333cc46a2e642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06bee1797c4428" /><Relationship Type="http://schemas.openxmlformats.org/officeDocument/2006/relationships/notesSlide" Target="/ppt/notesSlides/notesSlide2.xml" Id="R730536e46c2247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e4c9434efb4e58" /><Relationship Type="http://schemas.openxmlformats.org/officeDocument/2006/relationships/notesSlide" Target="/ppt/notesSlides/notesSlide3.xml" Id="Rd440b41975954b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6603ba991f4f8b" /><Relationship Type="http://schemas.openxmlformats.org/officeDocument/2006/relationships/notesSlide" Target="/ppt/notesSlides/notesSlide4.xml" Id="R7d900638dfb04a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f14aa88a174f3f" /><Relationship Type="http://schemas.openxmlformats.org/officeDocument/2006/relationships/notesSlide" Target="/ppt/notesSlides/notesSlide5.xml" Id="Rf2ff657131ee4a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2e6abc918f43b8" /><Relationship Type="http://schemas.openxmlformats.org/officeDocument/2006/relationships/notesSlide" Target="/ppt/notesSlides/notesSlide6.xml" Id="R70d83f9dc1b844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f7a41369c847e4" /><Relationship Type="http://schemas.openxmlformats.org/officeDocument/2006/relationships/notesSlide" Target="/ppt/notesSlides/notesSlide7.xml" Id="R872924d3e3584d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8e91815713443c" /><Relationship Type="http://schemas.openxmlformats.org/officeDocument/2006/relationships/notesSlide" Target="/ppt/notesSlides/notesSlide8.xml" Id="Ra00e2a38b59f4c17" /></Relationships>
</file>

<file path=ppt/slides/slide1.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6A9997-7F41-4000-9189-BDB1CFADD02D}"/>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B58A3A"/>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aa708905eaa4fee"/>
          <a:stretch xmlns:a="http://schemas.openxmlformats.org/drawingml/2006/main"/>
        </p:blipFill>
        <p:spPr>
          <a:xfrm xmlns:a="http://schemas.openxmlformats.org/drawingml/2006/main">
            <a:off x="1273871" y="628650"/>
            <a:ext cx="2329058" cy="666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C22CA0-40AB-484E-A1A0-B6DE555327F2}"/>
              </a:ext>
            </a:extLst>
          </p:cNvPr>
          <p:cNvSpPr>
            <a:spLocks xmlns:a="http://schemas.openxmlformats.org/drawingml/2006/main" noGrp="1"/>
          </p:cNvSpPr>
          <p:nvPr/>
        </p:nvSpPr>
        <p:spPr>
          <a:xfrm xmlns:a="http://schemas.openxmlformats.org/drawingml/2006/main">
            <a:off x="723900" y="2047875"/>
            <a:ext cx="847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7232B"/>
                </a:solidFill>
                <a:latin typeface="Helvetica Neue"/>
                <a:ea typeface="Helvetica Neue"/>
                <a:cs typeface="Helvetica Neue"/>
              </a:defRPr>
            </a:pPr>
            <a:r>
              <a:rPr sz="3900" b="1">
                <a:solidFill>
                  <a:srgbClr val="17232B"/>
                </a:solidFill>
                <a:latin typeface="Helvetica Neue"/>
                <a:ea typeface="Helvetica Neue"/>
                <a:cs typeface="Helvetica Neue"/>
              </a:rPr>
              <a:t>Site Visit materials</a:t>
            </a:r>
          </a:p>
        </p:txBody>
      </p:sp>
      <p:sp>
        <p:nvSpPr>
          <p:cNvPr id="4" name="">
            <a:extLst xmlns:a="http://schemas.openxmlformats.org/drawingml/2006/main">
              <a:ext uri="{FF2B5EF4-FFF2-40B4-BE49-F238E27FC236}">
                <a16:creationId xmlns:a16="http://schemas.microsoft.com/office/drawing/2014/main" id="{656FAE90-4857-4343-9C27-A281FE7C22F4}"/>
              </a:ext>
            </a:extLst>
          </p:cNvPr>
          <p:cNvSpPr>
            <a:spLocks xmlns:a="http://schemas.openxmlformats.org/drawingml/2006/main" noGrp="1"/>
          </p:cNvSpPr>
          <p:nvPr/>
        </p:nvSpPr>
        <p:spPr>
          <a:xfrm xmlns:a="http://schemas.openxmlformats.org/drawingml/2006/main">
            <a:off x="742950" y="2895600"/>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D7068"/>
                </a:solidFill>
                <a:latin typeface="Helvetica Neue"/>
                <a:ea typeface="Helvetica Neue"/>
                <a:cs typeface="Helvetica Neue"/>
              </a:defRPr>
            </a:pPr>
            <a:r>
              <a:rPr sz="2025" b="0">
                <a:solidFill>
                  <a:srgbClr val="3D7068"/>
                </a:solidFill>
                <a:latin typeface="Helvetica Neue"/>
                <a:ea typeface="Helvetica Neue"/>
                <a:cs typeface="Helvetica Neue"/>
              </a:rPr>
              <a:t>A proposed workflow for collection and briefing</a:t>
            </a:r>
          </a:p>
        </p:txBody>
      </p:sp>
      <p:sp>
        <p:nvSpPr>
          <p:cNvPr id="5" name="">
            <a:extLst xmlns:a="http://schemas.openxmlformats.org/drawingml/2006/main">
              <a:ext uri="{FF2B5EF4-FFF2-40B4-BE49-F238E27FC236}">
                <a16:creationId xmlns:a16="http://schemas.microsoft.com/office/drawing/2014/main" id="{0A360D63-AFB3-429D-BF00-6F60FA967624}"/>
              </a:ext>
            </a:extLst>
          </p:cNvPr>
          <p:cNvSpPr>
            <a:spLocks xmlns:a="http://schemas.openxmlformats.org/drawingml/2006/main" noGrp="1"/>
          </p:cNvSpPr>
          <p:nvPr/>
        </p:nvSpPr>
        <p:spPr>
          <a:xfrm xmlns:a="http://schemas.openxmlformats.org/drawingml/2006/main">
            <a:off x="742950" y="3619500"/>
            <a:ext cx="2095500" cy="0"/>
          </a:xfrm>
          <a:prstGeom xmlns:a="http://schemas.openxmlformats.org/drawingml/2006/main" prst="line">
            <a:avLst/>
          </a:prstGeom>
          <a:noFill xmlns:a="http://schemas.openxmlformats.org/drawingml/2006/main"/>
          <a:ln xmlns:a="http://schemas.openxmlformats.org/drawingml/2006/main" w="47625">
            <a:solidFill>
              <a:srgbClr val="B58A3A"/>
            </a:solidFill>
            <a:prstDash val="solid"/>
          </a:ln>
        </p:spPr>
      </p:sp>
      <p:sp>
        <p:nvSpPr>
          <p:cNvPr id="6" name="">
            <a:extLst xmlns:a="http://schemas.openxmlformats.org/drawingml/2006/main">
              <a:ext uri="{FF2B5EF4-FFF2-40B4-BE49-F238E27FC236}">
                <a16:creationId xmlns:a16="http://schemas.microsoft.com/office/drawing/2014/main" id="{C067AAB1-A946-411D-B4FC-E184E89242AD}"/>
              </a:ext>
            </a:extLst>
          </p:cNvPr>
          <p:cNvSpPr>
            <a:spLocks xmlns:a="http://schemas.openxmlformats.org/drawingml/2006/main" noGrp="1"/>
          </p:cNvSpPr>
          <p:nvPr/>
        </p:nvSpPr>
        <p:spPr>
          <a:xfrm xmlns:a="http://schemas.openxmlformats.org/drawingml/2006/main">
            <a:off x="742950" y="39814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E6A70"/>
                </a:solidFill>
                <a:latin typeface="Helvetica Neue"/>
                <a:ea typeface="Helvetica Neue"/>
                <a:cs typeface="Helvetica Neue"/>
              </a:defRPr>
            </a:pPr>
            <a:r>
              <a:rPr sz="1575" b="0">
                <a:solidFill>
                  <a:srgbClr val="5E6A70"/>
                </a:solidFill>
                <a:latin typeface="Helvetica Neue"/>
                <a:ea typeface="Helvetica Neue"/>
                <a:cs typeface="Helvetica Neue"/>
              </a:rPr>
              <a:t>Discussion with Program Coordinators and Operations</a:t>
            </a:r>
          </a:p>
        </p:txBody>
      </p:sp>
      <p:sp>
        <p:nvSpPr>
          <p:cNvPr id="7" name="">
            <a:extLst xmlns:a="http://schemas.openxmlformats.org/drawingml/2006/main">
              <a:ext uri="{FF2B5EF4-FFF2-40B4-BE49-F238E27FC236}">
                <a16:creationId xmlns:a16="http://schemas.microsoft.com/office/drawing/2014/main" id="{4AE9DF3D-A7DB-45B9-A989-8172F4CB2C62}"/>
              </a:ext>
            </a:extLst>
          </p:cNvPr>
          <p:cNvSpPr>
            <a:spLocks xmlns:a="http://schemas.openxmlformats.org/drawingml/2006/main" noGrp="1"/>
          </p:cNvSpPr>
          <p:nvPr/>
        </p:nvSpPr>
        <p:spPr>
          <a:xfrm xmlns:a="http://schemas.openxmlformats.org/drawingml/2006/main">
            <a:off x="742950" y="44196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E6A70"/>
                </a:solidFill>
                <a:latin typeface="Helvetica Neue"/>
                <a:ea typeface="Helvetica Neue"/>
                <a:cs typeface="Helvetica Neue"/>
              </a:defRPr>
            </a:pPr>
            <a:r>
              <a:rPr sz="1275" b="0">
                <a:solidFill>
                  <a:srgbClr val="5E6A70"/>
                </a:solidFill>
                <a:latin typeface="Helvetica Neue"/>
                <a:ea typeface="Helvetica Neue"/>
                <a:cs typeface="Helvetica Neue"/>
              </a:rPr>
              <a:t>September 9, 2026</a:t>
            </a:r>
          </a:p>
        </p:txBody>
      </p:sp>
      <p:sp>
        <p:nvSpPr>
          <p:cNvPr id="8" name="">
            <a:extLst xmlns:a="http://schemas.openxmlformats.org/drawingml/2006/main">
              <a:ext uri="{FF2B5EF4-FFF2-40B4-BE49-F238E27FC236}">
                <a16:creationId xmlns:a16="http://schemas.microsoft.com/office/drawing/2014/main" id="{F9236B75-817B-4F84-8BDB-510FE4149B4D}"/>
              </a:ext>
            </a:extLst>
          </p:cNvPr>
          <p:cNvSpPr>
            <a:spLocks xmlns:a="http://schemas.openxmlformats.org/drawingml/2006/main" noGrp="1"/>
          </p:cNvSpPr>
          <p:nvPr/>
        </p:nvSpPr>
        <p:spPr>
          <a:xfrm xmlns:a="http://schemas.openxmlformats.org/drawingml/2006/main">
            <a:off x="9715500" y="605790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A95035"/>
                </a:solidFill>
                <a:latin typeface="Helvetica Neue"/>
                <a:ea typeface="Helvetica Neue"/>
                <a:cs typeface="Helvetica Neue"/>
              </a:defRPr>
            </a:pPr>
            <a:r>
              <a:rPr sz="975" b="1">
                <a:solidFill>
                  <a:srgbClr val="A95035"/>
                </a:solidFill>
                <a:latin typeface="Helvetica Neue"/>
                <a:ea typeface="Helvetica Neue"/>
                <a:cs typeface="Helvetica Neue"/>
              </a:rPr>
              <a:t>WORKING DRAFT</a:t>
            </a:r>
          </a:p>
        </p:txBody>
      </p:sp>
    </p:spTree>
    <p:extLst>
      <p:ext uri="{BB962C8B-B14F-4D97-AF65-F5344CB8AC3E}">
        <p14:creationId xmlns:p14="http://schemas.microsoft.com/office/powerpoint/2010/main" val="1845572958"/>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40B54C0-0727-41C9-8357-1185D1A6AD8C}"/>
              </a:ext>
            </a:extLst>
          </p:cNvPr>
          <p:cNvSpPr>
            <a:spLocks xmlns:a="http://schemas.openxmlformats.org/drawingml/2006/main" noGrp="1"/>
          </p:cNvSpPr>
          <p:nvPr/>
        </p:nvSpPr>
        <p:spPr>
          <a:xfrm xmlns:a="http://schemas.openxmlformats.org/drawingml/2006/main">
            <a:off x="685800" y="428625"/>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7232B"/>
                </a:solidFill>
                <a:latin typeface="Helvetica Neue"/>
                <a:ea typeface="Helvetica Neue"/>
                <a:cs typeface="Helvetica Neue"/>
              </a:defRPr>
            </a:pPr>
            <a:r>
              <a:rPr sz="2550" b="1">
                <a:solidFill>
                  <a:srgbClr val="17232B"/>
                </a:solidFill>
                <a:latin typeface="Helvetica Neue"/>
                <a:ea typeface="Helvetica Neue"/>
                <a:cs typeface="Helvetica Neue"/>
              </a:rPr>
              <a:t>The operating problem</a:t>
            </a:r>
          </a:p>
        </p:txBody>
      </p:sp>
      <p:sp>
        <p:nvSpPr>
          <p:cNvPr id="2" name="">
            <a:extLst xmlns:a="http://schemas.openxmlformats.org/drawingml/2006/main">
              <a:ext uri="{FF2B5EF4-FFF2-40B4-BE49-F238E27FC236}">
                <a16:creationId xmlns:a16="http://schemas.microsoft.com/office/drawing/2014/main" id="{462AFB65-594B-4BF8-B3E2-8E06ABD86D63}"/>
              </a:ext>
            </a:extLst>
          </p:cNvPr>
          <p:cNvSpPr>
            <a:spLocks xmlns:a="http://schemas.openxmlformats.org/drawingml/2006/main" noGrp="1"/>
          </p:cNvSpPr>
          <p:nvPr/>
        </p:nvSpPr>
        <p:spPr>
          <a:xfrm xmlns:a="http://schemas.openxmlformats.org/drawingml/2006/main">
            <a:off x="685800" y="1066800"/>
            <a:ext cx="10820400" cy="0"/>
          </a:xfrm>
          <a:prstGeom xmlns:a="http://schemas.openxmlformats.org/drawingml/2006/main" prst="line">
            <a:avLst/>
          </a:prstGeom>
          <a:noFill xmlns:a="http://schemas.openxmlformats.org/drawingml/2006/main"/>
          <a:ln xmlns:a="http://schemas.openxmlformats.org/drawingml/2006/main" w="28575">
            <a:solidFill>
              <a:srgbClr val="B58A3A"/>
            </a:solidFill>
            <a:prstDash val="solid"/>
          </a:ln>
        </p:spPr>
      </p:sp>
      <p:sp>
        <p:nvSpPr>
          <p:cNvPr id="3" name="">
            <a:extLst xmlns:a="http://schemas.openxmlformats.org/drawingml/2006/main">
              <a:ext uri="{FF2B5EF4-FFF2-40B4-BE49-F238E27FC236}">
                <a16:creationId xmlns:a16="http://schemas.microsoft.com/office/drawing/2014/main" id="{AFBC2184-182A-4894-94DC-8974062AE610}"/>
              </a:ext>
            </a:extLst>
          </p:cNvPr>
          <p:cNvSpPr>
            <a:spLocks xmlns:a="http://schemas.openxmlformats.org/drawingml/2006/main" noGrp="1"/>
          </p:cNvSpPr>
          <p:nvPr/>
        </p:nvSpPr>
        <p:spPr>
          <a:xfrm xmlns:a="http://schemas.openxmlformats.org/drawingml/2006/main">
            <a:off x="11239500" y="633412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E6A70"/>
                </a:solidFill>
                <a:latin typeface="Helvetica Neue"/>
                <a:ea typeface="Helvetica Neue"/>
                <a:cs typeface="Helvetica Neue"/>
              </a:defRPr>
            </a:pPr>
            <a:r>
              <a:rPr sz="975" b="0">
                <a:solidFill>
                  <a:srgbClr val="5E6A70"/>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64E0DDA2-75B4-4DB7-A07A-BCF34A7BAD0C}"/>
              </a:ext>
            </a:extLst>
          </p:cNvPr>
          <p:cNvSpPr>
            <a:spLocks xmlns:a="http://schemas.openxmlformats.org/drawingml/2006/main" noGrp="1"/>
          </p:cNvSpPr>
          <p:nvPr/>
        </p:nvSpPr>
        <p:spPr>
          <a:xfrm xmlns:a="http://schemas.openxmlformats.org/drawingml/2006/main">
            <a:off x="685800" y="152400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A95035"/>
                </a:solidFill>
                <a:latin typeface="Helvetica Neue"/>
                <a:ea typeface="Helvetica Neue"/>
                <a:cs typeface="Helvetica Neue"/>
              </a:defRPr>
            </a:pPr>
            <a:r>
              <a:rPr sz="1500" b="1">
                <a:solidFill>
                  <a:srgbClr val="A95035"/>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F1BE4C72-B35B-4C75-A0D4-EE72FEB4DA58}"/>
              </a:ext>
            </a:extLst>
          </p:cNvPr>
          <p:cNvSpPr>
            <a:spLocks xmlns:a="http://schemas.openxmlformats.org/drawingml/2006/main" noGrp="1"/>
          </p:cNvSpPr>
          <p:nvPr/>
        </p:nvSpPr>
        <p:spPr>
          <a:xfrm xmlns:a="http://schemas.openxmlformats.org/drawingml/2006/main">
            <a:off x="685800" y="1924050"/>
            <a:ext cx="3105150" cy="0"/>
          </a:xfrm>
          <a:prstGeom xmlns:a="http://schemas.openxmlformats.org/drawingml/2006/main" prst="line">
            <a:avLst/>
          </a:prstGeom>
          <a:noFill xmlns:a="http://schemas.openxmlformats.org/drawingml/2006/main"/>
          <a:ln xmlns:a="http://schemas.openxmlformats.org/drawingml/2006/main" w="28575">
            <a:solidFill>
              <a:srgbClr val="A95035"/>
            </a:solidFill>
            <a:prstDash val="solid"/>
          </a:ln>
        </p:spPr>
      </p:sp>
      <p:sp>
        <p:nvSpPr>
          <p:cNvPr id="6" name="">
            <a:extLst xmlns:a="http://schemas.openxmlformats.org/drawingml/2006/main">
              <a:ext uri="{FF2B5EF4-FFF2-40B4-BE49-F238E27FC236}">
                <a16:creationId xmlns:a16="http://schemas.microsoft.com/office/drawing/2014/main" id="{89E52F64-6030-4FDB-9221-2EBA6FD3273C}"/>
              </a:ext>
            </a:extLst>
          </p:cNvPr>
          <p:cNvSpPr>
            <a:spLocks xmlns:a="http://schemas.openxmlformats.org/drawingml/2006/main" noGrp="1"/>
          </p:cNvSpPr>
          <p:nvPr/>
        </p:nvSpPr>
        <p:spPr>
          <a:xfrm xmlns:a="http://schemas.openxmlformats.org/drawingml/2006/main">
            <a:off x="685800" y="2152650"/>
            <a:ext cx="3105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2B"/>
                </a:solidFill>
                <a:latin typeface="Helvetica Neue"/>
                <a:ea typeface="Helvetica Neue"/>
                <a:cs typeface="Helvetica Neue"/>
              </a:defRPr>
            </a:pPr>
            <a:r>
              <a:rPr sz="1800" b="1">
                <a:solidFill>
                  <a:srgbClr val="17232B"/>
                </a:solidFill>
                <a:latin typeface="Helvetica Neue"/>
                <a:ea typeface="Helvetica Neue"/>
                <a:cs typeface="Helvetica Neue"/>
              </a:rPr>
              <a:t>Files arrive through several channels</a:t>
            </a:r>
          </a:p>
        </p:txBody>
      </p:sp>
      <p:sp>
        <p:nvSpPr>
          <p:cNvPr id="7" name="">
            <a:extLst xmlns:a="http://schemas.openxmlformats.org/drawingml/2006/main">
              <a:ext uri="{FF2B5EF4-FFF2-40B4-BE49-F238E27FC236}">
                <a16:creationId xmlns:a16="http://schemas.microsoft.com/office/drawing/2014/main" id="{31AF9678-A7F5-45CC-ACB3-3BAD2741D100}"/>
              </a:ext>
            </a:extLst>
          </p:cNvPr>
          <p:cNvSpPr>
            <a:spLocks xmlns:a="http://schemas.openxmlformats.org/drawingml/2006/main" noGrp="1"/>
          </p:cNvSpPr>
          <p:nvPr/>
        </p:nvSpPr>
        <p:spPr>
          <a:xfrm xmlns:a="http://schemas.openxmlformats.org/drawingml/2006/main">
            <a:off x="685800" y="3048000"/>
            <a:ext cx="3105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E6A70"/>
                </a:solidFill>
                <a:latin typeface="Helvetica Neue"/>
                <a:ea typeface="Helvetica Neue"/>
                <a:cs typeface="Helvetica Neue"/>
              </a:defRPr>
            </a:pPr>
            <a:r>
              <a:rPr sz="1425" b="0">
                <a:solidFill>
                  <a:srgbClr val="5E6A70"/>
                </a:solidFill>
                <a:latin typeface="Helvetica Neue"/>
                <a:ea typeface="Helvetica Neue"/>
                <a:cs typeface="Helvetica Neue"/>
              </a:rPr>
              <a:t>Email works until a deck is too large. Dropbox and other links fill the gap, but the record becomes hard to follow.</a:t>
            </a:r>
          </a:p>
        </p:txBody>
      </p:sp>
      <p:sp>
        <p:nvSpPr>
          <p:cNvPr id="8" name="">
            <a:extLst xmlns:a="http://schemas.openxmlformats.org/drawingml/2006/main">
              <a:ext uri="{FF2B5EF4-FFF2-40B4-BE49-F238E27FC236}">
                <a16:creationId xmlns:a16="http://schemas.microsoft.com/office/drawing/2014/main" id="{30F87131-EE9E-4AF8-8C26-D165FEDE6351}"/>
              </a:ext>
            </a:extLst>
          </p:cNvPr>
          <p:cNvSpPr>
            <a:spLocks xmlns:a="http://schemas.openxmlformats.org/drawingml/2006/main" noGrp="1"/>
          </p:cNvSpPr>
          <p:nvPr/>
        </p:nvSpPr>
        <p:spPr>
          <a:xfrm xmlns:a="http://schemas.openxmlformats.org/drawingml/2006/main">
            <a:off x="4476750" y="152400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B58A3A"/>
                </a:solidFill>
                <a:latin typeface="Helvetica Neue"/>
                <a:ea typeface="Helvetica Neue"/>
                <a:cs typeface="Helvetica Neue"/>
              </a:defRPr>
            </a:pPr>
            <a:r>
              <a:rPr sz="1500" b="1">
                <a:solidFill>
                  <a:srgbClr val="B58A3A"/>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CD21EDDB-7C23-4DB7-A9D8-73C72315DB54}"/>
              </a:ext>
            </a:extLst>
          </p:cNvPr>
          <p:cNvSpPr>
            <a:spLocks xmlns:a="http://schemas.openxmlformats.org/drawingml/2006/main" noGrp="1"/>
          </p:cNvSpPr>
          <p:nvPr/>
        </p:nvSpPr>
        <p:spPr>
          <a:xfrm xmlns:a="http://schemas.openxmlformats.org/drawingml/2006/main">
            <a:off x="4476750" y="1924050"/>
            <a:ext cx="3105150" cy="0"/>
          </a:xfrm>
          <a:prstGeom xmlns:a="http://schemas.openxmlformats.org/drawingml/2006/main" prst="line">
            <a:avLst/>
          </a:prstGeom>
          <a:noFill xmlns:a="http://schemas.openxmlformats.org/drawingml/2006/main"/>
          <a:ln xmlns:a="http://schemas.openxmlformats.org/drawingml/2006/main" w="28575">
            <a:solidFill>
              <a:srgbClr val="B58A3A"/>
            </a:solidFill>
            <a:prstDash val="solid"/>
          </a:ln>
        </p:spPr>
      </p:sp>
      <p:sp>
        <p:nvSpPr>
          <p:cNvPr id="10" name="">
            <a:extLst xmlns:a="http://schemas.openxmlformats.org/drawingml/2006/main">
              <a:ext uri="{FF2B5EF4-FFF2-40B4-BE49-F238E27FC236}">
                <a16:creationId xmlns:a16="http://schemas.microsoft.com/office/drawing/2014/main" id="{9CB41A15-E4E9-41E6-BFEA-076A43878D5B}"/>
              </a:ext>
            </a:extLst>
          </p:cNvPr>
          <p:cNvSpPr>
            <a:spLocks xmlns:a="http://schemas.openxmlformats.org/drawingml/2006/main" noGrp="1"/>
          </p:cNvSpPr>
          <p:nvPr/>
        </p:nvSpPr>
        <p:spPr>
          <a:xfrm xmlns:a="http://schemas.openxmlformats.org/drawingml/2006/main">
            <a:off x="4476750" y="2152650"/>
            <a:ext cx="3105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2B"/>
                </a:solidFill>
                <a:latin typeface="Helvetica Neue"/>
                <a:ea typeface="Helvetica Neue"/>
                <a:cs typeface="Helvetica Neue"/>
              </a:defRPr>
            </a:pPr>
            <a:r>
              <a:rPr sz="1800" b="1">
                <a:solidFill>
                  <a:srgbClr val="17232B"/>
                </a:solidFill>
                <a:latin typeface="Helvetica Neue"/>
                <a:ea typeface="Helvetica Neue"/>
                <a:cs typeface="Helvetica Neue"/>
              </a:rPr>
              <a:t>Responsibility shifts near the meeting</a:t>
            </a:r>
          </a:p>
        </p:txBody>
      </p:sp>
      <p:sp>
        <p:nvSpPr>
          <p:cNvPr id="11" name="">
            <a:extLst xmlns:a="http://schemas.openxmlformats.org/drawingml/2006/main">
              <a:ext uri="{FF2B5EF4-FFF2-40B4-BE49-F238E27FC236}">
                <a16:creationId xmlns:a16="http://schemas.microsoft.com/office/drawing/2014/main" id="{27B28F50-4982-49AF-B086-0F66C3EAED44}"/>
              </a:ext>
            </a:extLst>
          </p:cNvPr>
          <p:cNvSpPr>
            <a:spLocks xmlns:a="http://schemas.openxmlformats.org/drawingml/2006/main" noGrp="1"/>
          </p:cNvSpPr>
          <p:nvPr/>
        </p:nvSpPr>
        <p:spPr>
          <a:xfrm xmlns:a="http://schemas.openxmlformats.org/drawingml/2006/main">
            <a:off x="4476750" y="3048000"/>
            <a:ext cx="3105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E6A70"/>
                </a:solidFill>
                <a:latin typeface="Helvetica Neue"/>
                <a:ea typeface="Helvetica Neue"/>
                <a:cs typeface="Helvetica Neue"/>
              </a:defRPr>
            </a:pPr>
            <a:r>
              <a:rPr sz="1425" b="0">
                <a:solidFill>
                  <a:srgbClr val="5E6A70"/>
                </a:solidFill>
                <a:latin typeface="Helvetica Neue"/>
                <a:ea typeface="Helvetica Neue"/>
                <a:cs typeface="Helvetica Neue"/>
              </a:rPr>
              <a:t>The liaison may send bios while the PI controls late slide revisions. Staff must chase completion without policing who uploads.</a:t>
            </a:r>
          </a:p>
        </p:txBody>
      </p:sp>
      <p:sp>
        <p:nvSpPr>
          <p:cNvPr id="12" name="">
            <a:extLst xmlns:a="http://schemas.openxmlformats.org/drawingml/2006/main">
              <a:ext uri="{FF2B5EF4-FFF2-40B4-BE49-F238E27FC236}">
                <a16:creationId xmlns:a16="http://schemas.microsoft.com/office/drawing/2014/main" id="{EFDE9A38-55EC-48C1-83A8-E3FC80F9E00A}"/>
              </a:ext>
            </a:extLst>
          </p:cNvPr>
          <p:cNvSpPr>
            <a:spLocks xmlns:a="http://schemas.openxmlformats.org/drawingml/2006/main" noGrp="1"/>
          </p:cNvSpPr>
          <p:nvPr/>
        </p:nvSpPr>
        <p:spPr>
          <a:xfrm xmlns:a="http://schemas.openxmlformats.org/drawingml/2006/main">
            <a:off x="8267700" y="152400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426B8A"/>
                </a:solidFill>
                <a:latin typeface="Helvetica Neue"/>
                <a:ea typeface="Helvetica Neue"/>
                <a:cs typeface="Helvetica Neue"/>
              </a:defRPr>
            </a:pPr>
            <a:r>
              <a:rPr sz="1500" b="1">
                <a:solidFill>
                  <a:srgbClr val="426B8A"/>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5E4E7F83-5C93-4951-8600-3EACA584A814}"/>
              </a:ext>
            </a:extLst>
          </p:cNvPr>
          <p:cNvSpPr>
            <a:spLocks xmlns:a="http://schemas.openxmlformats.org/drawingml/2006/main" noGrp="1"/>
          </p:cNvSpPr>
          <p:nvPr/>
        </p:nvSpPr>
        <p:spPr>
          <a:xfrm xmlns:a="http://schemas.openxmlformats.org/drawingml/2006/main">
            <a:off x="8267700" y="1924050"/>
            <a:ext cx="3105150" cy="0"/>
          </a:xfrm>
          <a:prstGeom xmlns:a="http://schemas.openxmlformats.org/drawingml/2006/main" prst="line">
            <a:avLst/>
          </a:prstGeom>
          <a:noFill xmlns:a="http://schemas.openxmlformats.org/drawingml/2006/main"/>
          <a:ln xmlns:a="http://schemas.openxmlformats.org/drawingml/2006/main" w="28575">
            <a:solidFill>
              <a:srgbClr val="426B8A"/>
            </a:solidFill>
            <a:prstDash val="solid"/>
          </a:ln>
        </p:spPr>
      </p:sp>
      <p:sp>
        <p:nvSpPr>
          <p:cNvPr id="14" name="">
            <a:extLst xmlns:a="http://schemas.openxmlformats.org/drawingml/2006/main">
              <a:ext uri="{FF2B5EF4-FFF2-40B4-BE49-F238E27FC236}">
                <a16:creationId xmlns:a16="http://schemas.microsoft.com/office/drawing/2014/main" id="{1642AFF0-4B4D-4D17-879B-8D2A33E27BB7}"/>
              </a:ext>
            </a:extLst>
          </p:cNvPr>
          <p:cNvSpPr>
            <a:spLocks xmlns:a="http://schemas.openxmlformats.org/drawingml/2006/main" noGrp="1"/>
          </p:cNvSpPr>
          <p:nvPr/>
        </p:nvSpPr>
        <p:spPr>
          <a:xfrm xmlns:a="http://schemas.openxmlformats.org/drawingml/2006/main">
            <a:off x="8267700" y="2152650"/>
            <a:ext cx="3105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2B"/>
                </a:solidFill>
                <a:latin typeface="Helvetica Neue"/>
                <a:ea typeface="Helvetica Neue"/>
                <a:cs typeface="Helvetica Neue"/>
              </a:defRPr>
            </a:pPr>
            <a:r>
              <a:rPr sz="1800" b="1">
                <a:solidFill>
                  <a:srgbClr val="17232B"/>
                </a:solidFill>
                <a:latin typeface="Helvetica Neue"/>
                <a:ea typeface="Helvetica Neue"/>
                <a:cs typeface="Helvetica Neue"/>
              </a:rPr>
              <a:t>Several audiences need the same package</a:t>
            </a:r>
          </a:p>
        </p:txBody>
      </p:sp>
      <p:sp>
        <p:nvSpPr>
          <p:cNvPr id="15" name="">
            <a:extLst xmlns:a="http://schemas.openxmlformats.org/drawingml/2006/main">
              <a:ext uri="{FF2B5EF4-FFF2-40B4-BE49-F238E27FC236}">
                <a16:creationId xmlns:a16="http://schemas.microsoft.com/office/drawing/2014/main" id="{A4C9E3DF-96B5-44DF-9AA8-42D2253D7E3B}"/>
              </a:ext>
            </a:extLst>
          </p:cNvPr>
          <p:cNvSpPr>
            <a:spLocks xmlns:a="http://schemas.openxmlformats.org/drawingml/2006/main" noGrp="1"/>
          </p:cNvSpPr>
          <p:nvPr/>
        </p:nvSpPr>
        <p:spPr>
          <a:xfrm xmlns:a="http://schemas.openxmlformats.org/drawingml/2006/main">
            <a:off x="8267700" y="3048000"/>
            <a:ext cx="3105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E6A70"/>
                </a:solidFill>
                <a:latin typeface="Helvetica Neue"/>
                <a:ea typeface="Helvetica Neue"/>
                <a:cs typeface="Helvetica Neue"/>
              </a:defRPr>
            </a:pPr>
            <a:r>
              <a:rPr sz="1425" b="0">
                <a:solidFill>
                  <a:srgbClr val="5E6A70"/>
                </a:solidFill>
                <a:latin typeface="Helvetica Neue"/>
                <a:ea typeface="Helvetica Neue"/>
                <a:cs typeface="Helvetica Neue"/>
              </a:rPr>
              <a:t>Staff prepare questions. Board members and consultants need easy, read-only access shortly before the Site Visit.</a:t>
            </a:r>
          </a:p>
        </p:txBody>
      </p:sp>
      <p:sp>
        <p:nvSpPr>
          <p:cNvPr id="16" name="">
            <a:extLst xmlns:a="http://schemas.openxmlformats.org/drawingml/2006/main">
              <a:ext uri="{FF2B5EF4-FFF2-40B4-BE49-F238E27FC236}">
                <a16:creationId xmlns:a16="http://schemas.microsoft.com/office/drawing/2014/main" id="{30AEE73E-B001-4A34-B2E1-C9DE8C2FAC80}"/>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oundRect">
            <a:avLst>
              <a:gd name="adj" fmla="val 15217"/>
            </a:avLst>
          </a:prstGeom>
          <a:solidFill xmlns:a="http://schemas.openxmlformats.org/drawingml/2006/main">
            <a:srgbClr val="DCE9E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F5EA160-D6EA-4CFA-A4BF-B1D9B5AB50CE}"/>
              </a:ext>
            </a:extLst>
          </p:cNvPr>
          <p:cNvSpPr>
            <a:spLocks xmlns:a="http://schemas.openxmlformats.org/drawingml/2006/main" noGrp="1"/>
          </p:cNvSpPr>
          <p:nvPr/>
        </p:nvSpPr>
        <p:spPr>
          <a:xfrm xmlns:a="http://schemas.openxmlformats.org/drawingml/2006/main">
            <a:off x="914400" y="51911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D7068"/>
                </a:solidFill>
                <a:latin typeface="Helvetica Neue"/>
                <a:ea typeface="Helvetica Neue"/>
                <a:cs typeface="Helvetica Neue"/>
              </a:defRPr>
            </a:pPr>
            <a:r>
              <a:rPr sz="1275" b="1">
                <a:solidFill>
                  <a:srgbClr val="3D7068"/>
                </a:solidFill>
                <a:latin typeface="Helvetica Neue"/>
                <a:ea typeface="Helvetica Neue"/>
                <a:cs typeface="Helvetica Neue"/>
              </a:rPr>
              <a:t>The practical goal</a:t>
            </a:r>
          </a:p>
        </p:txBody>
      </p:sp>
      <p:sp>
        <p:nvSpPr>
          <p:cNvPr id="18" name="">
            <a:extLst xmlns:a="http://schemas.openxmlformats.org/drawingml/2006/main">
              <a:ext uri="{FF2B5EF4-FFF2-40B4-BE49-F238E27FC236}">
                <a16:creationId xmlns:a16="http://schemas.microsoft.com/office/drawing/2014/main" id="{EACE3801-9434-494F-848B-08315B6879B9}"/>
              </a:ext>
            </a:extLst>
          </p:cNvPr>
          <p:cNvSpPr>
            <a:spLocks xmlns:a="http://schemas.openxmlformats.org/drawingml/2006/main" noGrp="1"/>
          </p:cNvSpPr>
          <p:nvPr/>
        </p:nvSpPr>
        <p:spPr>
          <a:xfrm xmlns:a="http://schemas.openxmlformats.org/drawingml/2006/main">
            <a:off x="2952750" y="514350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7232B"/>
                </a:solidFill>
                <a:latin typeface="Helvetica Neue"/>
                <a:ea typeface="Helvetica Neue"/>
                <a:cs typeface="Helvetica Neue"/>
              </a:defRPr>
            </a:pPr>
            <a:r>
              <a:rPr sz="1875" b="1">
                <a:solidFill>
                  <a:srgbClr val="17232B"/>
                </a:solidFill>
                <a:latin typeface="Helvetica Neue"/>
                <a:ea typeface="Helvetica Neue"/>
                <a:cs typeface="Helvetica Neue"/>
              </a:rPr>
              <a:t>Required materials are in hand, usable, and easy to find before the meeting.</a:t>
            </a:r>
          </a:p>
        </p:txBody>
      </p:sp>
    </p:spTree>
    <p:extLst>
      <p:ext uri="{BB962C8B-B14F-4D97-AF65-F5344CB8AC3E}">
        <p14:creationId xmlns:p14="http://schemas.microsoft.com/office/powerpoint/2010/main" val="1419455810"/>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962AEC5-EE3B-442D-8F37-C2F5DF4ECD2A}"/>
              </a:ext>
            </a:extLst>
          </p:cNvPr>
          <p:cNvSpPr>
            <a:spLocks xmlns:a="http://schemas.openxmlformats.org/drawingml/2006/main" noGrp="1"/>
          </p:cNvSpPr>
          <p:nvPr/>
        </p:nvSpPr>
        <p:spPr>
          <a:xfrm xmlns:a="http://schemas.openxmlformats.org/drawingml/2006/main">
            <a:off x="685800" y="428625"/>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7232B"/>
                </a:solidFill>
                <a:latin typeface="Helvetica Neue"/>
                <a:ea typeface="Helvetica Neue"/>
                <a:cs typeface="Helvetica Neue"/>
              </a:defRPr>
            </a:pPr>
            <a:r>
              <a:rPr sz="2550" b="1">
                <a:solidFill>
                  <a:srgbClr val="17232B"/>
                </a:solidFill>
                <a:latin typeface="Helvetica Neue"/>
                <a:ea typeface="Helvetica Neue"/>
                <a:cs typeface="Helvetica Neue"/>
              </a:rPr>
              <a:t>Proposed workflow</a:t>
            </a:r>
          </a:p>
        </p:txBody>
      </p:sp>
      <p:sp>
        <p:nvSpPr>
          <p:cNvPr id="2" name="">
            <a:extLst xmlns:a="http://schemas.openxmlformats.org/drawingml/2006/main">
              <a:ext uri="{FF2B5EF4-FFF2-40B4-BE49-F238E27FC236}">
                <a16:creationId xmlns:a16="http://schemas.microsoft.com/office/drawing/2014/main" id="{50E72274-8BE7-4DDD-A7CC-4362623EA020}"/>
              </a:ext>
            </a:extLst>
          </p:cNvPr>
          <p:cNvSpPr>
            <a:spLocks xmlns:a="http://schemas.openxmlformats.org/drawingml/2006/main" noGrp="1"/>
          </p:cNvSpPr>
          <p:nvPr/>
        </p:nvSpPr>
        <p:spPr>
          <a:xfrm xmlns:a="http://schemas.openxmlformats.org/drawingml/2006/main">
            <a:off x="685800" y="1066800"/>
            <a:ext cx="10820400" cy="0"/>
          </a:xfrm>
          <a:prstGeom xmlns:a="http://schemas.openxmlformats.org/drawingml/2006/main" prst="line">
            <a:avLst/>
          </a:prstGeom>
          <a:noFill xmlns:a="http://schemas.openxmlformats.org/drawingml/2006/main"/>
          <a:ln xmlns:a="http://schemas.openxmlformats.org/drawingml/2006/main" w="28575">
            <a:solidFill>
              <a:srgbClr val="B58A3A"/>
            </a:solidFill>
            <a:prstDash val="solid"/>
          </a:ln>
        </p:spPr>
      </p:sp>
      <p:sp>
        <p:nvSpPr>
          <p:cNvPr id="3" name="">
            <a:extLst xmlns:a="http://schemas.openxmlformats.org/drawingml/2006/main">
              <a:ext uri="{FF2B5EF4-FFF2-40B4-BE49-F238E27FC236}">
                <a16:creationId xmlns:a16="http://schemas.microsoft.com/office/drawing/2014/main" id="{33C9625B-C57F-481A-8BCF-D7901F148B10}"/>
              </a:ext>
            </a:extLst>
          </p:cNvPr>
          <p:cNvSpPr>
            <a:spLocks xmlns:a="http://schemas.openxmlformats.org/drawingml/2006/main" noGrp="1"/>
          </p:cNvSpPr>
          <p:nvPr/>
        </p:nvSpPr>
        <p:spPr>
          <a:xfrm xmlns:a="http://schemas.openxmlformats.org/drawingml/2006/main">
            <a:off x="11239500" y="633412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E6A70"/>
                </a:solidFill>
                <a:latin typeface="Helvetica Neue"/>
                <a:ea typeface="Helvetica Neue"/>
                <a:cs typeface="Helvetica Neue"/>
              </a:defRPr>
            </a:pPr>
            <a:r>
              <a:rPr sz="975" b="0">
                <a:solidFill>
                  <a:srgbClr val="5E6A70"/>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851781D0-600B-4C09-BAB6-6817638D5F9B}"/>
              </a:ext>
            </a:extLst>
          </p:cNvPr>
          <p:cNvSpPr>
            <a:spLocks xmlns:a="http://schemas.openxmlformats.org/drawingml/2006/main" noGrp="1"/>
          </p:cNvSpPr>
          <p:nvPr/>
        </p:nvSpPr>
        <p:spPr>
          <a:xfrm xmlns:a="http://schemas.openxmlformats.org/drawingml/2006/main">
            <a:off x="704850" y="1771650"/>
            <a:ext cx="2000250" cy="236220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7D2C8"/>
            </a:solidFill>
            <a:prstDash val="solid"/>
          </a:ln>
        </p:spPr>
      </p:sp>
      <p:sp>
        <p:nvSpPr>
          <p:cNvPr id="5" name="">
            <a:extLst xmlns:a="http://schemas.openxmlformats.org/drawingml/2006/main">
              <a:ext uri="{FF2B5EF4-FFF2-40B4-BE49-F238E27FC236}">
                <a16:creationId xmlns:a16="http://schemas.microsoft.com/office/drawing/2014/main" id="{00FC2CE9-BA34-4385-AAA0-8807CA61F0DC}"/>
              </a:ext>
            </a:extLst>
          </p:cNvPr>
          <p:cNvSpPr>
            <a:spLocks xmlns:a="http://schemas.openxmlformats.org/drawingml/2006/main" noGrp="1"/>
          </p:cNvSpPr>
          <p:nvPr/>
        </p:nvSpPr>
        <p:spPr>
          <a:xfrm xmlns:a="http://schemas.openxmlformats.org/drawingml/2006/main">
            <a:off x="704850" y="1771650"/>
            <a:ext cx="2000250" cy="95250"/>
          </a:xfrm>
          <a:prstGeom xmlns:a="http://schemas.openxmlformats.org/drawingml/2006/main" prst="rect">
            <a:avLst/>
          </a:prstGeom>
          <a:solidFill xmlns:a="http://schemas.openxmlformats.org/drawingml/2006/main">
            <a:srgbClr val="426B8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82C69B-BFDC-4539-8B3D-4FF6450DE823}"/>
              </a:ext>
            </a:extLst>
          </p:cNvPr>
          <p:cNvSpPr>
            <a:spLocks xmlns:a="http://schemas.openxmlformats.org/drawingml/2006/main" noGrp="1"/>
          </p:cNvSpPr>
          <p:nvPr/>
        </p:nvSpPr>
        <p:spPr>
          <a:xfrm xmlns:a="http://schemas.openxmlformats.org/drawingml/2006/main">
            <a:off x="876300" y="20478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426B8A"/>
                </a:solidFill>
                <a:latin typeface="Helvetica Neue"/>
                <a:ea typeface="Helvetica Neue"/>
                <a:cs typeface="Helvetica Neue"/>
              </a:defRPr>
            </a:pPr>
            <a:r>
              <a:rPr sz="2550" b="1">
                <a:solidFill>
                  <a:srgbClr val="426B8A"/>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98A92407-DCA2-40A7-9746-E0E7D913029E}"/>
              </a:ext>
            </a:extLst>
          </p:cNvPr>
          <p:cNvSpPr>
            <a:spLocks xmlns:a="http://schemas.openxmlformats.org/drawingml/2006/main" noGrp="1"/>
          </p:cNvSpPr>
          <p:nvPr/>
        </p:nvSpPr>
        <p:spPr>
          <a:xfrm xmlns:a="http://schemas.openxmlformats.org/drawingml/2006/main">
            <a:off x="876300" y="2647950"/>
            <a:ext cx="165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PC starts</a:t>
            </a:r>
          </a:p>
        </p:txBody>
      </p:sp>
      <p:sp>
        <p:nvSpPr>
          <p:cNvPr id="8" name="">
            <a:extLst xmlns:a="http://schemas.openxmlformats.org/drawingml/2006/main">
              <a:ext uri="{FF2B5EF4-FFF2-40B4-BE49-F238E27FC236}">
                <a16:creationId xmlns:a16="http://schemas.microsoft.com/office/drawing/2014/main" id="{40AC605F-2FA3-47A3-91FB-2FB04FAB6527}"/>
              </a:ext>
            </a:extLst>
          </p:cNvPr>
          <p:cNvSpPr>
            <a:spLocks xmlns:a="http://schemas.openxmlformats.org/drawingml/2006/main" noGrp="1"/>
          </p:cNvSpPr>
          <p:nvPr/>
        </p:nvSpPr>
        <p:spPr>
          <a:xfrm xmlns:a="http://schemas.openxmlformats.org/drawingml/2006/main">
            <a:off x="876300" y="33147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Use the scheduled Site Visit</a:t>
            </a:r>
          </a:p>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to open a checklist</a:t>
            </a:r>
          </a:p>
        </p:txBody>
      </p:sp>
      <p:sp>
        <p:nvSpPr>
          <p:cNvPr id="9" name="">
            <a:extLst xmlns:a="http://schemas.openxmlformats.org/drawingml/2006/main">
              <a:ext uri="{FF2B5EF4-FFF2-40B4-BE49-F238E27FC236}">
                <a16:creationId xmlns:a16="http://schemas.microsoft.com/office/drawing/2014/main" id="{5FAA6B23-0C0D-4A96-9BC5-7BACAEF34EEF}"/>
              </a:ext>
            </a:extLst>
          </p:cNvPr>
          <p:cNvSpPr>
            <a:spLocks xmlns:a="http://schemas.openxmlformats.org/drawingml/2006/main" noGrp="1"/>
          </p:cNvSpPr>
          <p:nvPr/>
        </p:nvSpPr>
        <p:spPr>
          <a:xfrm xmlns:a="http://schemas.openxmlformats.org/drawingml/2006/main">
            <a:off x="2733675" y="2790825"/>
            <a:ext cx="152400" cy="266700"/>
          </a:xfrm>
          <a:prstGeom xmlns:a="http://schemas.openxmlformats.org/drawingml/2006/main" prst="rightArrow">
            <a:avLst/>
          </a:prstGeom>
          <a:solidFill xmlns:a="http://schemas.openxmlformats.org/drawingml/2006/main">
            <a:srgbClr val="D7D2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AAB2BB4-ADAE-4A80-9A02-DDC61E3F21EE}"/>
              </a:ext>
            </a:extLst>
          </p:cNvPr>
          <p:cNvSpPr>
            <a:spLocks xmlns:a="http://schemas.openxmlformats.org/drawingml/2006/main" noGrp="1"/>
          </p:cNvSpPr>
          <p:nvPr/>
        </p:nvSpPr>
        <p:spPr>
          <a:xfrm xmlns:a="http://schemas.openxmlformats.org/drawingml/2006/main">
            <a:off x="2914650" y="1771650"/>
            <a:ext cx="2000250" cy="236220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7D2C8"/>
            </a:solidFill>
            <a:prstDash val="solid"/>
          </a:ln>
        </p:spPr>
      </p:sp>
      <p:sp>
        <p:nvSpPr>
          <p:cNvPr id="11" name="">
            <a:extLst xmlns:a="http://schemas.openxmlformats.org/drawingml/2006/main">
              <a:ext uri="{FF2B5EF4-FFF2-40B4-BE49-F238E27FC236}">
                <a16:creationId xmlns:a16="http://schemas.microsoft.com/office/drawing/2014/main" id="{1DD1DE3D-970F-46F1-BD0C-BBB04D05845E}"/>
              </a:ext>
            </a:extLst>
          </p:cNvPr>
          <p:cNvSpPr>
            <a:spLocks xmlns:a="http://schemas.openxmlformats.org/drawingml/2006/main" noGrp="1"/>
          </p:cNvSpPr>
          <p:nvPr/>
        </p:nvSpPr>
        <p:spPr>
          <a:xfrm xmlns:a="http://schemas.openxmlformats.org/drawingml/2006/main">
            <a:off x="2914650" y="1771650"/>
            <a:ext cx="2000250" cy="95250"/>
          </a:xfrm>
          <a:prstGeom xmlns:a="http://schemas.openxmlformats.org/drawingml/2006/main" prst="rect">
            <a:avLst/>
          </a:prstGeom>
          <a:solidFill xmlns:a="http://schemas.openxmlformats.org/drawingml/2006/main">
            <a:srgbClr val="3D70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55F25E7-3815-4EFE-89B8-F758C6CAFA4A}"/>
              </a:ext>
            </a:extLst>
          </p:cNvPr>
          <p:cNvSpPr>
            <a:spLocks xmlns:a="http://schemas.openxmlformats.org/drawingml/2006/main" noGrp="1"/>
          </p:cNvSpPr>
          <p:nvPr/>
        </p:nvSpPr>
        <p:spPr>
          <a:xfrm xmlns:a="http://schemas.openxmlformats.org/drawingml/2006/main">
            <a:off x="3086100" y="20478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3D7068"/>
                </a:solidFill>
                <a:latin typeface="Helvetica Neue"/>
                <a:ea typeface="Helvetica Neue"/>
                <a:cs typeface="Helvetica Neue"/>
              </a:defRPr>
            </a:pPr>
            <a:r>
              <a:rPr sz="2550" b="1">
                <a:solidFill>
                  <a:srgbClr val="3D7068"/>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4E2F95CC-C292-435B-A177-F4968307B533}"/>
              </a:ext>
            </a:extLst>
          </p:cNvPr>
          <p:cNvSpPr>
            <a:spLocks xmlns:a="http://schemas.openxmlformats.org/drawingml/2006/main" noGrp="1"/>
          </p:cNvSpPr>
          <p:nvPr/>
        </p:nvSpPr>
        <p:spPr>
          <a:xfrm xmlns:a="http://schemas.openxmlformats.org/drawingml/2006/main">
            <a:off x="3086100" y="2647950"/>
            <a:ext cx="165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Team receives one link</a:t>
            </a:r>
          </a:p>
        </p:txBody>
      </p:sp>
      <p:sp>
        <p:nvSpPr>
          <p:cNvPr id="14" name="">
            <a:extLst xmlns:a="http://schemas.openxmlformats.org/drawingml/2006/main">
              <a:ext uri="{FF2B5EF4-FFF2-40B4-BE49-F238E27FC236}">
                <a16:creationId xmlns:a16="http://schemas.microsoft.com/office/drawing/2014/main" id="{AC95D324-EE0E-434C-9B6C-25DC5AFBF3B6}"/>
              </a:ext>
            </a:extLst>
          </p:cNvPr>
          <p:cNvSpPr>
            <a:spLocks xmlns:a="http://schemas.openxmlformats.org/drawingml/2006/main" noGrp="1"/>
          </p:cNvSpPr>
          <p:nvPr/>
        </p:nvSpPr>
        <p:spPr>
          <a:xfrm xmlns:a="http://schemas.openxmlformats.org/drawingml/2006/main">
            <a:off x="3086100" y="33147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PI and liaison can upload</a:t>
            </a:r>
          </a:p>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or forward the link</a:t>
            </a:r>
          </a:p>
        </p:txBody>
      </p:sp>
      <p:sp>
        <p:nvSpPr>
          <p:cNvPr id="15" name="">
            <a:extLst xmlns:a="http://schemas.openxmlformats.org/drawingml/2006/main">
              <a:ext uri="{FF2B5EF4-FFF2-40B4-BE49-F238E27FC236}">
                <a16:creationId xmlns:a16="http://schemas.microsoft.com/office/drawing/2014/main" id="{CB9B9E4A-0C15-491A-88F5-4E26DE4CC2F2}"/>
              </a:ext>
            </a:extLst>
          </p:cNvPr>
          <p:cNvSpPr>
            <a:spLocks xmlns:a="http://schemas.openxmlformats.org/drawingml/2006/main" noGrp="1"/>
          </p:cNvSpPr>
          <p:nvPr/>
        </p:nvSpPr>
        <p:spPr>
          <a:xfrm xmlns:a="http://schemas.openxmlformats.org/drawingml/2006/main">
            <a:off x="4943475" y="2790825"/>
            <a:ext cx="152400" cy="266700"/>
          </a:xfrm>
          <a:prstGeom xmlns:a="http://schemas.openxmlformats.org/drawingml/2006/main" prst="rightArrow">
            <a:avLst/>
          </a:prstGeom>
          <a:solidFill xmlns:a="http://schemas.openxmlformats.org/drawingml/2006/main">
            <a:srgbClr val="D7D2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811C889-255E-4FC4-AFA0-808005BE30C9}"/>
              </a:ext>
            </a:extLst>
          </p:cNvPr>
          <p:cNvSpPr>
            <a:spLocks xmlns:a="http://schemas.openxmlformats.org/drawingml/2006/main" noGrp="1"/>
          </p:cNvSpPr>
          <p:nvPr/>
        </p:nvSpPr>
        <p:spPr>
          <a:xfrm xmlns:a="http://schemas.openxmlformats.org/drawingml/2006/main">
            <a:off x="5124450" y="1771650"/>
            <a:ext cx="2000250" cy="236220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7D2C8"/>
            </a:solidFill>
            <a:prstDash val="solid"/>
          </a:ln>
        </p:spPr>
      </p:sp>
      <p:sp>
        <p:nvSpPr>
          <p:cNvPr id="17" name="">
            <a:extLst xmlns:a="http://schemas.openxmlformats.org/drawingml/2006/main">
              <a:ext uri="{FF2B5EF4-FFF2-40B4-BE49-F238E27FC236}">
                <a16:creationId xmlns:a16="http://schemas.microsoft.com/office/drawing/2014/main" id="{0A12180C-96A8-40AC-9F95-B33BE0F9D729}"/>
              </a:ext>
            </a:extLst>
          </p:cNvPr>
          <p:cNvSpPr>
            <a:spLocks xmlns:a="http://schemas.openxmlformats.org/drawingml/2006/main" noGrp="1"/>
          </p:cNvSpPr>
          <p:nvPr/>
        </p:nvSpPr>
        <p:spPr>
          <a:xfrm xmlns:a="http://schemas.openxmlformats.org/drawingml/2006/main">
            <a:off x="5124450" y="1771650"/>
            <a:ext cx="2000250" cy="95250"/>
          </a:xfrm>
          <a:prstGeom xmlns:a="http://schemas.openxmlformats.org/drawingml/2006/main" prst="rect">
            <a:avLst/>
          </a:prstGeom>
          <a:solidFill xmlns:a="http://schemas.openxmlformats.org/drawingml/2006/main">
            <a:srgbClr val="B58A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31A8B12-B3C9-40F6-BFBF-DA2509222A1C}"/>
              </a:ext>
            </a:extLst>
          </p:cNvPr>
          <p:cNvSpPr>
            <a:spLocks xmlns:a="http://schemas.openxmlformats.org/drawingml/2006/main" noGrp="1"/>
          </p:cNvSpPr>
          <p:nvPr/>
        </p:nvSpPr>
        <p:spPr>
          <a:xfrm xmlns:a="http://schemas.openxmlformats.org/drawingml/2006/main">
            <a:off x="5295900" y="20478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B58A3A"/>
                </a:solidFill>
                <a:latin typeface="Helvetica Neue"/>
                <a:ea typeface="Helvetica Neue"/>
                <a:cs typeface="Helvetica Neue"/>
              </a:defRPr>
            </a:pPr>
            <a:r>
              <a:rPr sz="2550" b="1">
                <a:solidFill>
                  <a:srgbClr val="B58A3A"/>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5E77F526-67FC-4FD9-BB74-DA57472E22A4}"/>
              </a:ext>
            </a:extLst>
          </p:cNvPr>
          <p:cNvSpPr>
            <a:spLocks xmlns:a="http://schemas.openxmlformats.org/drawingml/2006/main" noGrp="1"/>
          </p:cNvSpPr>
          <p:nvPr/>
        </p:nvSpPr>
        <p:spPr>
          <a:xfrm xmlns:a="http://schemas.openxmlformats.org/drawingml/2006/main">
            <a:off x="5295900" y="2647950"/>
            <a:ext cx="165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Files arrive</a:t>
            </a:r>
          </a:p>
        </p:txBody>
      </p:sp>
      <p:sp>
        <p:nvSpPr>
          <p:cNvPr id="20" name="">
            <a:extLst xmlns:a="http://schemas.openxmlformats.org/drawingml/2006/main">
              <a:ext uri="{FF2B5EF4-FFF2-40B4-BE49-F238E27FC236}">
                <a16:creationId xmlns:a16="http://schemas.microsoft.com/office/drawing/2014/main" id="{64F73B6F-3796-4539-8AAF-1390DF548300}"/>
              </a:ext>
            </a:extLst>
          </p:cNvPr>
          <p:cNvSpPr>
            <a:spLocks xmlns:a="http://schemas.openxmlformats.org/drawingml/2006/main" noGrp="1"/>
          </p:cNvSpPr>
          <p:nvPr/>
        </p:nvSpPr>
        <p:spPr>
          <a:xfrm xmlns:a="http://schemas.openxmlformats.org/drawingml/2006/main">
            <a:off x="5295900" y="33147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PDF deck, source deck,</a:t>
            </a:r>
          </a:p>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bios, and optional extras</a:t>
            </a:r>
          </a:p>
        </p:txBody>
      </p:sp>
      <p:sp>
        <p:nvSpPr>
          <p:cNvPr id="21" name="">
            <a:extLst xmlns:a="http://schemas.openxmlformats.org/drawingml/2006/main">
              <a:ext uri="{FF2B5EF4-FFF2-40B4-BE49-F238E27FC236}">
                <a16:creationId xmlns:a16="http://schemas.microsoft.com/office/drawing/2014/main" id="{DAA981E8-B6E2-4970-AF1D-DAD404F38219}"/>
              </a:ext>
            </a:extLst>
          </p:cNvPr>
          <p:cNvSpPr>
            <a:spLocks xmlns:a="http://schemas.openxmlformats.org/drawingml/2006/main" noGrp="1"/>
          </p:cNvSpPr>
          <p:nvPr/>
        </p:nvSpPr>
        <p:spPr>
          <a:xfrm xmlns:a="http://schemas.openxmlformats.org/drawingml/2006/main">
            <a:off x="7153275" y="2790825"/>
            <a:ext cx="152400" cy="266700"/>
          </a:xfrm>
          <a:prstGeom xmlns:a="http://schemas.openxmlformats.org/drawingml/2006/main" prst="rightArrow">
            <a:avLst/>
          </a:prstGeom>
          <a:solidFill xmlns:a="http://schemas.openxmlformats.org/drawingml/2006/main">
            <a:srgbClr val="D7D2C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2A12BE8-319D-4C6C-B518-958FCD8DCDA4}"/>
              </a:ext>
            </a:extLst>
          </p:cNvPr>
          <p:cNvSpPr>
            <a:spLocks xmlns:a="http://schemas.openxmlformats.org/drawingml/2006/main" noGrp="1"/>
          </p:cNvSpPr>
          <p:nvPr/>
        </p:nvSpPr>
        <p:spPr>
          <a:xfrm xmlns:a="http://schemas.openxmlformats.org/drawingml/2006/main">
            <a:off x="7334250" y="1771650"/>
            <a:ext cx="2000250" cy="236220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7D2C8"/>
            </a:solidFill>
            <a:prstDash val="solid"/>
          </a:ln>
        </p:spPr>
      </p:sp>
      <p:sp>
        <p:nvSpPr>
          <p:cNvPr id="23" name="">
            <a:extLst xmlns:a="http://schemas.openxmlformats.org/drawingml/2006/main">
              <a:ext uri="{FF2B5EF4-FFF2-40B4-BE49-F238E27FC236}">
                <a16:creationId xmlns:a16="http://schemas.microsoft.com/office/drawing/2014/main" id="{9425F6E8-5BE0-4E50-86AE-78B091B1E248}"/>
              </a:ext>
            </a:extLst>
          </p:cNvPr>
          <p:cNvSpPr>
            <a:spLocks xmlns:a="http://schemas.openxmlformats.org/drawingml/2006/main" noGrp="1"/>
          </p:cNvSpPr>
          <p:nvPr/>
        </p:nvSpPr>
        <p:spPr>
          <a:xfrm xmlns:a="http://schemas.openxmlformats.org/drawingml/2006/main">
            <a:off x="7334250" y="1771650"/>
            <a:ext cx="2000250" cy="95250"/>
          </a:xfrm>
          <a:prstGeom xmlns:a="http://schemas.openxmlformats.org/drawingml/2006/main" prst="rect">
            <a:avLst/>
          </a:prstGeom>
          <a:solidFill xmlns:a="http://schemas.openxmlformats.org/drawingml/2006/main">
            <a:srgbClr val="A9503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556932A-C60C-4F69-8359-5A8202C27E3B}"/>
              </a:ext>
            </a:extLst>
          </p:cNvPr>
          <p:cNvSpPr>
            <a:spLocks xmlns:a="http://schemas.openxmlformats.org/drawingml/2006/main" noGrp="1"/>
          </p:cNvSpPr>
          <p:nvPr/>
        </p:nvSpPr>
        <p:spPr>
          <a:xfrm xmlns:a="http://schemas.openxmlformats.org/drawingml/2006/main">
            <a:off x="7505700" y="20478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A95035"/>
                </a:solidFill>
                <a:latin typeface="Helvetica Neue"/>
                <a:ea typeface="Helvetica Neue"/>
                <a:cs typeface="Helvetica Neue"/>
              </a:defRPr>
            </a:pPr>
            <a:r>
              <a:rPr sz="2550" b="1">
                <a:solidFill>
                  <a:srgbClr val="A95035"/>
                </a:solidFill>
                <a:latin typeface="Helvetica Neue"/>
                <a:ea typeface="Helvetica Neue"/>
                <a:cs typeface="Helvetica Neue"/>
              </a:rPr>
              <a:t>4</a:t>
            </a:r>
          </a:p>
        </p:txBody>
      </p:sp>
      <p:sp>
        <p:nvSpPr>
          <p:cNvPr id="25" name="">
            <a:extLst xmlns:a="http://schemas.openxmlformats.org/drawingml/2006/main">
              <a:ext uri="{FF2B5EF4-FFF2-40B4-BE49-F238E27FC236}">
                <a16:creationId xmlns:a16="http://schemas.microsoft.com/office/drawing/2014/main" id="{4AA677BF-769F-44EF-B4C8-20DC0A3B8218}"/>
              </a:ext>
            </a:extLst>
          </p:cNvPr>
          <p:cNvSpPr>
            <a:spLocks xmlns:a="http://schemas.openxmlformats.org/drawingml/2006/main" noGrp="1"/>
          </p:cNvSpPr>
          <p:nvPr/>
        </p:nvSpPr>
        <p:spPr>
          <a:xfrm xmlns:a="http://schemas.openxmlformats.org/drawingml/2006/main">
            <a:off x="7505700" y="2647950"/>
            <a:ext cx="165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PC checks</a:t>
            </a:r>
          </a:p>
        </p:txBody>
      </p:sp>
      <p:sp>
        <p:nvSpPr>
          <p:cNvPr id="26" name="">
            <a:extLst xmlns:a="http://schemas.openxmlformats.org/drawingml/2006/main">
              <a:ext uri="{FF2B5EF4-FFF2-40B4-BE49-F238E27FC236}">
                <a16:creationId xmlns:a16="http://schemas.microsoft.com/office/drawing/2014/main" id="{F17EB7AE-40B2-4D89-AF66-D0BA5D76A72F}"/>
              </a:ext>
            </a:extLst>
          </p:cNvPr>
          <p:cNvSpPr>
            <a:spLocks xmlns:a="http://schemas.openxmlformats.org/drawingml/2006/main" noGrp="1"/>
          </p:cNvSpPr>
          <p:nvPr/>
        </p:nvSpPr>
        <p:spPr>
          <a:xfrm xmlns:a="http://schemas.openxmlformats.org/drawingml/2006/main">
            <a:off x="7505700" y="33147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Confirm required files open</a:t>
            </a:r>
          </a:p>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and follow up on gaps</a:t>
            </a:r>
          </a:p>
        </p:txBody>
      </p:sp>
      <p:sp>
        <p:nvSpPr>
          <p:cNvPr id="27" name="">
            <a:extLst xmlns:a="http://schemas.openxmlformats.org/drawingml/2006/main">
              <a:ext uri="{FF2B5EF4-FFF2-40B4-BE49-F238E27FC236}">
                <a16:creationId xmlns:a16="http://schemas.microsoft.com/office/drawing/2014/main" id="{D1E97C25-C817-4630-B43A-B6D90CE59C79}"/>
              </a:ext>
            </a:extLst>
          </p:cNvPr>
          <p:cNvSpPr>
            <a:spLocks xmlns:a="http://schemas.openxmlformats.org/drawingml/2006/main" noGrp="1"/>
          </p:cNvSpPr>
          <p:nvPr/>
        </p:nvSpPr>
        <p:spPr>
          <a:xfrm xmlns:a="http://schemas.openxmlformats.org/drawingml/2006/main">
            <a:off x="9363075" y="2790825"/>
            <a:ext cx="152400" cy="266700"/>
          </a:xfrm>
          <a:prstGeom xmlns:a="http://schemas.openxmlformats.org/drawingml/2006/main" prst="rightArrow">
            <a:avLst/>
          </a:prstGeom>
          <a:solidFill xmlns:a="http://schemas.openxmlformats.org/drawingml/2006/main">
            <a:srgbClr val="D7D2C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7967A28-9F2A-4E1B-B9D0-32FA3EFBDED1}"/>
              </a:ext>
            </a:extLst>
          </p:cNvPr>
          <p:cNvSpPr>
            <a:spLocks xmlns:a="http://schemas.openxmlformats.org/drawingml/2006/main" noGrp="1"/>
          </p:cNvSpPr>
          <p:nvPr/>
        </p:nvSpPr>
        <p:spPr>
          <a:xfrm xmlns:a="http://schemas.openxmlformats.org/drawingml/2006/main">
            <a:off x="9544050" y="1771650"/>
            <a:ext cx="2000250" cy="236220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7D2C8"/>
            </a:solidFill>
            <a:prstDash val="solid"/>
          </a:ln>
        </p:spPr>
      </p:sp>
      <p:sp>
        <p:nvSpPr>
          <p:cNvPr id="29" name="">
            <a:extLst xmlns:a="http://schemas.openxmlformats.org/drawingml/2006/main">
              <a:ext uri="{FF2B5EF4-FFF2-40B4-BE49-F238E27FC236}">
                <a16:creationId xmlns:a16="http://schemas.microsoft.com/office/drawing/2014/main" id="{F9B58E68-AC4D-4610-92F7-DDAB2E9A2314}"/>
              </a:ext>
            </a:extLst>
          </p:cNvPr>
          <p:cNvSpPr>
            <a:spLocks xmlns:a="http://schemas.openxmlformats.org/drawingml/2006/main" noGrp="1"/>
          </p:cNvSpPr>
          <p:nvPr/>
        </p:nvSpPr>
        <p:spPr>
          <a:xfrm xmlns:a="http://schemas.openxmlformats.org/drawingml/2006/main">
            <a:off x="9544050" y="1771650"/>
            <a:ext cx="2000250" cy="95250"/>
          </a:xfrm>
          <a:prstGeom xmlns:a="http://schemas.openxmlformats.org/drawingml/2006/main" prst="rect">
            <a:avLst/>
          </a:prstGeom>
          <a:solidFill xmlns:a="http://schemas.openxmlformats.org/drawingml/2006/main">
            <a:srgbClr val="426B8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E7FB3F6-5E44-48BC-B995-2B95B0893B00}"/>
              </a:ext>
            </a:extLst>
          </p:cNvPr>
          <p:cNvSpPr>
            <a:spLocks xmlns:a="http://schemas.openxmlformats.org/drawingml/2006/main" noGrp="1"/>
          </p:cNvSpPr>
          <p:nvPr/>
        </p:nvSpPr>
        <p:spPr>
          <a:xfrm xmlns:a="http://schemas.openxmlformats.org/drawingml/2006/main">
            <a:off x="9715500" y="2047875"/>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426B8A"/>
                </a:solidFill>
                <a:latin typeface="Helvetica Neue"/>
                <a:ea typeface="Helvetica Neue"/>
                <a:cs typeface="Helvetica Neue"/>
              </a:defRPr>
            </a:pPr>
            <a:r>
              <a:rPr sz="2550" b="1">
                <a:solidFill>
                  <a:srgbClr val="426B8A"/>
                </a:solidFill>
                <a:latin typeface="Helvetica Neue"/>
                <a:ea typeface="Helvetica Neue"/>
                <a:cs typeface="Helvetica Neue"/>
              </a:rPr>
              <a:t>5</a:t>
            </a:r>
          </a:p>
        </p:txBody>
      </p:sp>
      <p:sp>
        <p:nvSpPr>
          <p:cNvPr id="31" name="">
            <a:extLst xmlns:a="http://schemas.openxmlformats.org/drawingml/2006/main">
              <a:ext uri="{FF2B5EF4-FFF2-40B4-BE49-F238E27FC236}">
                <a16:creationId xmlns:a16="http://schemas.microsoft.com/office/drawing/2014/main" id="{5183810B-7AA1-4D0A-8C3E-2BB2FB445FDB}"/>
              </a:ext>
            </a:extLst>
          </p:cNvPr>
          <p:cNvSpPr>
            <a:spLocks xmlns:a="http://schemas.openxmlformats.org/drawingml/2006/main" noGrp="1"/>
          </p:cNvSpPr>
          <p:nvPr/>
        </p:nvSpPr>
        <p:spPr>
          <a:xfrm xmlns:a="http://schemas.openxmlformats.org/drawingml/2006/main">
            <a:off x="9715500" y="2647950"/>
            <a:ext cx="165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PC publishes</a:t>
            </a:r>
          </a:p>
        </p:txBody>
      </p:sp>
      <p:sp>
        <p:nvSpPr>
          <p:cNvPr id="32" name="">
            <a:extLst xmlns:a="http://schemas.openxmlformats.org/drawingml/2006/main">
              <a:ext uri="{FF2B5EF4-FFF2-40B4-BE49-F238E27FC236}">
                <a16:creationId xmlns:a16="http://schemas.microsoft.com/office/drawing/2014/main" id="{FE4CC6A8-D660-46F2-A838-B8A3716EBD6D}"/>
              </a:ext>
            </a:extLst>
          </p:cNvPr>
          <p:cNvSpPr>
            <a:spLocks xmlns:a="http://schemas.openxmlformats.org/drawingml/2006/main" noGrp="1"/>
          </p:cNvSpPr>
          <p:nvPr/>
        </p:nvSpPr>
        <p:spPr>
          <a:xfrm xmlns:a="http://schemas.openxmlformats.org/drawingml/2006/main">
            <a:off x="9715500" y="33147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Release the selected package</a:t>
            </a:r>
          </a:p>
          <a:p xmlns:a="http://schemas.openxmlformats.org/drawingml/2006/main">
            <a:pPr>
              <a:defRPr sz="1200" b="0">
                <a:solidFill>
                  <a:srgbClr val="5E6A70"/>
                </a:solidFill>
                <a:latin typeface="Helvetica Neue"/>
                <a:ea typeface="Helvetica Neue"/>
                <a:cs typeface="Helvetica Neue"/>
              </a:defRPr>
            </a:pPr>
            <a:r>
              <a:rPr sz="1200" b="0">
                <a:solidFill>
                  <a:srgbClr val="5E6A70"/>
                </a:solidFill>
                <a:latin typeface="Helvetica Neue"/>
                <a:ea typeface="Helvetica Neue"/>
                <a:cs typeface="Helvetica Neue"/>
              </a:rPr>
              <a:t>through a read-only link</a:t>
            </a:r>
          </a:p>
        </p:txBody>
      </p:sp>
      <p:sp>
        <p:nvSpPr>
          <p:cNvPr id="33" name="">
            <a:extLst xmlns:a="http://schemas.openxmlformats.org/drawingml/2006/main">
              <a:ext uri="{FF2B5EF4-FFF2-40B4-BE49-F238E27FC236}">
                <a16:creationId xmlns:a16="http://schemas.microsoft.com/office/drawing/2014/main" id="{FF6A7F0F-FAE6-434C-95FC-D4CFACA36B64}"/>
              </a:ext>
            </a:extLst>
          </p:cNvPr>
          <p:cNvSpPr>
            <a:spLocks xmlns:a="http://schemas.openxmlformats.org/drawingml/2006/main" noGrp="1"/>
          </p:cNvSpPr>
          <p:nvPr/>
        </p:nvSpPr>
        <p:spPr>
          <a:xfrm xmlns:a="http://schemas.openxmlformats.org/drawingml/2006/main">
            <a:off x="704850" y="48101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5E6A70"/>
                </a:solidFill>
                <a:latin typeface="Helvetica Neue"/>
                <a:ea typeface="Helvetica Neue"/>
                <a:cs typeface="Helvetica Neue"/>
              </a:defRPr>
            </a:pPr>
            <a:r>
              <a:rPr sz="1125" b="1">
                <a:solidFill>
                  <a:srgbClr val="5E6A70"/>
                </a:solidFill>
                <a:latin typeface="Helvetica Neue"/>
                <a:ea typeface="Helvetica Neue"/>
                <a:cs typeface="Helvetica Neue"/>
              </a:rPr>
              <a:t>Materials normally due</a:t>
            </a:r>
          </a:p>
        </p:txBody>
      </p:sp>
      <p:sp>
        <p:nvSpPr>
          <p:cNvPr id="34" name="">
            <a:extLst xmlns:a="http://schemas.openxmlformats.org/drawingml/2006/main">
              <a:ext uri="{FF2B5EF4-FFF2-40B4-BE49-F238E27FC236}">
                <a16:creationId xmlns:a16="http://schemas.microsoft.com/office/drawing/2014/main" id="{558E80B6-C8FD-4D89-82A4-E350088E9202}"/>
              </a:ext>
            </a:extLst>
          </p:cNvPr>
          <p:cNvSpPr>
            <a:spLocks xmlns:a="http://schemas.openxmlformats.org/drawingml/2006/main" noGrp="1"/>
          </p:cNvSpPr>
          <p:nvPr/>
        </p:nvSpPr>
        <p:spPr>
          <a:xfrm xmlns:a="http://schemas.openxmlformats.org/drawingml/2006/main">
            <a:off x="704850" y="50673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2B"/>
                </a:solidFill>
                <a:latin typeface="Helvetica Neue"/>
                <a:ea typeface="Helvetica Neue"/>
                <a:cs typeface="Helvetica Neue"/>
              </a:defRPr>
            </a:pPr>
            <a:r>
              <a:rPr sz="1800" b="1">
                <a:solidFill>
                  <a:srgbClr val="17232B"/>
                </a:solidFill>
                <a:latin typeface="Helvetica Neue"/>
                <a:ea typeface="Helvetica Neue"/>
                <a:cs typeface="Helvetica Neue"/>
              </a:rPr>
              <a:t>about 3 days before</a:t>
            </a:r>
          </a:p>
        </p:txBody>
      </p:sp>
      <p:sp>
        <p:nvSpPr>
          <p:cNvPr id="35" name="">
            <a:extLst xmlns:a="http://schemas.openxmlformats.org/drawingml/2006/main">
              <a:ext uri="{FF2B5EF4-FFF2-40B4-BE49-F238E27FC236}">
                <a16:creationId xmlns:a16="http://schemas.microsoft.com/office/drawing/2014/main" id="{B6730CF8-29FE-41F4-8609-1E1E381B240F}"/>
              </a:ext>
            </a:extLst>
          </p:cNvPr>
          <p:cNvSpPr>
            <a:spLocks xmlns:a="http://schemas.openxmlformats.org/drawingml/2006/main" noGrp="1"/>
          </p:cNvSpPr>
          <p:nvPr/>
        </p:nvSpPr>
        <p:spPr>
          <a:xfrm xmlns:a="http://schemas.openxmlformats.org/drawingml/2006/main">
            <a:off x="3571875" y="5153025"/>
            <a:ext cx="4905375" cy="0"/>
          </a:xfrm>
          <a:prstGeom xmlns:a="http://schemas.openxmlformats.org/drawingml/2006/main" prst="line">
            <a:avLst/>
          </a:prstGeom>
          <a:noFill xmlns:a="http://schemas.openxmlformats.org/drawingml/2006/main"/>
          <a:ln xmlns:a="http://schemas.openxmlformats.org/drawingml/2006/main" w="19050">
            <a:solidFill>
              <a:srgbClr val="D7D2C8"/>
            </a:solidFill>
            <a:prstDash val="solid"/>
          </a:ln>
        </p:spPr>
      </p:sp>
      <p:sp>
        <p:nvSpPr>
          <p:cNvPr id="36" name="">
            <a:extLst xmlns:a="http://schemas.openxmlformats.org/drawingml/2006/main">
              <a:ext uri="{FF2B5EF4-FFF2-40B4-BE49-F238E27FC236}">
                <a16:creationId xmlns:a16="http://schemas.microsoft.com/office/drawing/2014/main" id="{3E18CBEF-D07B-457A-8CB2-C5E17FF896BD}"/>
              </a:ext>
            </a:extLst>
          </p:cNvPr>
          <p:cNvSpPr>
            <a:spLocks xmlns:a="http://schemas.openxmlformats.org/drawingml/2006/main" noGrp="1"/>
          </p:cNvSpPr>
          <p:nvPr/>
        </p:nvSpPr>
        <p:spPr>
          <a:xfrm xmlns:a="http://schemas.openxmlformats.org/drawingml/2006/main">
            <a:off x="8667750" y="4810125"/>
            <a:ext cx="283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5E6A70"/>
                </a:solidFill>
                <a:latin typeface="Helvetica Neue"/>
                <a:ea typeface="Helvetica Neue"/>
                <a:cs typeface="Helvetica Neue"/>
              </a:defRPr>
            </a:pPr>
            <a:r>
              <a:rPr sz="1125" b="1">
                <a:solidFill>
                  <a:srgbClr val="5E6A70"/>
                </a:solidFill>
                <a:latin typeface="Helvetica Neue"/>
                <a:ea typeface="Helvetica Neue"/>
                <a:cs typeface="Helvetica Neue"/>
              </a:rPr>
              <a:t>Contributor and briefing access close</a:t>
            </a:r>
          </a:p>
        </p:txBody>
      </p:sp>
      <p:sp>
        <p:nvSpPr>
          <p:cNvPr id="37" name="">
            <a:extLst xmlns:a="http://schemas.openxmlformats.org/drawingml/2006/main">
              <a:ext uri="{FF2B5EF4-FFF2-40B4-BE49-F238E27FC236}">
                <a16:creationId xmlns:a16="http://schemas.microsoft.com/office/drawing/2014/main" id="{4EC5D80C-17E9-4446-903A-037D58004731}"/>
              </a:ext>
            </a:extLst>
          </p:cNvPr>
          <p:cNvSpPr>
            <a:spLocks xmlns:a="http://schemas.openxmlformats.org/drawingml/2006/main" noGrp="1"/>
          </p:cNvSpPr>
          <p:nvPr/>
        </p:nvSpPr>
        <p:spPr>
          <a:xfrm xmlns:a="http://schemas.openxmlformats.org/drawingml/2006/main">
            <a:off x="8382000" y="5067300"/>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2B"/>
                </a:solidFill>
                <a:latin typeface="Helvetica Neue"/>
                <a:ea typeface="Helvetica Neue"/>
                <a:cs typeface="Helvetica Neue"/>
              </a:defRPr>
            </a:pPr>
            <a:r>
              <a:rPr sz="1800" b="1">
                <a:solidFill>
                  <a:srgbClr val="17232B"/>
                </a:solidFill>
                <a:latin typeface="Helvetica Neue"/>
                <a:ea typeface="Helvetica Neue"/>
                <a:cs typeface="Helvetica Neue"/>
              </a:rPr>
              <a:t>7 days after the visit</a:t>
            </a:r>
          </a:p>
        </p:txBody>
      </p:sp>
    </p:spTree>
    <p:extLst>
      <p:ext uri="{BB962C8B-B14F-4D97-AF65-F5344CB8AC3E}">
        <p14:creationId xmlns:p14="http://schemas.microsoft.com/office/powerpoint/2010/main" val="324557907"/>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4F8D83-24E3-4147-9AA0-A8A635F97210}"/>
              </a:ext>
            </a:extLst>
          </p:cNvPr>
          <p:cNvSpPr>
            <a:spLocks xmlns:a="http://schemas.openxmlformats.org/drawingml/2006/main" noGrp="1"/>
          </p:cNvSpPr>
          <p:nvPr/>
        </p:nvSpPr>
        <p:spPr>
          <a:xfrm xmlns:a="http://schemas.openxmlformats.org/drawingml/2006/main">
            <a:off x="685800" y="428625"/>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7232B"/>
                </a:solidFill>
                <a:latin typeface="Helvetica Neue"/>
                <a:ea typeface="Helvetica Neue"/>
                <a:cs typeface="Helvetica Neue"/>
              </a:defRPr>
            </a:pPr>
            <a:r>
              <a:rPr sz="2550" b="1">
                <a:solidFill>
                  <a:srgbClr val="17232B"/>
                </a:solidFill>
                <a:latin typeface="Helvetica Neue"/>
                <a:ea typeface="Helvetica Neue"/>
                <a:cs typeface="Helvetica Neue"/>
              </a:rPr>
              <a:t>Applicant and staff experience</a:t>
            </a:r>
          </a:p>
        </p:txBody>
      </p:sp>
      <p:sp>
        <p:nvSpPr>
          <p:cNvPr id="2" name="">
            <a:extLst xmlns:a="http://schemas.openxmlformats.org/drawingml/2006/main">
              <a:ext uri="{FF2B5EF4-FFF2-40B4-BE49-F238E27FC236}">
                <a16:creationId xmlns:a16="http://schemas.microsoft.com/office/drawing/2014/main" id="{B94455ED-EDA5-443E-9B2E-60246808BDE4}"/>
              </a:ext>
            </a:extLst>
          </p:cNvPr>
          <p:cNvSpPr>
            <a:spLocks xmlns:a="http://schemas.openxmlformats.org/drawingml/2006/main" noGrp="1"/>
          </p:cNvSpPr>
          <p:nvPr/>
        </p:nvSpPr>
        <p:spPr>
          <a:xfrm xmlns:a="http://schemas.openxmlformats.org/drawingml/2006/main">
            <a:off x="685800" y="1066800"/>
            <a:ext cx="10820400" cy="0"/>
          </a:xfrm>
          <a:prstGeom xmlns:a="http://schemas.openxmlformats.org/drawingml/2006/main" prst="line">
            <a:avLst/>
          </a:prstGeom>
          <a:noFill xmlns:a="http://schemas.openxmlformats.org/drawingml/2006/main"/>
          <a:ln xmlns:a="http://schemas.openxmlformats.org/drawingml/2006/main" w="28575">
            <a:solidFill>
              <a:srgbClr val="B58A3A"/>
            </a:solidFill>
            <a:prstDash val="solid"/>
          </a:ln>
        </p:spPr>
      </p:sp>
      <p:sp>
        <p:nvSpPr>
          <p:cNvPr id="3" name="">
            <a:extLst xmlns:a="http://schemas.openxmlformats.org/drawingml/2006/main">
              <a:ext uri="{FF2B5EF4-FFF2-40B4-BE49-F238E27FC236}">
                <a16:creationId xmlns:a16="http://schemas.microsoft.com/office/drawing/2014/main" id="{BDC4D4E4-35FC-4818-A839-BE9107AAA5EC}"/>
              </a:ext>
            </a:extLst>
          </p:cNvPr>
          <p:cNvSpPr>
            <a:spLocks xmlns:a="http://schemas.openxmlformats.org/drawingml/2006/main" noGrp="1"/>
          </p:cNvSpPr>
          <p:nvPr/>
        </p:nvSpPr>
        <p:spPr>
          <a:xfrm xmlns:a="http://schemas.openxmlformats.org/drawingml/2006/main">
            <a:off x="11239500" y="633412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E6A70"/>
                </a:solidFill>
                <a:latin typeface="Helvetica Neue"/>
                <a:ea typeface="Helvetica Neue"/>
                <a:cs typeface="Helvetica Neue"/>
              </a:defRPr>
            </a:pPr>
            <a:r>
              <a:rPr sz="975" b="0">
                <a:solidFill>
                  <a:srgbClr val="5E6A70"/>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FD7A23F5-0C09-4912-8E88-B4177EFC436D}"/>
              </a:ext>
            </a:extLst>
          </p:cNvPr>
          <p:cNvSpPr>
            <a:spLocks xmlns:a="http://schemas.openxmlformats.org/drawingml/2006/main" noGrp="1"/>
          </p:cNvSpPr>
          <p:nvPr/>
        </p:nvSpPr>
        <p:spPr>
          <a:xfrm xmlns:a="http://schemas.openxmlformats.org/drawingml/2006/main">
            <a:off x="685800" y="1524000"/>
            <a:ext cx="5143500" cy="3848100"/>
          </a:xfrm>
          <a:prstGeom xmlns:a="http://schemas.openxmlformats.org/drawingml/2006/main" prst="roundRect">
            <a:avLst>
              <a:gd name="adj" fmla="val 4455"/>
            </a:avLst>
          </a:prstGeom>
          <a:solidFill xmlns:a="http://schemas.openxmlformats.org/drawingml/2006/main">
            <a:srgbClr val="DCE9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87ABE4-F4ED-4C51-9DE5-F5A5CB65555F}"/>
              </a:ext>
            </a:extLst>
          </p:cNvPr>
          <p:cNvSpPr>
            <a:spLocks xmlns:a="http://schemas.openxmlformats.org/drawingml/2006/main" noGrp="1"/>
          </p:cNvSpPr>
          <p:nvPr/>
        </p:nvSpPr>
        <p:spPr>
          <a:xfrm xmlns:a="http://schemas.openxmlformats.org/drawingml/2006/main">
            <a:off x="990600" y="18478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3D7068"/>
                </a:solidFill>
                <a:latin typeface="Helvetica Neue"/>
                <a:ea typeface="Helvetica Neue"/>
                <a:cs typeface="Helvetica Neue"/>
              </a:defRPr>
            </a:pPr>
            <a:r>
              <a:rPr sz="2025" b="1">
                <a:solidFill>
                  <a:srgbClr val="3D7068"/>
                </a:solidFill>
                <a:latin typeface="Helvetica Neue"/>
                <a:ea typeface="Helvetica Neue"/>
                <a:cs typeface="Helvetica Neue"/>
              </a:rPr>
              <a:t>Applicant team</a:t>
            </a:r>
          </a:p>
        </p:txBody>
      </p:sp>
      <p:sp>
        <p:nvSpPr>
          <p:cNvPr id="6" name="">
            <a:extLst xmlns:a="http://schemas.openxmlformats.org/drawingml/2006/main">
              <a:ext uri="{FF2B5EF4-FFF2-40B4-BE49-F238E27FC236}">
                <a16:creationId xmlns:a16="http://schemas.microsoft.com/office/drawing/2014/main" id="{0715A85D-8B7C-4E12-8B8F-DF816446646C}"/>
              </a:ext>
            </a:extLst>
          </p:cNvPr>
          <p:cNvSpPr>
            <a:spLocks xmlns:a="http://schemas.openxmlformats.org/drawingml/2006/main" noGrp="1"/>
          </p:cNvSpPr>
          <p:nvPr/>
        </p:nvSpPr>
        <p:spPr>
          <a:xfrm xmlns:a="http://schemas.openxmlformats.org/drawingml/2006/main">
            <a:off x="971550" y="2400300"/>
            <a:ext cx="4476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One shared, forwardable contributor link</a:t>
            </a:r>
          </a:p>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Checklist shows what staff still need</a:t>
            </a:r>
          </a:p>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PDF and source deck can change independently</a:t>
            </a:r>
          </a:p>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Latest accepted version stays clear</a:t>
            </a:r>
          </a:p>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Optional materials can accompany the request</a:t>
            </a:r>
          </a:p>
        </p:txBody>
      </p:sp>
      <p:sp>
        <p:nvSpPr>
          <p:cNvPr id="7" name="">
            <a:extLst xmlns:a="http://schemas.openxmlformats.org/drawingml/2006/main">
              <a:ext uri="{FF2B5EF4-FFF2-40B4-BE49-F238E27FC236}">
                <a16:creationId xmlns:a16="http://schemas.microsoft.com/office/drawing/2014/main" id="{43C87142-40AF-41AE-AB50-396A5CC5B8CC}"/>
              </a:ext>
            </a:extLst>
          </p:cNvPr>
          <p:cNvSpPr>
            <a:spLocks xmlns:a="http://schemas.openxmlformats.org/drawingml/2006/main" noGrp="1"/>
          </p:cNvSpPr>
          <p:nvPr/>
        </p:nvSpPr>
        <p:spPr>
          <a:xfrm xmlns:a="http://schemas.openxmlformats.org/drawingml/2006/main">
            <a:off x="6362700" y="1524000"/>
            <a:ext cx="5143500" cy="3848100"/>
          </a:xfrm>
          <a:prstGeom xmlns:a="http://schemas.openxmlformats.org/drawingml/2006/main" prst="roundRect">
            <a:avLst>
              <a:gd name="adj" fmla="val 4455"/>
            </a:avLst>
          </a:prstGeom>
          <a:solidFill xmlns:a="http://schemas.openxmlformats.org/drawingml/2006/main">
            <a:srgbClr val="DEE8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3108378-934B-4A1F-97D4-5D8F8D08C92A}"/>
              </a:ext>
            </a:extLst>
          </p:cNvPr>
          <p:cNvSpPr>
            <a:spLocks xmlns:a="http://schemas.openxmlformats.org/drawingml/2006/main" noGrp="1"/>
          </p:cNvSpPr>
          <p:nvPr/>
        </p:nvSpPr>
        <p:spPr>
          <a:xfrm xmlns:a="http://schemas.openxmlformats.org/drawingml/2006/main">
            <a:off x="6667500" y="18478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426B8A"/>
                </a:solidFill>
                <a:latin typeface="Helvetica Neue"/>
                <a:ea typeface="Helvetica Neue"/>
                <a:cs typeface="Helvetica Neue"/>
              </a:defRPr>
            </a:pPr>
            <a:r>
              <a:rPr sz="2025" b="1">
                <a:solidFill>
                  <a:srgbClr val="426B8A"/>
                </a:solidFill>
                <a:latin typeface="Helvetica Neue"/>
                <a:ea typeface="Helvetica Neue"/>
                <a:cs typeface="Helvetica Neue"/>
              </a:rPr>
              <a:t>Foundation staff</a:t>
            </a:r>
          </a:p>
        </p:txBody>
      </p:sp>
      <p:sp>
        <p:nvSpPr>
          <p:cNvPr id="9" name="">
            <a:extLst xmlns:a="http://schemas.openxmlformats.org/drawingml/2006/main">
              <a:ext uri="{FF2B5EF4-FFF2-40B4-BE49-F238E27FC236}">
                <a16:creationId xmlns:a16="http://schemas.microsoft.com/office/drawing/2014/main" id="{F0B3F504-158A-4E20-9C87-EC0D1E7D87FE}"/>
              </a:ext>
            </a:extLst>
          </p:cNvPr>
          <p:cNvSpPr>
            <a:spLocks xmlns:a="http://schemas.openxmlformats.org/drawingml/2006/main" noGrp="1"/>
          </p:cNvSpPr>
          <p:nvPr/>
        </p:nvSpPr>
        <p:spPr>
          <a:xfrm xmlns:a="http://schemas.openxmlformats.org/drawingml/2006/main">
            <a:off x="6648450" y="2400300"/>
            <a:ext cx="4476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PC owns setup, follow-up, and publication</a:t>
            </a:r>
          </a:p>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PD can see status and materials</a:t>
            </a:r>
          </a:p>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PC checks that required files open and render</a:t>
            </a:r>
          </a:p>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System retains prior SharePoint versions</a:t>
            </a:r>
          </a:p>
          <a:p xmlns:a="http://schemas.openxmlformats.org/drawingml/2006/main">
            <a:pPr marL="228600" indent="-114300">
              <a:spcAft>
                <a:spcPts val="1000"/>
              </a:spcAft>
              <a:buChar char="•"/>
              <a:defRPr sz="1425">
                <a:solidFill>
                  <a:srgbClr val="17232B"/>
                </a:solidFill>
                <a:latin typeface="Helvetica Neue"/>
                <a:ea typeface="Helvetica Neue"/>
                <a:cs typeface="Helvetica Neue"/>
              </a:defRPr>
            </a:pPr>
            <a:r>
              <a:rPr sz="1425">
                <a:solidFill>
                  <a:srgbClr val="17232B"/>
                </a:solidFill>
                <a:latin typeface="Helvetica Neue"/>
                <a:ea typeface="Helvetica Neue"/>
                <a:cs typeface="Helvetica Neue"/>
              </a:rPr>
              <a:t>Email or Dropbox covers rare exceptions</a:t>
            </a:r>
          </a:p>
        </p:txBody>
      </p:sp>
      <p:sp>
        <p:nvSpPr>
          <p:cNvPr id="10" name="">
            <a:extLst xmlns:a="http://schemas.openxmlformats.org/drawingml/2006/main">
              <a:ext uri="{FF2B5EF4-FFF2-40B4-BE49-F238E27FC236}">
                <a16:creationId xmlns:a16="http://schemas.microsoft.com/office/drawing/2014/main" id="{C9F2D547-838F-48AE-AF4D-16EFE0FE37A5}"/>
              </a:ext>
            </a:extLst>
          </p:cNvPr>
          <p:cNvSpPr>
            <a:spLocks xmlns:a="http://schemas.openxmlformats.org/drawingml/2006/main" noGrp="1"/>
          </p:cNvSpPr>
          <p:nvPr/>
        </p:nvSpPr>
        <p:spPr>
          <a:xfrm xmlns:a="http://schemas.openxmlformats.org/drawingml/2006/main">
            <a:off x="1219200" y="5810250"/>
            <a:ext cx="975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A95035"/>
                </a:solidFill>
                <a:latin typeface="Helvetica Neue"/>
                <a:ea typeface="Helvetica Neue"/>
                <a:cs typeface="Helvetica Neue"/>
              </a:defRPr>
            </a:pPr>
            <a:r>
              <a:rPr sz="1800" b="1">
                <a:solidFill>
                  <a:srgbClr val="A95035"/>
                </a:solidFill>
                <a:latin typeface="Helvetica Neue"/>
                <a:ea typeface="Helvetica Neue"/>
                <a:cs typeface="Helvetica Neue"/>
              </a:rPr>
              <a:t>Does this match how responsibility actually moves between the liaison, PI, PC, and PD?</a:t>
            </a:r>
          </a:p>
        </p:txBody>
      </p:sp>
    </p:spTree>
    <p:extLst>
      <p:ext uri="{BB962C8B-B14F-4D97-AF65-F5344CB8AC3E}">
        <p14:creationId xmlns:p14="http://schemas.microsoft.com/office/powerpoint/2010/main" val="1200202496"/>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739A0C3-B6A7-4876-8F82-766772C393AB}"/>
              </a:ext>
            </a:extLst>
          </p:cNvPr>
          <p:cNvSpPr>
            <a:spLocks xmlns:a="http://schemas.openxmlformats.org/drawingml/2006/main" noGrp="1"/>
          </p:cNvSpPr>
          <p:nvPr/>
        </p:nvSpPr>
        <p:spPr>
          <a:xfrm xmlns:a="http://schemas.openxmlformats.org/drawingml/2006/main">
            <a:off x="685800" y="428625"/>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7232B"/>
                </a:solidFill>
                <a:latin typeface="Helvetica Neue"/>
                <a:ea typeface="Helvetica Neue"/>
                <a:cs typeface="Helvetica Neue"/>
              </a:defRPr>
            </a:pPr>
            <a:r>
              <a:rPr sz="2550" b="1">
                <a:solidFill>
                  <a:srgbClr val="17232B"/>
                </a:solidFill>
                <a:latin typeface="Helvetica Neue"/>
                <a:ea typeface="Helvetica Neue"/>
                <a:cs typeface="Helvetica Neue"/>
              </a:rPr>
              <a:t>One briefing room, one source of truth</a:t>
            </a:r>
          </a:p>
        </p:txBody>
      </p:sp>
      <p:sp>
        <p:nvSpPr>
          <p:cNvPr id="2" name="">
            <a:extLst xmlns:a="http://schemas.openxmlformats.org/drawingml/2006/main">
              <a:ext uri="{FF2B5EF4-FFF2-40B4-BE49-F238E27FC236}">
                <a16:creationId xmlns:a16="http://schemas.microsoft.com/office/drawing/2014/main" id="{F6177C21-0BD1-475F-A22C-1F80CD4CD198}"/>
              </a:ext>
            </a:extLst>
          </p:cNvPr>
          <p:cNvSpPr>
            <a:spLocks xmlns:a="http://schemas.openxmlformats.org/drawingml/2006/main" noGrp="1"/>
          </p:cNvSpPr>
          <p:nvPr/>
        </p:nvSpPr>
        <p:spPr>
          <a:xfrm xmlns:a="http://schemas.openxmlformats.org/drawingml/2006/main">
            <a:off x="685800" y="1066800"/>
            <a:ext cx="10820400" cy="0"/>
          </a:xfrm>
          <a:prstGeom xmlns:a="http://schemas.openxmlformats.org/drawingml/2006/main" prst="line">
            <a:avLst/>
          </a:prstGeom>
          <a:noFill xmlns:a="http://schemas.openxmlformats.org/drawingml/2006/main"/>
          <a:ln xmlns:a="http://schemas.openxmlformats.org/drawingml/2006/main" w="28575">
            <a:solidFill>
              <a:srgbClr val="B58A3A"/>
            </a:solidFill>
            <a:prstDash val="solid"/>
          </a:ln>
        </p:spPr>
      </p:sp>
      <p:sp>
        <p:nvSpPr>
          <p:cNvPr id="3" name="">
            <a:extLst xmlns:a="http://schemas.openxmlformats.org/drawingml/2006/main">
              <a:ext uri="{FF2B5EF4-FFF2-40B4-BE49-F238E27FC236}">
                <a16:creationId xmlns:a16="http://schemas.microsoft.com/office/drawing/2014/main" id="{48C4CA73-B92C-4B98-8DF3-67B988B4A7BC}"/>
              </a:ext>
            </a:extLst>
          </p:cNvPr>
          <p:cNvSpPr>
            <a:spLocks xmlns:a="http://schemas.openxmlformats.org/drawingml/2006/main" noGrp="1"/>
          </p:cNvSpPr>
          <p:nvPr/>
        </p:nvSpPr>
        <p:spPr>
          <a:xfrm xmlns:a="http://schemas.openxmlformats.org/drawingml/2006/main">
            <a:off x="11239500" y="633412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E6A70"/>
                </a:solidFill>
                <a:latin typeface="Helvetica Neue"/>
                <a:ea typeface="Helvetica Neue"/>
                <a:cs typeface="Helvetica Neue"/>
              </a:defRPr>
            </a:pPr>
            <a:r>
              <a:rPr sz="975" b="0">
                <a:solidFill>
                  <a:srgbClr val="5E6A70"/>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DD0E9B58-87E1-4326-AA3A-A1E3A79A6A55}"/>
              </a:ext>
            </a:extLst>
          </p:cNvPr>
          <p:cNvSpPr>
            <a:spLocks xmlns:a="http://schemas.openxmlformats.org/drawingml/2006/main" noGrp="1"/>
          </p:cNvSpPr>
          <p:nvPr/>
        </p:nvSpPr>
        <p:spPr>
          <a:xfrm xmlns:a="http://schemas.openxmlformats.org/drawingml/2006/main">
            <a:off x="781050" y="1657350"/>
            <a:ext cx="33337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9525">
            <a:solidFill>
              <a:srgbClr val="D7D2C8"/>
            </a:solidFill>
            <a:prstDash val="solid"/>
          </a:ln>
        </p:spPr>
      </p:sp>
      <p:sp>
        <p:nvSpPr>
          <p:cNvPr id="5" name="">
            <a:extLst xmlns:a="http://schemas.openxmlformats.org/drawingml/2006/main">
              <a:ext uri="{FF2B5EF4-FFF2-40B4-BE49-F238E27FC236}">
                <a16:creationId xmlns:a16="http://schemas.microsoft.com/office/drawing/2014/main" id="{9430E3F4-BAE1-41F0-B1FB-375C0EBCB598}"/>
              </a:ext>
            </a:extLst>
          </p:cNvPr>
          <p:cNvSpPr>
            <a:spLocks xmlns:a="http://schemas.openxmlformats.org/drawingml/2006/main" noGrp="1"/>
          </p:cNvSpPr>
          <p:nvPr/>
        </p:nvSpPr>
        <p:spPr>
          <a:xfrm xmlns:a="http://schemas.openxmlformats.org/drawingml/2006/main">
            <a:off x="781050" y="1657350"/>
            <a:ext cx="85725" cy="819150"/>
          </a:xfrm>
          <a:prstGeom xmlns:a="http://schemas.openxmlformats.org/drawingml/2006/main" prst="rect">
            <a:avLst/>
          </a:prstGeom>
          <a:solidFill xmlns:a="http://schemas.openxmlformats.org/drawingml/2006/main">
            <a:srgbClr val="3D706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CA2D30-BD4B-4A95-BEE1-8615391B10AA}"/>
              </a:ext>
            </a:extLst>
          </p:cNvPr>
          <p:cNvSpPr>
            <a:spLocks xmlns:a="http://schemas.openxmlformats.org/drawingml/2006/main" noGrp="1"/>
          </p:cNvSpPr>
          <p:nvPr/>
        </p:nvSpPr>
        <p:spPr>
          <a:xfrm xmlns:a="http://schemas.openxmlformats.org/drawingml/2006/main">
            <a:off x="1066800" y="17907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Applicant materials</a:t>
            </a:r>
          </a:p>
        </p:txBody>
      </p:sp>
      <p:sp>
        <p:nvSpPr>
          <p:cNvPr id="7" name="">
            <a:extLst xmlns:a="http://schemas.openxmlformats.org/drawingml/2006/main">
              <a:ext uri="{FF2B5EF4-FFF2-40B4-BE49-F238E27FC236}">
                <a16:creationId xmlns:a16="http://schemas.microsoft.com/office/drawing/2014/main" id="{40A86C07-E10B-4251-B3F2-731DD0339D79}"/>
              </a:ext>
            </a:extLst>
          </p:cNvPr>
          <p:cNvSpPr>
            <a:spLocks xmlns:a="http://schemas.openxmlformats.org/drawingml/2006/main" noGrp="1"/>
          </p:cNvSpPr>
          <p:nvPr/>
        </p:nvSpPr>
        <p:spPr>
          <a:xfrm xmlns:a="http://schemas.openxmlformats.org/drawingml/2006/main">
            <a:off x="1066800" y="211455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E6A70"/>
                </a:solidFill>
                <a:latin typeface="Helvetica Neue"/>
                <a:ea typeface="Helvetica Neue"/>
                <a:cs typeface="Helvetica Neue"/>
              </a:defRPr>
            </a:pPr>
            <a:r>
              <a:rPr sz="1125" b="0">
                <a:solidFill>
                  <a:srgbClr val="5E6A70"/>
                </a:solidFill>
                <a:latin typeface="Helvetica Neue"/>
                <a:ea typeface="Helvetica Neue"/>
                <a:cs typeface="Helvetica Neue"/>
              </a:rPr>
              <a:t>Published PDF, bios, selected extras</a:t>
            </a:r>
          </a:p>
        </p:txBody>
      </p:sp>
      <p:sp>
        <p:nvSpPr>
          <p:cNvPr id="8" name="">
            <a:extLst xmlns:a="http://schemas.openxmlformats.org/drawingml/2006/main">
              <a:ext uri="{FF2B5EF4-FFF2-40B4-BE49-F238E27FC236}">
                <a16:creationId xmlns:a16="http://schemas.microsoft.com/office/drawing/2014/main" id="{133C77B9-3F64-4435-9CF7-0B2B2977186C}"/>
              </a:ext>
            </a:extLst>
          </p:cNvPr>
          <p:cNvSpPr>
            <a:spLocks xmlns:a="http://schemas.openxmlformats.org/drawingml/2006/main" noGrp="1"/>
          </p:cNvSpPr>
          <p:nvPr/>
        </p:nvSpPr>
        <p:spPr>
          <a:xfrm xmlns:a="http://schemas.openxmlformats.org/drawingml/2006/main">
            <a:off x="4114800" y="2066925"/>
            <a:ext cx="1600200" cy="0"/>
          </a:xfrm>
          <a:prstGeom xmlns:a="http://schemas.openxmlformats.org/drawingml/2006/main" prst="line">
            <a:avLst/>
          </a:prstGeom>
          <a:noFill xmlns:a="http://schemas.openxmlformats.org/drawingml/2006/main"/>
          <a:ln xmlns:a="http://schemas.openxmlformats.org/drawingml/2006/main" w="19050">
            <a:solidFill>
              <a:srgbClr val="D7D2C8"/>
            </a:solidFill>
            <a:prstDash val="solid"/>
          </a:ln>
        </p:spPr>
      </p:sp>
      <p:sp>
        <p:nvSpPr>
          <p:cNvPr id="9" name="">
            <a:extLst xmlns:a="http://schemas.openxmlformats.org/drawingml/2006/main">
              <a:ext uri="{FF2B5EF4-FFF2-40B4-BE49-F238E27FC236}">
                <a16:creationId xmlns:a16="http://schemas.microsoft.com/office/drawing/2014/main" id="{33944758-A985-442C-BFF3-E186D1AFC903}"/>
              </a:ext>
            </a:extLst>
          </p:cNvPr>
          <p:cNvSpPr>
            <a:spLocks xmlns:a="http://schemas.openxmlformats.org/drawingml/2006/main" noGrp="1"/>
          </p:cNvSpPr>
          <p:nvPr/>
        </p:nvSpPr>
        <p:spPr>
          <a:xfrm xmlns:a="http://schemas.openxmlformats.org/drawingml/2006/main">
            <a:off x="781050" y="2838450"/>
            <a:ext cx="33337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95EB1BD0-B68D-4D23-A726-C0D81DDBFE1D}"/>
              </a:ext>
            </a:extLst>
          </p:cNvPr>
          <p:cNvSpPr>
            <a:spLocks xmlns:a="http://schemas.openxmlformats.org/drawingml/2006/main" noGrp="1"/>
          </p:cNvSpPr>
          <p:nvPr/>
        </p:nvSpPr>
        <p:spPr>
          <a:xfrm xmlns:a="http://schemas.openxmlformats.org/drawingml/2006/main">
            <a:off x="781050" y="2838450"/>
            <a:ext cx="85725" cy="819150"/>
          </a:xfrm>
          <a:prstGeom xmlns:a="http://schemas.openxmlformats.org/drawingml/2006/main" prst="rect">
            <a:avLst/>
          </a:prstGeom>
          <a:solidFill xmlns:a="http://schemas.openxmlformats.org/drawingml/2006/main">
            <a:srgbClr val="B58A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8130635-34D7-4725-AA45-196AD8084E0E}"/>
              </a:ext>
            </a:extLst>
          </p:cNvPr>
          <p:cNvSpPr>
            <a:spLocks xmlns:a="http://schemas.openxmlformats.org/drawingml/2006/main" noGrp="1"/>
          </p:cNvSpPr>
          <p:nvPr/>
        </p:nvSpPr>
        <p:spPr>
          <a:xfrm xmlns:a="http://schemas.openxmlformats.org/drawingml/2006/main">
            <a:off x="1066800" y="29718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Pre-Site Writeup</a:t>
            </a:r>
          </a:p>
        </p:txBody>
      </p:sp>
      <p:sp>
        <p:nvSpPr>
          <p:cNvPr id="12" name="">
            <a:extLst xmlns:a="http://schemas.openxmlformats.org/drawingml/2006/main">
              <a:ext uri="{FF2B5EF4-FFF2-40B4-BE49-F238E27FC236}">
                <a16:creationId xmlns:a16="http://schemas.microsoft.com/office/drawing/2014/main" id="{31F0E855-E1C4-4DA1-9B70-B5E3505835E2}"/>
              </a:ext>
            </a:extLst>
          </p:cNvPr>
          <p:cNvSpPr>
            <a:spLocks xmlns:a="http://schemas.openxmlformats.org/drawingml/2006/main" noGrp="1"/>
          </p:cNvSpPr>
          <p:nvPr/>
        </p:nvSpPr>
        <p:spPr>
          <a:xfrm xmlns:a="http://schemas.openxmlformats.org/drawingml/2006/main">
            <a:off x="1066800" y="329565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E6A70"/>
                </a:solidFill>
                <a:latin typeface="Helvetica Neue"/>
                <a:ea typeface="Helvetica Neue"/>
                <a:cs typeface="Helvetica Neue"/>
              </a:defRPr>
            </a:pPr>
            <a:r>
              <a:rPr sz="1125" b="0">
                <a:solidFill>
                  <a:srgbClr val="5E6A70"/>
                </a:solidFill>
                <a:latin typeface="Helvetica Neue"/>
                <a:ea typeface="Helvetica Neue"/>
                <a:cs typeface="Helvetica Neue"/>
              </a:rPr>
              <a:t>Exact staff-approved version</a:t>
            </a:r>
          </a:p>
        </p:txBody>
      </p:sp>
      <p:sp>
        <p:nvSpPr>
          <p:cNvPr id="13" name="">
            <a:extLst xmlns:a="http://schemas.openxmlformats.org/drawingml/2006/main">
              <a:ext uri="{FF2B5EF4-FFF2-40B4-BE49-F238E27FC236}">
                <a16:creationId xmlns:a16="http://schemas.microsoft.com/office/drawing/2014/main" id="{0C9B2767-DBDD-4062-9DC7-9808E3D44B7F}"/>
              </a:ext>
            </a:extLst>
          </p:cNvPr>
          <p:cNvSpPr>
            <a:spLocks xmlns:a="http://schemas.openxmlformats.org/drawingml/2006/main" noGrp="1"/>
          </p:cNvSpPr>
          <p:nvPr/>
        </p:nvSpPr>
        <p:spPr>
          <a:xfrm xmlns:a="http://schemas.openxmlformats.org/drawingml/2006/main">
            <a:off x="4114800" y="3248025"/>
            <a:ext cx="1600200" cy="0"/>
          </a:xfrm>
          <a:prstGeom xmlns:a="http://schemas.openxmlformats.org/drawingml/2006/main" prst="line">
            <a:avLst/>
          </a:prstGeom>
          <a:noFill xmlns:a="http://schemas.openxmlformats.org/drawingml/2006/main"/>
          <a:ln xmlns:a="http://schemas.openxmlformats.org/drawingml/2006/main" w="19050">
            <a:solidFill>
              <a:srgbClr val="D7D2C8"/>
            </a:solidFill>
            <a:prstDash val="solid"/>
          </a:ln>
        </p:spPr>
      </p:sp>
      <p:sp>
        <p:nvSpPr>
          <p:cNvPr id="14" name="">
            <a:extLst xmlns:a="http://schemas.openxmlformats.org/drawingml/2006/main">
              <a:ext uri="{FF2B5EF4-FFF2-40B4-BE49-F238E27FC236}">
                <a16:creationId xmlns:a16="http://schemas.microsoft.com/office/drawing/2014/main" id="{BAAEBB5A-7E3B-44EE-8DC2-D417EB50F163}"/>
              </a:ext>
            </a:extLst>
          </p:cNvPr>
          <p:cNvSpPr>
            <a:spLocks xmlns:a="http://schemas.openxmlformats.org/drawingml/2006/main" noGrp="1"/>
          </p:cNvSpPr>
          <p:nvPr/>
        </p:nvSpPr>
        <p:spPr>
          <a:xfrm xmlns:a="http://schemas.openxmlformats.org/drawingml/2006/main">
            <a:off x="781050" y="4019550"/>
            <a:ext cx="33337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9525">
            <a:solidFill>
              <a:srgbClr val="D7D2C8"/>
            </a:solidFill>
            <a:prstDash val="solid"/>
          </a:ln>
        </p:spPr>
      </p:sp>
      <p:sp>
        <p:nvSpPr>
          <p:cNvPr id="15" name="">
            <a:extLst xmlns:a="http://schemas.openxmlformats.org/drawingml/2006/main">
              <a:ext uri="{FF2B5EF4-FFF2-40B4-BE49-F238E27FC236}">
                <a16:creationId xmlns:a16="http://schemas.microsoft.com/office/drawing/2014/main" id="{E4759A90-1DE5-4852-AC5B-61D621D5B72C}"/>
              </a:ext>
            </a:extLst>
          </p:cNvPr>
          <p:cNvSpPr>
            <a:spLocks xmlns:a="http://schemas.openxmlformats.org/drawingml/2006/main" noGrp="1"/>
          </p:cNvSpPr>
          <p:nvPr/>
        </p:nvSpPr>
        <p:spPr>
          <a:xfrm xmlns:a="http://schemas.openxmlformats.org/drawingml/2006/main">
            <a:off x="781050" y="4019550"/>
            <a:ext cx="85725" cy="819150"/>
          </a:xfrm>
          <a:prstGeom xmlns:a="http://schemas.openxmlformats.org/drawingml/2006/main" prst="rect">
            <a:avLst/>
          </a:prstGeom>
          <a:solidFill xmlns:a="http://schemas.openxmlformats.org/drawingml/2006/main">
            <a:srgbClr val="A9503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1EDCE3C-7A43-455C-8423-BB7216A4BDFC}"/>
              </a:ext>
            </a:extLst>
          </p:cNvPr>
          <p:cNvSpPr>
            <a:spLocks xmlns:a="http://schemas.openxmlformats.org/drawingml/2006/main" noGrp="1"/>
          </p:cNvSpPr>
          <p:nvPr/>
        </p:nvSpPr>
        <p:spPr>
          <a:xfrm xmlns:a="http://schemas.openxmlformats.org/drawingml/2006/main">
            <a:off x="1066800" y="41529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Peer reviews</a:t>
            </a:r>
          </a:p>
        </p:txBody>
      </p:sp>
      <p:sp>
        <p:nvSpPr>
          <p:cNvPr id="17" name="">
            <a:extLst xmlns:a="http://schemas.openxmlformats.org/drawingml/2006/main">
              <a:ext uri="{FF2B5EF4-FFF2-40B4-BE49-F238E27FC236}">
                <a16:creationId xmlns:a16="http://schemas.microsoft.com/office/drawing/2014/main" id="{267A0F3F-847F-4912-9F84-8365E9C0CD30}"/>
              </a:ext>
            </a:extLst>
          </p:cNvPr>
          <p:cNvSpPr>
            <a:spLocks xmlns:a="http://schemas.openxmlformats.org/drawingml/2006/main" noGrp="1"/>
          </p:cNvSpPr>
          <p:nvPr/>
        </p:nvSpPr>
        <p:spPr>
          <a:xfrm xmlns:a="http://schemas.openxmlformats.org/drawingml/2006/main">
            <a:off x="1066800" y="447675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E6A70"/>
                </a:solidFill>
                <a:latin typeface="Helvetica Neue"/>
                <a:ea typeface="Helvetica Neue"/>
                <a:cs typeface="Helvetica Neue"/>
              </a:defRPr>
            </a:pPr>
            <a:r>
              <a:rPr sz="1125" b="0">
                <a:solidFill>
                  <a:srgbClr val="5E6A70"/>
                </a:solidFill>
                <a:latin typeface="Helvetica Neue"/>
                <a:ea typeface="Helvetica Neue"/>
                <a:cs typeface="Helvetica Neue"/>
              </a:rPr>
              <a:t>Selected exact review files</a:t>
            </a:r>
          </a:p>
        </p:txBody>
      </p:sp>
      <p:sp>
        <p:nvSpPr>
          <p:cNvPr id="18" name="">
            <a:extLst xmlns:a="http://schemas.openxmlformats.org/drawingml/2006/main">
              <a:ext uri="{FF2B5EF4-FFF2-40B4-BE49-F238E27FC236}">
                <a16:creationId xmlns:a16="http://schemas.microsoft.com/office/drawing/2014/main" id="{F09840D0-4595-461A-BA1D-B2009FED8557}"/>
              </a:ext>
            </a:extLst>
          </p:cNvPr>
          <p:cNvSpPr>
            <a:spLocks xmlns:a="http://schemas.openxmlformats.org/drawingml/2006/main" noGrp="1"/>
          </p:cNvSpPr>
          <p:nvPr/>
        </p:nvSpPr>
        <p:spPr>
          <a:xfrm xmlns:a="http://schemas.openxmlformats.org/drawingml/2006/main">
            <a:off x="4114800" y="4429125"/>
            <a:ext cx="1600200" cy="0"/>
          </a:xfrm>
          <a:prstGeom xmlns:a="http://schemas.openxmlformats.org/drawingml/2006/main" prst="line">
            <a:avLst/>
          </a:prstGeom>
          <a:noFill xmlns:a="http://schemas.openxmlformats.org/drawingml/2006/main"/>
          <a:ln xmlns:a="http://schemas.openxmlformats.org/drawingml/2006/main" w="19050">
            <a:solidFill>
              <a:srgbClr val="D7D2C8"/>
            </a:solidFill>
            <a:prstDash val="solid"/>
          </a:ln>
        </p:spPr>
      </p:sp>
      <p:sp>
        <p:nvSpPr>
          <p:cNvPr id="19" name="">
            <a:extLst xmlns:a="http://schemas.openxmlformats.org/drawingml/2006/main">
              <a:ext uri="{FF2B5EF4-FFF2-40B4-BE49-F238E27FC236}">
                <a16:creationId xmlns:a16="http://schemas.microsoft.com/office/drawing/2014/main" id="{C5D30370-0563-4B39-8869-5B7A59D7A632}"/>
              </a:ext>
            </a:extLst>
          </p:cNvPr>
          <p:cNvSpPr>
            <a:spLocks xmlns:a="http://schemas.openxmlformats.org/drawingml/2006/main" noGrp="1"/>
          </p:cNvSpPr>
          <p:nvPr/>
        </p:nvSpPr>
        <p:spPr>
          <a:xfrm xmlns:a="http://schemas.openxmlformats.org/drawingml/2006/main">
            <a:off x="5715000" y="1809750"/>
            <a:ext cx="5048250" cy="2857500"/>
          </a:xfrm>
          <a:prstGeom xmlns:a="http://schemas.openxmlformats.org/drawingml/2006/main" prst="roundRect">
            <a:avLst>
              <a:gd name="adj" fmla="val 6667"/>
            </a:avLst>
          </a:prstGeom>
          <a:solidFill xmlns:a="http://schemas.openxmlformats.org/drawingml/2006/main">
            <a:srgbClr val="F6F2EA"/>
          </a:solidFill>
          <a:ln xmlns:a="http://schemas.openxmlformats.org/drawingml/2006/main" w="19050">
            <a:solidFill>
              <a:srgbClr val="B58A3A"/>
            </a:solidFill>
            <a:prstDash val="solid"/>
          </a:ln>
        </p:spPr>
      </p:sp>
      <p:sp>
        <p:nvSpPr>
          <p:cNvPr id="20" name="">
            <a:extLst xmlns:a="http://schemas.openxmlformats.org/drawingml/2006/main">
              <a:ext uri="{FF2B5EF4-FFF2-40B4-BE49-F238E27FC236}">
                <a16:creationId xmlns:a16="http://schemas.microsoft.com/office/drawing/2014/main" id="{87EF808C-9B92-414A-BD30-D8E6D0BEB839}"/>
              </a:ext>
            </a:extLst>
          </p:cNvPr>
          <p:cNvSpPr>
            <a:spLocks xmlns:a="http://schemas.openxmlformats.org/drawingml/2006/main" noGrp="1"/>
          </p:cNvSpPr>
          <p:nvPr/>
        </p:nvSpPr>
        <p:spPr>
          <a:xfrm xmlns:a="http://schemas.openxmlformats.org/drawingml/2006/main">
            <a:off x="6115050" y="21717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7232B"/>
                </a:solidFill>
                <a:latin typeface="Helvetica Neue"/>
                <a:ea typeface="Helvetica Neue"/>
                <a:cs typeface="Helvetica Neue"/>
              </a:defRPr>
            </a:pPr>
            <a:r>
              <a:rPr sz="2250" b="1">
                <a:solidFill>
                  <a:srgbClr val="17232B"/>
                </a:solidFill>
                <a:latin typeface="Helvetica Neue"/>
                <a:ea typeface="Helvetica Neue"/>
                <a:cs typeface="Helvetica Neue"/>
              </a:rPr>
              <a:t>Published briefing page</a:t>
            </a:r>
          </a:p>
        </p:txBody>
      </p:sp>
      <p:sp>
        <p:nvSpPr>
          <p:cNvPr id="21" name="">
            <a:extLst xmlns:a="http://schemas.openxmlformats.org/drawingml/2006/main">
              <a:ext uri="{FF2B5EF4-FFF2-40B4-BE49-F238E27FC236}">
                <a16:creationId xmlns:a16="http://schemas.microsoft.com/office/drawing/2014/main" id="{BF209D67-8F80-4AC0-9008-FC4D1AB7D4C1}"/>
              </a:ext>
            </a:extLst>
          </p:cNvPr>
          <p:cNvSpPr>
            <a:spLocks xmlns:a="http://schemas.openxmlformats.org/drawingml/2006/main" noGrp="1"/>
          </p:cNvSpPr>
          <p:nvPr/>
        </p:nvSpPr>
        <p:spPr>
          <a:xfrm xmlns:a="http://schemas.openxmlformats.org/drawingml/2006/main">
            <a:off x="6076950" y="2857500"/>
            <a:ext cx="42291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350">
                <a:solidFill>
                  <a:srgbClr val="17232B"/>
                </a:solidFill>
                <a:latin typeface="Helvetica Neue"/>
                <a:ea typeface="Helvetica Neue"/>
                <a:cs typeface="Helvetica Neue"/>
              </a:defRPr>
            </a:pPr>
            <a:r>
              <a:rPr sz="1350">
                <a:solidFill>
                  <a:srgbClr val="17232B"/>
                </a:solidFill>
                <a:latin typeface="Helvetica Neue"/>
                <a:ea typeface="Helvetica Neue"/>
                <a:cs typeface="Helvetica Neue"/>
              </a:rPr>
              <a:t>Read-only link with no app-suite login</a:t>
            </a:r>
          </a:p>
          <a:p xmlns:a="http://schemas.openxmlformats.org/drawingml/2006/main">
            <a:pPr marL="228600" indent="-114300">
              <a:spcAft>
                <a:spcPts val="800"/>
              </a:spcAft>
              <a:buChar char="•"/>
              <a:defRPr sz="1350">
                <a:solidFill>
                  <a:srgbClr val="17232B"/>
                </a:solidFill>
                <a:latin typeface="Helvetica Neue"/>
                <a:ea typeface="Helvetica Neue"/>
                <a:cs typeface="Helvetica Neue"/>
              </a:defRPr>
            </a:pPr>
            <a:r>
              <a:rPr sz="1350">
                <a:solidFill>
                  <a:srgbClr val="17232B"/>
                </a:solidFill>
                <a:latin typeface="Helvetica Neue"/>
                <a:ea typeface="Helvetica Neue"/>
                <a:cs typeface="Helvetica Neue"/>
              </a:rPr>
              <a:t>Same external view for staff and guests</a:t>
            </a:r>
          </a:p>
          <a:p xmlns:a="http://schemas.openxmlformats.org/drawingml/2006/main">
            <a:pPr marL="228600" indent="-114300">
              <a:spcAft>
                <a:spcPts val="800"/>
              </a:spcAft>
              <a:buChar char="•"/>
              <a:defRPr sz="1350">
                <a:solidFill>
                  <a:srgbClr val="17232B"/>
                </a:solidFill>
                <a:latin typeface="Helvetica Neue"/>
                <a:ea typeface="Helvetica Neue"/>
                <a:cs typeface="Helvetica Neue"/>
              </a:defRPr>
            </a:pPr>
            <a:r>
              <a:rPr sz="1350">
                <a:solidFill>
                  <a:srgbClr val="17232B"/>
                </a:solidFill>
                <a:latin typeface="Helvetica Neue"/>
                <a:ea typeface="Helvetica Neue"/>
                <a:cs typeface="Helvetica Neue"/>
              </a:rPr>
              <a:t>Institution-led labels, not request numbers</a:t>
            </a:r>
          </a:p>
          <a:p xmlns:a="http://schemas.openxmlformats.org/drawingml/2006/main">
            <a:pPr marL="228600" indent="-114300">
              <a:spcAft>
                <a:spcPts val="800"/>
              </a:spcAft>
              <a:buChar char="•"/>
              <a:defRPr sz="1350">
                <a:solidFill>
                  <a:srgbClr val="17232B"/>
                </a:solidFill>
                <a:latin typeface="Helvetica Neue"/>
                <a:ea typeface="Helvetica Neue"/>
                <a:cs typeface="Helvetica Neue"/>
              </a:defRPr>
            </a:pPr>
            <a:r>
              <a:rPr sz="1350">
                <a:solidFill>
                  <a:srgbClr val="17232B"/>
                </a:solidFill>
                <a:latin typeface="Helvetica Neue"/>
                <a:ea typeface="Helvetica Neue"/>
                <a:cs typeface="Helvetica Neue"/>
              </a:rPr>
              <a:t>Exact approved versions remain stable</a:t>
            </a:r>
          </a:p>
        </p:txBody>
      </p:sp>
      <p:sp>
        <p:nvSpPr>
          <p:cNvPr id="22" name="">
            <a:extLst xmlns:a="http://schemas.openxmlformats.org/drawingml/2006/main">
              <a:ext uri="{FF2B5EF4-FFF2-40B4-BE49-F238E27FC236}">
                <a16:creationId xmlns:a16="http://schemas.microsoft.com/office/drawing/2014/main" id="{9DD9EE62-0D66-4667-94C0-FA4A753E99AD}"/>
              </a:ext>
            </a:extLst>
          </p:cNvPr>
          <p:cNvSpPr>
            <a:spLocks xmlns:a="http://schemas.openxmlformats.org/drawingml/2006/main" noGrp="1"/>
          </p:cNvSpPr>
          <p:nvPr/>
        </p:nvSpPr>
        <p:spPr>
          <a:xfrm xmlns:a="http://schemas.openxmlformats.org/drawingml/2006/main">
            <a:off x="1238250" y="5429250"/>
            <a:ext cx="971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3D7068"/>
                </a:solidFill>
                <a:latin typeface="Helvetica Neue"/>
                <a:ea typeface="Helvetica Neue"/>
                <a:cs typeface="Helvetica Neue"/>
              </a:defRPr>
            </a:pPr>
            <a:r>
              <a:rPr sz="1725" b="1">
                <a:solidFill>
                  <a:srgbClr val="3D7068"/>
                </a:solidFill>
                <a:latin typeface="Helvetica Neue"/>
                <a:ea typeface="Helvetica Neue"/>
                <a:cs typeface="Helvetica Neue"/>
              </a:rPr>
              <a:t>The package points to canonical SharePoint files. It does not create another set of copies.</a:t>
            </a:r>
          </a:p>
        </p:txBody>
      </p:sp>
    </p:spTree>
    <p:extLst>
      <p:ext uri="{BB962C8B-B14F-4D97-AF65-F5344CB8AC3E}">
        <p14:creationId xmlns:p14="http://schemas.microsoft.com/office/powerpoint/2010/main" val="1133232942"/>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752835F-A49E-4646-A0EB-ABBC465779EF}"/>
              </a:ext>
            </a:extLst>
          </p:cNvPr>
          <p:cNvSpPr>
            <a:spLocks xmlns:a="http://schemas.openxmlformats.org/drawingml/2006/main" noGrp="1"/>
          </p:cNvSpPr>
          <p:nvPr/>
        </p:nvSpPr>
        <p:spPr>
          <a:xfrm xmlns:a="http://schemas.openxmlformats.org/drawingml/2006/main">
            <a:off x="685800" y="428625"/>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7232B"/>
                </a:solidFill>
                <a:latin typeface="Helvetica Neue"/>
                <a:ea typeface="Helvetica Neue"/>
                <a:cs typeface="Helvetica Neue"/>
              </a:defRPr>
            </a:pPr>
            <a:r>
              <a:rPr sz="2550" b="1">
                <a:solidFill>
                  <a:srgbClr val="17232B"/>
                </a:solidFill>
                <a:latin typeface="Helvetica Neue"/>
                <a:ea typeface="Helvetica Neue"/>
                <a:cs typeface="Helvetica Neue"/>
              </a:rPr>
              <a:t>Proposed SharePoint structure and package pointers</a:t>
            </a:r>
          </a:p>
        </p:txBody>
      </p:sp>
      <p:sp>
        <p:nvSpPr>
          <p:cNvPr id="2" name="">
            <a:extLst xmlns:a="http://schemas.openxmlformats.org/drawingml/2006/main">
              <a:ext uri="{FF2B5EF4-FFF2-40B4-BE49-F238E27FC236}">
                <a16:creationId xmlns:a16="http://schemas.microsoft.com/office/drawing/2014/main" id="{9CDB7701-487D-4C12-96A8-A679E5621B46}"/>
              </a:ext>
            </a:extLst>
          </p:cNvPr>
          <p:cNvSpPr>
            <a:spLocks xmlns:a="http://schemas.openxmlformats.org/drawingml/2006/main" noGrp="1"/>
          </p:cNvSpPr>
          <p:nvPr/>
        </p:nvSpPr>
        <p:spPr>
          <a:xfrm xmlns:a="http://schemas.openxmlformats.org/drawingml/2006/main">
            <a:off x="685800" y="1066800"/>
            <a:ext cx="10820400" cy="0"/>
          </a:xfrm>
          <a:prstGeom xmlns:a="http://schemas.openxmlformats.org/drawingml/2006/main" prst="line">
            <a:avLst/>
          </a:prstGeom>
          <a:noFill xmlns:a="http://schemas.openxmlformats.org/drawingml/2006/main"/>
          <a:ln xmlns:a="http://schemas.openxmlformats.org/drawingml/2006/main" w="28575">
            <a:solidFill>
              <a:srgbClr val="B58A3A"/>
            </a:solidFill>
            <a:prstDash val="solid"/>
          </a:ln>
        </p:spPr>
      </p:sp>
      <p:sp>
        <p:nvSpPr>
          <p:cNvPr id="3" name="">
            <a:extLst xmlns:a="http://schemas.openxmlformats.org/drawingml/2006/main">
              <a:ext uri="{FF2B5EF4-FFF2-40B4-BE49-F238E27FC236}">
                <a16:creationId xmlns:a16="http://schemas.microsoft.com/office/drawing/2014/main" id="{2FC3D91A-89D1-441F-918E-1977C7062998}"/>
              </a:ext>
            </a:extLst>
          </p:cNvPr>
          <p:cNvSpPr>
            <a:spLocks xmlns:a="http://schemas.openxmlformats.org/drawingml/2006/main" noGrp="1"/>
          </p:cNvSpPr>
          <p:nvPr/>
        </p:nvSpPr>
        <p:spPr>
          <a:xfrm xmlns:a="http://schemas.openxmlformats.org/drawingml/2006/main">
            <a:off x="11239500" y="633412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E6A70"/>
                </a:solidFill>
                <a:latin typeface="Helvetica Neue"/>
                <a:ea typeface="Helvetica Neue"/>
                <a:cs typeface="Helvetica Neue"/>
              </a:defRPr>
            </a:pPr>
            <a:r>
              <a:rPr sz="975" b="0">
                <a:solidFill>
                  <a:srgbClr val="5E6A70"/>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2109A22A-5BF6-44A6-B7D3-D5C9EE410E94}"/>
              </a:ext>
            </a:extLst>
          </p:cNvPr>
          <p:cNvSpPr>
            <a:spLocks xmlns:a="http://schemas.openxmlformats.org/drawingml/2006/main" noGrp="1"/>
          </p:cNvSpPr>
          <p:nvPr/>
        </p:nvSpPr>
        <p:spPr>
          <a:xfrm xmlns:a="http://schemas.openxmlformats.org/drawingml/2006/main">
            <a:off x="723900" y="144780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3D7068"/>
                </a:solidFill>
                <a:latin typeface="Helvetica Neue"/>
                <a:ea typeface="Helvetica Neue"/>
                <a:cs typeface="Helvetica Neue"/>
              </a:defRPr>
            </a:pPr>
            <a:r>
              <a:rPr sz="1650" b="1">
                <a:solidFill>
                  <a:srgbClr val="3D7068"/>
                </a:solidFill>
                <a:latin typeface="Helvetica Neue"/>
                <a:ea typeface="Helvetica Neue"/>
                <a:cs typeface="Helvetica Neue"/>
              </a:rPr>
              <a:t>Canonical files in the Request folder</a:t>
            </a:r>
          </a:p>
        </p:txBody>
      </p:sp>
      <p:sp>
        <p:nvSpPr>
          <p:cNvPr id="5" name="">
            <a:extLst xmlns:a="http://schemas.openxmlformats.org/drawingml/2006/main">
              <a:ext uri="{FF2B5EF4-FFF2-40B4-BE49-F238E27FC236}">
                <a16:creationId xmlns:a16="http://schemas.microsoft.com/office/drawing/2014/main" id="{218AA2BA-0232-4BB4-9166-52A4E849C96B}"/>
              </a:ext>
            </a:extLst>
          </p:cNvPr>
          <p:cNvSpPr>
            <a:spLocks xmlns:a="http://schemas.openxmlformats.org/drawingml/2006/main" noGrp="1"/>
          </p:cNvSpPr>
          <p:nvPr/>
        </p:nvSpPr>
        <p:spPr>
          <a:xfrm xmlns:a="http://schemas.openxmlformats.org/drawingml/2006/main">
            <a:off x="685800" y="1885950"/>
            <a:ext cx="5219700" cy="3581400"/>
          </a:xfrm>
          <a:prstGeom xmlns:a="http://schemas.openxmlformats.org/drawingml/2006/main" prst="roundRect">
            <a:avLst>
              <a:gd name="adj" fmla="val 4255"/>
            </a:avLst>
          </a:prstGeom>
          <a:solidFill xmlns:a="http://schemas.openxmlformats.org/drawingml/2006/main">
            <a:srgbClr val="F6F2EA"/>
          </a:solidFill>
          <a:ln xmlns:a="http://schemas.openxmlformats.org/drawingml/2006/main" w="9525">
            <a:solidFill>
              <a:srgbClr val="D7D2C8"/>
            </a:solidFill>
            <a:prstDash val="solid"/>
          </a:ln>
        </p:spPr>
      </p:sp>
      <p:sp>
        <p:nvSpPr>
          <p:cNvPr id="6" name="">
            <a:extLst xmlns:a="http://schemas.openxmlformats.org/drawingml/2006/main">
              <a:ext uri="{FF2B5EF4-FFF2-40B4-BE49-F238E27FC236}">
                <a16:creationId xmlns:a16="http://schemas.microsoft.com/office/drawing/2014/main" id="{CC3EBB59-9DA0-4C32-87FF-FAE2C04A8724}"/>
              </a:ext>
            </a:extLst>
          </p:cNvPr>
          <p:cNvSpPr>
            <a:spLocks xmlns:a="http://schemas.openxmlformats.org/drawingml/2006/main" noGrp="1"/>
          </p:cNvSpPr>
          <p:nvPr/>
        </p:nvSpPr>
        <p:spPr>
          <a:xfrm xmlns:a="http://schemas.openxmlformats.org/drawingml/2006/main">
            <a:off x="1009650" y="21145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2B"/>
                </a:solidFill>
                <a:latin typeface="Helvetica Neue"/>
                <a:ea typeface="Helvetica Neue"/>
                <a:cs typeface="Helvetica Neue"/>
              </a:defRPr>
            </a:pPr>
            <a:r>
              <a:rPr sz="1575" b="1">
                <a:solidFill>
                  <a:srgbClr val="17232B"/>
                </a:solidFill>
                <a:latin typeface="Helvetica Neue"/>
                <a:ea typeface="Helvetica Neue"/>
                <a:cs typeface="Helvetica Neue"/>
              </a:rPr>
              <a:t>Request ####</a:t>
            </a:r>
          </a:p>
        </p:txBody>
      </p:sp>
      <p:sp>
        <p:nvSpPr>
          <p:cNvPr id="7" name="">
            <a:extLst xmlns:a="http://schemas.openxmlformats.org/drawingml/2006/main">
              <a:ext uri="{FF2B5EF4-FFF2-40B4-BE49-F238E27FC236}">
                <a16:creationId xmlns:a16="http://schemas.microsoft.com/office/drawing/2014/main" id="{5E5E8031-C2B3-446A-8A88-9DBCD772E405}"/>
              </a:ext>
            </a:extLst>
          </p:cNvPr>
          <p:cNvSpPr>
            <a:spLocks xmlns:a="http://schemas.openxmlformats.org/drawingml/2006/main" noGrp="1"/>
          </p:cNvSpPr>
          <p:nvPr/>
        </p:nvSpPr>
        <p:spPr>
          <a:xfrm xmlns:a="http://schemas.openxmlformats.org/drawingml/2006/main">
            <a:off x="1162050" y="2457450"/>
            <a:ext cx="0" cy="2571750"/>
          </a:xfrm>
          <a:prstGeom xmlns:a="http://schemas.openxmlformats.org/drawingml/2006/main" prst="line">
            <a:avLst/>
          </a:prstGeom>
          <a:noFill xmlns:a="http://schemas.openxmlformats.org/drawingml/2006/main"/>
          <a:ln xmlns:a="http://schemas.openxmlformats.org/drawingml/2006/main" w="19050">
            <a:solidFill>
              <a:srgbClr val="D7D2C8"/>
            </a:solidFill>
            <a:prstDash val="solid"/>
          </a:ln>
        </p:spPr>
      </p:sp>
      <p:sp>
        <p:nvSpPr>
          <p:cNvPr id="8" name="">
            <a:extLst xmlns:a="http://schemas.openxmlformats.org/drawingml/2006/main">
              <a:ext uri="{FF2B5EF4-FFF2-40B4-BE49-F238E27FC236}">
                <a16:creationId xmlns:a16="http://schemas.microsoft.com/office/drawing/2014/main" id="{8F801B17-B387-4EAB-829D-5EE30168E18D}"/>
              </a:ext>
            </a:extLst>
          </p:cNvPr>
          <p:cNvSpPr>
            <a:spLocks xmlns:a="http://schemas.openxmlformats.org/drawingml/2006/main" noGrp="1"/>
          </p:cNvSpPr>
          <p:nvPr/>
        </p:nvSpPr>
        <p:spPr>
          <a:xfrm xmlns:a="http://schemas.openxmlformats.org/drawingml/2006/main">
            <a:off x="1447800" y="2533650"/>
            <a:ext cx="361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426B8A"/>
                </a:solidFill>
                <a:latin typeface="Helvetica Neue"/>
                <a:ea typeface="Helvetica Neue"/>
                <a:cs typeface="Helvetica Neue"/>
              </a:defRPr>
            </a:pPr>
            <a:r>
              <a:rPr sz="1350" b="1">
                <a:solidFill>
                  <a:srgbClr val="426B8A"/>
                </a:solidFill>
                <a:latin typeface="Helvetica Neue"/>
                <a:ea typeface="Helvetica Neue"/>
                <a:cs typeface="Helvetica Neue"/>
              </a:rPr>
              <a:t>Site Visit / Applicant Materials</a:t>
            </a:r>
          </a:p>
        </p:txBody>
      </p:sp>
      <p:sp>
        <p:nvSpPr>
          <p:cNvPr id="9" name="">
            <a:extLst xmlns:a="http://schemas.openxmlformats.org/drawingml/2006/main">
              <a:ext uri="{FF2B5EF4-FFF2-40B4-BE49-F238E27FC236}">
                <a16:creationId xmlns:a16="http://schemas.microsoft.com/office/drawing/2014/main" id="{9D95242B-426A-4A82-ACD0-4372BD235810}"/>
              </a:ext>
            </a:extLst>
          </p:cNvPr>
          <p:cNvSpPr>
            <a:spLocks xmlns:a="http://schemas.openxmlformats.org/drawingml/2006/main" noGrp="1"/>
          </p:cNvSpPr>
          <p:nvPr/>
        </p:nvSpPr>
        <p:spPr>
          <a:xfrm xmlns:a="http://schemas.openxmlformats.org/drawingml/2006/main">
            <a:off x="1752600" y="29146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17232B"/>
                </a:solidFill>
                <a:latin typeface="Helvetica Neue"/>
                <a:ea typeface="Helvetica Neue"/>
                <a:cs typeface="Helvetica Neue"/>
              </a:defRPr>
            </a:pPr>
            <a:r>
              <a:rPr sz="1275" b="1">
                <a:solidFill>
                  <a:srgbClr val="17232B"/>
                </a:solidFill>
                <a:latin typeface="Helvetica Neue"/>
                <a:ea typeface="Helvetica Neue"/>
                <a:cs typeface="Helvetica Neue"/>
              </a:rPr>
              <a:t>Slides</a:t>
            </a:r>
          </a:p>
        </p:txBody>
      </p:sp>
      <p:sp>
        <p:nvSpPr>
          <p:cNvPr id="10" name="">
            <a:extLst xmlns:a="http://schemas.openxmlformats.org/drawingml/2006/main">
              <a:ext uri="{FF2B5EF4-FFF2-40B4-BE49-F238E27FC236}">
                <a16:creationId xmlns:a16="http://schemas.microsoft.com/office/drawing/2014/main" id="{BB098B67-F37D-43E8-8CE4-3A6CF5FD4D54}"/>
              </a:ext>
            </a:extLst>
          </p:cNvPr>
          <p:cNvSpPr>
            <a:spLocks xmlns:a="http://schemas.openxmlformats.org/drawingml/2006/main" noGrp="1"/>
          </p:cNvSpPr>
          <p:nvPr/>
        </p:nvSpPr>
        <p:spPr>
          <a:xfrm xmlns:a="http://schemas.openxmlformats.org/drawingml/2006/main">
            <a:off x="2857500" y="2886075"/>
            <a:ext cx="2590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E6A70"/>
                </a:solidFill>
                <a:latin typeface="Helvetica Neue"/>
                <a:ea typeface="Helvetica Neue"/>
                <a:cs typeface="Helvetica Neue"/>
              </a:defRPr>
            </a:pPr>
            <a:r>
              <a:rPr sz="1125" b="0">
                <a:solidFill>
                  <a:srgbClr val="5E6A70"/>
                </a:solidFill>
                <a:latin typeface="Helvetica Neue"/>
                <a:ea typeface="Helvetica Neue"/>
                <a:cs typeface="Helvetica Neue"/>
              </a:rPr>
              <a:t>#### Site Visit Presentation.pdf</a:t>
            </a:r>
          </a:p>
          <a:p xmlns:a="http://schemas.openxmlformats.org/drawingml/2006/main">
            <a:pPr>
              <a:defRPr sz="1125" b="0">
                <a:solidFill>
                  <a:srgbClr val="5E6A70"/>
                </a:solidFill>
                <a:latin typeface="Helvetica Neue"/>
                <a:ea typeface="Helvetica Neue"/>
                <a:cs typeface="Helvetica Neue"/>
              </a:defRPr>
            </a:pPr>
            <a:r>
              <a:rPr sz="1125" b="0">
                <a:solidFill>
                  <a:srgbClr val="5E6A70"/>
                </a:solidFill>
                <a:latin typeface="Helvetica Neue"/>
                <a:ea typeface="Helvetica Neue"/>
                <a:cs typeface="Helvetica Neue"/>
              </a:rPr>
              <a:t>#### Site Visit Presentation.pptx or .key</a:t>
            </a:r>
          </a:p>
        </p:txBody>
      </p:sp>
      <p:sp>
        <p:nvSpPr>
          <p:cNvPr id="11" name="">
            <a:extLst xmlns:a="http://schemas.openxmlformats.org/drawingml/2006/main">
              <a:ext uri="{FF2B5EF4-FFF2-40B4-BE49-F238E27FC236}">
                <a16:creationId xmlns:a16="http://schemas.microsoft.com/office/drawing/2014/main" id="{3C56241A-E7F9-4B24-B43A-92F00ECC4D37}"/>
              </a:ext>
            </a:extLst>
          </p:cNvPr>
          <p:cNvSpPr>
            <a:spLocks xmlns:a="http://schemas.openxmlformats.org/drawingml/2006/main" noGrp="1"/>
          </p:cNvSpPr>
          <p:nvPr/>
        </p:nvSpPr>
        <p:spPr>
          <a:xfrm xmlns:a="http://schemas.openxmlformats.org/drawingml/2006/main">
            <a:off x="1752600" y="35909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17232B"/>
                </a:solidFill>
                <a:latin typeface="Helvetica Neue"/>
                <a:ea typeface="Helvetica Neue"/>
                <a:cs typeface="Helvetica Neue"/>
              </a:defRPr>
            </a:pPr>
            <a:r>
              <a:rPr sz="1275" b="1">
                <a:solidFill>
                  <a:srgbClr val="17232B"/>
                </a:solidFill>
                <a:latin typeface="Helvetica Neue"/>
                <a:ea typeface="Helvetica Neue"/>
                <a:cs typeface="Helvetica Neue"/>
              </a:rPr>
              <a:t>Participant Bios</a:t>
            </a:r>
          </a:p>
        </p:txBody>
      </p:sp>
      <p:sp>
        <p:nvSpPr>
          <p:cNvPr id="12" name="">
            <a:extLst xmlns:a="http://schemas.openxmlformats.org/drawingml/2006/main">
              <a:ext uri="{FF2B5EF4-FFF2-40B4-BE49-F238E27FC236}">
                <a16:creationId xmlns:a16="http://schemas.microsoft.com/office/drawing/2014/main" id="{895412A3-32B7-447C-9157-F74764B4E82B}"/>
              </a:ext>
            </a:extLst>
          </p:cNvPr>
          <p:cNvSpPr>
            <a:spLocks xmlns:a="http://schemas.openxmlformats.org/drawingml/2006/main" noGrp="1"/>
          </p:cNvSpPr>
          <p:nvPr/>
        </p:nvSpPr>
        <p:spPr>
          <a:xfrm xmlns:a="http://schemas.openxmlformats.org/drawingml/2006/main">
            <a:off x="3238500" y="3571875"/>
            <a:ext cx="223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E6A70"/>
                </a:solidFill>
                <a:latin typeface="Helvetica Neue"/>
                <a:ea typeface="Helvetica Neue"/>
                <a:cs typeface="Helvetica Neue"/>
              </a:defRPr>
            </a:pPr>
            <a:r>
              <a:rPr sz="1125" b="0">
                <a:solidFill>
                  <a:srgbClr val="5E6A70"/>
                </a:solidFill>
                <a:latin typeface="Helvetica Neue"/>
                <a:ea typeface="Helvetica Neue"/>
                <a:cs typeface="Helvetica Neue"/>
              </a:rPr>
              <a:t>#### Site Visit Participant Bios.docx or .pdf</a:t>
            </a:r>
          </a:p>
        </p:txBody>
      </p:sp>
      <p:sp>
        <p:nvSpPr>
          <p:cNvPr id="13" name="">
            <a:extLst xmlns:a="http://schemas.openxmlformats.org/drawingml/2006/main">
              <a:ext uri="{FF2B5EF4-FFF2-40B4-BE49-F238E27FC236}">
                <a16:creationId xmlns:a16="http://schemas.microsoft.com/office/drawing/2014/main" id="{62026F9A-5A7C-4D8C-AEFC-B90292DDEB65}"/>
              </a:ext>
            </a:extLst>
          </p:cNvPr>
          <p:cNvSpPr>
            <a:spLocks xmlns:a="http://schemas.openxmlformats.org/drawingml/2006/main" noGrp="1"/>
          </p:cNvSpPr>
          <p:nvPr/>
        </p:nvSpPr>
        <p:spPr>
          <a:xfrm xmlns:a="http://schemas.openxmlformats.org/drawingml/2006/main">
            <a:off x="1752600" y="41719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17232B"/>
                </a:solidFill>
                <a:latin typeface="Helvetica Neue"/>
                <a:ea typeface="Helvetica Neue"/>
                <a:cs typeface="Helvetica Neue"/>
              </a:defRPr>
            </a:pPr>
            <a:r>
              <a:rPr sz="1275" b="1">
                <a:solidFill>
                  <a:srgbClr val="17232B"/>
                </a:solidFill>
                <a:latin typeface="Helvetica Neue"/>
                <a:ea typeface="Helvetica Neue"/>
                <a:cs typeface="Helvetica Neue"/>
              </a:rPr>
              <a:t>Other</a:t>
            </a:r>
          </a:p>
        </p:txBody>
      </p:sp>
      <p:sp>
        <p:nvSpPr>
          <p:cNvPr id="14" name="">
            <a:extLst xmlns:a="http://schemas.openxmlformats.org/drawingml/2006/main">
              <a:ext uri="{FF2B5EF4-FFF2-40B4-BE49-F238E27FC236}">
                <a16:creationId xmlns:a16="http://schemas.microsoft.com/office/drawing/2014/main" id="{E8FD0B43-152B-41D7-AB03-F8AD8241A007}"/>
              </a:ext>
            </a:extLst>
          </p:cNvPr>
          <p:cNvSpPr>
            <a:spLocks xmlns:a="http://schemas.openxmlformats.org/drawingml/2006/main" noGrp="1"/>
          </p:cNvSpPr>
          <p:nvPr/>
        </p:nvSpPr>
        <p:spPr>
          <a:xfrm xmlns:a="http://schemas.openxmlformats.org/drawingml/2006/main">
            <a:off x="2857500" y="4152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E6A70"/>
                </a:solidFill>
                <a:latin typeface="Helvetica Neue"/>
                <a:ea typeface="Helvetica Neue"/>
                <a:cs typeface="Helvetica Neue"/>
              </a:defRPr>
            </a:pPr>
            <a:r>
              <a:rPr sz="1125" b="0">
                <a:solidFill>
                  <a:srgbClr val="5E6A70"/>
                </a:solidFill>
                <a:latin typeface="Helvetica Neue"/>
                <a:ea typeface="Helvetica Neue"/>
                <a:cs typeface="Helvetica Neue"/>
              </a:rPr>
              <a:t>Additional applicant files</a:t>
            </a:r>
          </a:p>
        </p:txBody>
      </p:sp>
      <p:sp>
        <p:nvSpPr>
          <p:cNvPr id="15" name="">
            <a:extLst xmlns:a="http://schemas.openxmlformats.org/drawingml/2006/main">
              <a:ext uri="{FF2B5EF4-FFF2-40B4-BE49-F238E27FC236}">
                <a16:creationId xmlns:a16="http://schemas.microsoft.com/office/drawing/2014/main" id="{4B324199-A6B1-402B-8256-63AE4A1BC9D0}"/>
              </a:ext>
            </a:extLst>
          </p:cNvPr>
          <p:cNvSpPr>
            <a:spLocks xmlns:a="http://schemas.openxmlformats.org/drawingml/2006/main" noGrp="1"/>
          </p:cNvSpPr>
          <p:nvPr/>
        </p:nvSpPr>
        <p:spPr>
          <a:xfrm xmlns:a="http://schemas.openxmlformats.org/drawingml/2006/main">
            <a:off x="1447800" y="46482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B58A3A"/>
                </a:solidFill>
                <a:latin typeface="Helvetica Neue"/>
                <a:ea typeface="Helvetica Neue"/>
                <a:cs typeface="Helvetica Neue"/>
              </a:defRPr>
            </a:pPr>
            <a:r>
              <a:rPr sz="1275" b="1">
                <a:solidFill>
                  <a:srgbClr val="B58A3A"/>
                </a:solidFill>
                <a:latin typeface="Helvetica Neue"/>
                <a:ea typeface="Helvetica Neue"/>
                <a:cs typeface="Helvetica Neue"/>
              </a:rPr>
              <a:t>Artifacts / Pre-Site Visit</a:t>
            </a:r>
          </a:p>
        </p:txBody>
      </p:sp>
      <p:sp>
        <p:nvSpPr>
          <p:cNvPr id="16" name="">
            <a:extLst xmlns:a="http://schemas.openxmlformats.org/drawingml/2006/main">
              <a:ext uri="{FF2B5EF4-FFF2-40B4-BE49-F238E27FC236}">
                <a16:creationId xmlns:a16="http://schemas.microsoft.com/office/drawing/2014/main" id="{B135CBC2-A960-4000-933E-8EC4430EC116}"/>
              </a:ext>
            </a:extLst>
          </p:cNvPr>
          <p:cNvSpPr>
            <a:spLocks xmlns:a="http://schemas.openxmlformats.org/drawingml/2006/main" noGrp="1"/>
          </p:cNvSpPr>
          <p:nvPr/>
        </p:nvSpPr>
        <p:spPr>
          <a:xfrm xmlns:a="http://schemas.openxmlformats.org/drawingml/2006/main">
            <a:off x="1447800" y="50196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A95035"/>
                </a:solidFill>
                <a:latin typeface="Helvetica Neue"/>
                <a:ea typeface="Helvetica Neue"/>
                <a:cs typeface="Helvetica Neue"/>
              </a:defRPr>
            </a:pPr>
            <a:r>
              <a:rPr sz="1275" b="1">
                <a:solidFill>
                  <a:srgbClr val="A95035"/>
                </a:solidFill>
                <a:latin typeface="Helvetica Neue"/>
                <a:ea typeface="Helvetica Neue"/>
                <a:cs typeface="Helvetica Neue"/>
              </a:rPr>
              <a:t>Reviews</a:t>
            </a:r>
          </a:p>
        </p:txBody>
      </p:sp>
      <p:sp>
        <p:nvSpPr>
          <p:cNvPr id="17" name="">
            <a:extLst xmlns:a="http://schemas.openxmlformats.org/drawingml/2006/main">
              <a:ext uri="{FF2B5EF4-FFF2-40B4-BE49-F238E27FC236}">
                <a16:creationId xmlns:a16="http://schemas.microsoft.com/office/drawing/2014/main" id="{3B33CB41-1353-42A2-B6A0-0189320DA8B9}"/>
              </a:ext>
            </a:extLst>
          </p:cNvPr>
          <p:cNvSpPr>
            <a:spLocks xmlns:a="http://schemas.openxmlformats.org/drawingml/2006/main" noGrp="1"/>
          </p:cNvSpPr>
          <p:nvPr/>
        </p:nvSpPr>
        <p:spPr>
          <a:xfrm xmlns:a="http://schemas.openxmlformats.org/drawingml/2006/main">
            <a:off x="6762750" y="1447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A95035"/>
                </a:solidFill>
                <a:latin typeface="Helvetica Neue"/>
                <a:ea typeface="Helvetica Neue"/>
                <a:cs typeface="Helvetica Neue"/>
              </a:defRPr>
            </a:pPr>
            <a:r>
              <a:rPr sz="1650" b="1">
                <a:solidFill>
                  <a:srgbClr val="A95035"/>
                </a:solidFill>
                <a:latin typeface="Helvetica Neue"/>
                <a:ea typeface="Helvetica Neue"/>
                <a:cs typeface="Helvetica Neue"/>
              </a:rPr>
              <a:t>Briefing manifest</a:t>
            </a:r>
          </a:p>
        </p:txBody>
      </p:sp>
      <p:sp>
        <p:nvSpPr>
          <p:cNvPr id="18" name="">
            <a:extLst xmlns:a="http://schemas.openxmlformats.org/drawingml/2006/main">
              <a:ext uri="{FF2B5EF4-FFF2-40B4-BE49-F238E27FC236}">
                <a16:creationId xmlns:a16="http://schemas.microsoft.com/office/drawing/2014/main" id="{C145267A-E2B2-4E5E-9665-7A28CE5C193B}"/>
              </a:ext>
            </a:extLst>
          </p:cNvPr>
          <p:cNvSpPr>
            <a:spLocks xmlns:a="http://schemas.openxmlformats.org/drawingml/2006/main" noGrp="1"/>
          </p:cNvSpPr>
          <p:nvPr/>
        </p:nvSpPr>
        <p:spPr>
          <a:xfrm xmlns:a="http://schemas.openxmlformats.org/drawingml/2006/main">
            <a:off x="6705600" y="1885950"/>
            <a:ext cx="4800600" cy="23622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9050">
            <a:solidFill>
              <a:srgbClr val="A95035"/>
            </a:solidFill>
            <a:prstDash val="solid"/>
          </a:ln>
        </p:spPr>
      </p:sp>
      <p:sp>
        <p:nvSpPr>
          <p:cNvPr id="19" name="">
            <a:extLst xmlns:a="http://schemas.openxmlformats.org/drawingml/2006/main">
              <a:ext uri="{FF2B5EF4-FFF2-40B4-BE49-F238E27FC236}">
                <a16:creationId xmlns:a16="http://schemas.microsoft.com/office/drawing/2014/main" id="{FE2908E3-2777-41AE-A8E6-0F4CA942F091}"/>
              </a:ext>
            </a:extLst>
          </p:cNvPr>
          <p:cNvSpPr>
            <a:spLocks xmlns:a="http://schemas.openxmlformats.org/drawingml/2006/main" noGrp="1"/>
          </p:cNvSpPr>
          <p:nvPr/>
        </p:nvSpPr>
        <p:spPr>
          <a:xfrm xmlns:a="http://schemas.openxmlformats.org/drawingml/2006/main">
            <a:off x="7029450" y="21526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1">
                <a:solidFill>
                  <a:srgbClr val="17232B"/>
                </a:solidFill>
                <a:latin typeface="Helvetica Neue"/>
                <a:ea typeface="Helvetica Neue"/>
                <a:cs typeface="Helvetica Neue"/>
              </a:defRPr>
            </a:pPr>
            <a:r>
              <a:rPr sz="1425" b="1">
                <a:solidFill>
                  <a:srgbClr val="17232B"/>
                </a:solidFill>
                <a:latin typeface="Helvetica Neue"/>
                <a:ea typeface="Helvetica Neue"/>
                <a:cs typeface="Helvetica Neue"/>
              </a:rPr>
              <a:t>The package records pointers to:</a:t>
            </a:r>
          </a:p>
        </p:txBody>
      </p:sp>
      <p:sp>
        <p:nvSpPr>
          <p:cNvPr id="20" name="">
            <a:extLst xmlns:a="http://schemas.openxmlformats.org/drawingml/2006/main">
              <a:ext uri="{FF2B5EF4-FFF2-40B4-BE49-F238E27FC236}">
                <a16:creationId xmlns:a16="http://schemas.microsoft.com/office/drawing/2014/main" id="{E652C519-4C22-480B-9138-CE00815ACA1E}"/>
              </a:ext>
            </a:extLst>
          </p:cNvPr>
          <p:cNvSpPr>
            <a:spLocks xmlns:a="http://schemas.openxmlformats.org/drawingml/2006/main" noGrp="1"/>
          </p:cNvSpPr>
          <p:nvPr/>
        </p:nvSpPr>
        <p:spPr>
          <a:xfrm xmlns:a="http://schemas.openxmlformats.org/drawingml/2006/main">
            <a:off x="7029450" y="2619375"/>
            <a:ext cx="400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350">
                <a:solidFill>
                  <a:srgbClr val="17232B"/>
                </a:solidFill>
                <a:latin typeface="Helvetica Neue"/>
                <a:ea typeface="Helvetica Neue"/>
                <a:cs typeface="Helvetica Neue"/>
              </a:defRPr>
            </a:pPr>
            <a:r>
              <a:rPr sz="1350">
                <a:solidFill>
                  <a:srgbClr val="17232B"/>
                </a:solidFill>
                <a:latin typeface="Helvetica Neue"/>
                <a:ea typeface="Helvetica Neue"/>
                <a:cs typeface="Helvetica Neue"/>
              </a:rPr>
              <a:t>The exact SharePoint item</a:t>
            </a:r>
          </a:p>
          <a:p xmlns:a="http://schemas.openxmlformats.org/drawingml/2006/main">
            <a:pPr marL="228600" indent="-114300">
              <a:spcAft>
                <a:spcPts val="800"/>
              </a:spcAft>
              <a:buChar char="•"/>
              <a:defRPr sz="1350">
                <a:solidFill>
                  <a:srgbClr val="17232B"/>
                </a:solidFill>
                <a:latin typeface="Helvetica Neue"/>
                <a:ea typeface="Helvetica Neue"/>
                <a:cs typeface="Helvetica Neue"/>
              </a:defRPr>
            </a:pPr>
            <a:r>
              <a:rPr sz="1350">
                <a:solidFill>
                  <a:srgbClr val="17232B"/>
                </a:solidFill>
                <a:latin typeface="Helvetica Neue"/>
                <a:ea typeface="Helvetica Neue"/>
                <a:cs typeface="Helvetica Neue"/>
              </a:rPr>
              <a:t>The selected version of that item</a:t>
            </a:r>
          </a:p>
          <a:p xmlns:a="http://schemas.openxmlformats.org/drawingml/2006/main">
            <a:pPr marL="228600" indent="-114300">
              <a:spcAft>
                <a:spcPts val="800"/>
              </a:spcAft>
              <a:buChar char="•"/>
              <a:defRPr sz="1350">
                <a:solidFill>
                  <a:srgbClr val="17232B"/>
                </a:solidFill>
                <a:latin typeface="Helvetica Neue"/>
                <a:ea typeface="Helvetica Neue"/>
                <a:cs typeface="Helvetica Neue"/>
              </a:defRPr>
            </a:pPr>
            <a:r>
              <a:rPr sz="1350">
                <a:solidFill>
                  <a:srgbClr val="17232B"/>
                </a:solidFill>
                <a:latin typeface="Helvetica Neue"/>
                <a:ea typeface="Helvetica Neue"/>
                <a:cs typeface="Helvetica Neue"/>
              </a:rPr>
              <a:t>The audience label and display order</a:t>
            </a:r>
          </a:p>
        </p:txBody>
      </p:sp>
      <p:sp>
        <p:nvSpPr>
          <p:cNvPr id="21" name="">
            <a:extLst xmlns:a="http://schemas.openxmlformats.org/drawingml/2006/main">
              <a:ext uri="{FF2B5EF4-FFF2-40B4-BE49-F238E27FC236}">
                <a16:creationId xmlns:a16="http://schemas.microsoft.com/office/drawing/2014/main" id="{A733D1D7-8A4A-46C2-B452-E2F8F0115E21}"/>
              </a:ext>
            </a:extLst>
          </p:cNvPr>
          <p:cNvSpPr>
            <a:spLocks xmlns:a="http://schemas.openxmlformats.org/drawingml/2006/main" noGrp="1"/>
          </p:cNvSpPr>
          <p:nvPr/>
        </p:nvSpPr>
        <p:spPr>
          <a:xfrm xmlns:a="http://schemas.openxmlformats.org/drawingml/2006/main">
            <a:off x="5953125" y="2895600"/>
            <a:ext cx="628650" cy="400050"/>
          </a:xfrm>
          <a:prstGeom xmlns:a="http://schemas.openxmlformats.org/drawingml/2006/main" prst="rightArrow">
            <a:avLst/>
          </a:prstGeom>
          <a:solidFill xmlns:a="http://schemas.openxmlformats.org/drawingml/2006/main">
            <a:srgbClr val="B58A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AF1B8C0-503A-41FA-8337-6B46036B3369}"/>
              </a:ext>
            </a:extLst>
          </p:cNvPr>
          <p:cNvSpPr>
            <a:spLocks xmlns:a="http://schemas.openxmlformats.org/drawingml/2006/main" noGrp="1"/>
          </p:cNvSpPr>
          <p:nvPr/>
        </p:nvSpPr>
        <p:spPr>
          <a:xfrm xmlns:a="http://schemas.openxmlformats.org/drawingml/2006/main">
            <a:off x="6705600" y="4552950"/>
            <a:ext cx="4800600" cy="914400"/>
          </a:xfrm>
          <a:prstGeom xmlns:a="http://schemas.openxmlformats.org/drawingml/2006/main" prst="roundRect">
            <a:avLst>
              <a:gd name="adj" fmla="val 14583"/>
            </a:avLst>
          </a:prstGeom>
          <a:solidFill xmlns:a="http://schemas.openxmlformats.org/drawingml/2006/main">
            <a:srgbClr val="DCE9E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8880AE6-D7B6-4AF1-814D-FFCED798C161}"/>
              </a:ext>
            </a:extLst>
          </p:cNvPr>
          <p:cNvSpPr>
            <a:spLocks xmlns:a="http://schemas.openxmlformats.org/drawingml/2006/main" noGrp="1"/>
          </p:cNvSpPr>
          <p:nvPr/>
        </p:nvSpPr>
        <p:spPr>
          <a:xfrm xmlns:a="http://schemas.openxmlformats.org/drawingml/2006/main">
            <a:off x="6991350" y="47148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3D7068"/>
                </a:solidFill>
                <a:latin typeface="Helvetica Neue"/>
                <a:ea typeface="Helvetica Neue"/>
                <a:cs typeface="Helvetica Neue"/>
              </a:defRPr>
            </a:pPr>
            <a:r>
              <a:rPr sz="1500" b="1">
                <a:solidFill>
                  <a:srgbClr val="3D7068"/>
                </a:solidFill>
                <a:latin typeface="Helvetica Neue"/>
                <a:ea typeface="Helvetica Neue"/>
                <a:cs typeface="Helvetica Neue"/>
              </a:rPr>
              <a:t>External briefing page</a:t>
            </a:r>
          </a:p>
        </p:txBody>
      </p:sp>
      <p:sp>
        <p:nvSpPr>
          <p:cNvPr id="24" name="">
            <a:extLst xmlns:a="http://schemas.openxmlformats.org/drawingml/2006/main">
              <a:ext uri="{FF2B5EF4-FFF2-40B4-BE49-F238E27FC236}">
                <a16:creationId xmlns:a16="http://schemas.microsoft.com/office/drawing/2014/main" id="{DDD40141-2EE7-4969-B3B9-B7837E6F45F6}"/>
              </a:ext>
            </a:extLst>
          </p:cNvPr>
          <p:cNvSpPr>
            <a:spLocks xmlns:a="http://schemas.openxmlformats.org/drawingml/2006/main" noGrp="1"/>
          </p:cNvSpPr>
          <p:nvPr/>
        </p:nvSpPr>
        <p:spPr>
          <a:xfrm xmlns:a="http://schemas.openxmlformats.org/drawingml/2006/main">
            <a:off x="6991350" y="50482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17232B"/>
                </a:solidFill>
                <a:latin typeface="Helvetica Neue"/>
                <a:ea typeface="Helvetica Neue"/>
                <a:cs typeface="Helvetica Neue"/>
              </a:defRPr>
            </a:pPr>
            <a:r>
              <a:rPr sz="1200" b="0">
                <a:solidFill>
                  <a:srgbClr val="17232B"/>
                </a:solidFill>
                <a:latin typeface="Helvetica Neue"/>
                <a:ea typeface="Helvetica Neue"/>
                <a:cs typeface="Helvetica Neue"/>
              </a:rPr>
              <a:t>Shows institution-led names and serves the pinned versions</a:t>
            </a:r>
          </a:p>
        </p:txBody>
      </p:sp>
      <p:sp>
        <p:nvSpPr>
          <p:cNvPr id="25" name="">
            <a:extLst xmlns:a="http://schemas.openxmlformats.org/drawingml/2006/main">
              <a:ext uri="{FF2B5EF4-FFF2-40B4-BE49-F238E27FC236}">
                <a16:creationId xmlns:a16="http://schemas.microsoft.com/office/drawing/2014/main" id="{A61CCE47-0C68-4E17-97DD-949EC7C640B3}"/>
              </a:ext>
            </a:extLst>
          </p:cNvPr>
          <p:cNvSpPr>
            <a:spLocks xmlns:a="http://schemas.openxmlformats.org/drawingml/2006/main" noGrp="1"/>
          </p:cNvSpPr>
          <p:nvPr/>
        </p:nvSpPr>
        <p:spPr>
          <a:xfrm xmlns:a="http://schemas.openxmlformats.org/drawingml/2006/main">
            <a:off x="685800" y="5829300"/>
            <a:ext cx="10820400" cy="495300"/>
          </a:xfrm>
          <a:prstGeom xmlns:a="http://schemas.openxmlformats.org/drawingml/2006/main" prst="roundRect">
            <a:avLst>
              <a:gd name="adj" fmla="val 19231"/>
            </a:avLst>
          </a:prstGeom>
          <a:solidFill xmlns:a="http://schemas.openxmlformats.org/drawingml/2006/main">
            <a:srgbClr val="E9DDC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CBEA304-EEA4-42FA-92C7-77D669EC3705}"/>
              </a:ext>
            </a:extLst>
          </p:cNvPr>
          <p:cNvSpPr>
            <a:spLocks xmlns:a="http://schemas.openxmlformats.org/drawingml/2006/main" noGrp="1"/>
          </p:cNvSpPr>
          <p:nvPr/>
        </p:nvSpPr>
        <p:spPr>
          <a:xfrm xmlns:a="http://schemas.openxmlformats.org/drawingml/2006/main">
            <a:off x="895350" y="5962650"/>
            <a:ext cx="10401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17232B"/>
                </a:solidFill>
                <a:latin typeface="Helvetica Neue"/>
                <a:ea typeface="Helvetica Neue"/>
                <a:cs typeface="Helvetica Neue"/>
              </a:defRPr>
            </a:pPr>
            <a:r>
              <a:rPr sz="1275" b="1">
                <a:solidFill>
                  <a:srgbClr val="17232B"/>
                </a:solidFill>
                <a:latin typeface="Helvetica Neue"/>
                <a:ea typeface="Helvetica Neue"/>
                <a:cs typeface="Helvetica Neue"/>
              </a:rPr>
              <a:t>Working structure: confirm nested folders are clear in AkoyaGo. If not, use flatter “Site Visit - Slides” folders.</a:t>
            </a:r>
          </a:p>
        </p:txBody>
      </p:sp>
    </p:spTree>
    <p:extLst>
      <p:ext uri="{BB962C8B-B14F-4D97-AF65-F5344CB8AC3E}">
        <p14:creationId xmlns:p14="http://schemas.microsoft.com/office/powerpoint/2010/main" val="798282326"/>
      </p:ext>
    </p:extLst>
  </p:cSld>
</p:sld>
</file>

<file path=ppt/slides/slide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5EDF87A-94AF-45AF-A95B-406CCEBF8FEA}"/>
              </a:ext>
            </a:extLst>
          </p:cNvPr>
          <p:cNvSpPr>
            <a:spLocks xmlns:a="http://schemas.openxmlformats.org/drawingml/2006/main" noGrp="1"/>
          </p:cNvSpPr>
          <p:nvPr/>
        </p:nvSpPr>
        <p:spPr>
          <a:xfrm xmlns:a="http://schemas.openxmlformats.org/drawingml/2006/main">
            <a:off x="685800" y="428625"/>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7232B"/>
                </a:solidFill>
                <a:latin typeface="Helvetica Neue"/>
                <a:ea typeface="Helvetica Neue"/>
                <a:cs typeface="Helvetica Neue"/>
              </a:defRPr>
            </a:pPr>
            <a:r>
              <a:rPr sz="2550" b="1">
                <a:solidFill>
                  <a:srgbClr val="17232B"/>
                </a:solidFill>
                <a:latin typeface="Helvetica Neue"/>
                <a:ea typeface="Helvetica Neue"/>
                <a:cs typeface="Helvetica Neue"/>
              </a:rPr>
              <a:t>Working assumptions to challenge</a:t>
            </a:r>
          </a:p>
        </p:txBody>
      </p:sp>
      <p:sp>
        <p:nvSpPr>
          <p:cNvPr id="2" name="">
            <a:extLst xmlns:a="http://schemas.openxmlformats.org/drawingml/2006/main">
              <a:ext uri="{FF2B5EF4-FFF2-40B4-BE49-F238E27FC236}">
                <a16:creationId xmlns:a16="http://schemas.microsoft.com/office/drawing/2014/main" id="{BEDFDB28-4942-4D9E-AD4D-706A1DA27DBC}"/>
              </a:ext>
            </a:extLst>
          </p:cNvPr>
          <p:cNvSpPr>
            <a:spLocks xmlns:a="http://schemas.openxmlformats.org/drawingml/2006/main" noGrp="1"/>
          </p:cNvSpPr>
          <p:nvPr/>
        </p:nvSpPr>
        <p:spPr>
          <a:xfrm xmlns:a="http://schemas.openxmlformats.org/drawingml/2006/main">
            <a:off x="685800" y="1066800"/>
            <a:ext cx="10820400" cy="0"/>
          </a:xfrm>
          <a:prstGeom xmlns:a="http://schemas.openxmlformats.org/drawingml/2006/main" prst="line">
            <a:avLst/>
          </a:prstGeom>
          <a:noFill xmlns:a="http://schemas.openxmlformats.org/drawingml/2006/main"/>
          <a:ln xmlns:a="http://schemas.openxmlformats.org/drawingml/2006/main" w="28575">
            <a:solidFill>
              <a:srgbClr val="B58A3A"/>
            </a:solidFill>
            <a:prstDash val="solid"/>
          </a:ln>
        </p:spPr>
      </p:sp>
      <p:sp>
        <p:nvSpPr>
          <p:cNvPr id="3" name="">
            <a:extLst xmlns:a="http://schemas.openxmlformats.org/drawingml/2006/main">
              <a:ext uri="{FF2B5EF4-FFF2-40B4-BE49-F238E27FC236}">
                <a16:creationId xmlns:a16="http://schemas.microsoft.com/office/drawing/2014/main" id="{E1384448-D16D-4175-8953-0D43C5FCCAD1}"/>
              </a:ext>
            </a:extLst>
          </p:cNvPr>
          <p:cNvSpPr>
            <a:spLocks xmlns:a="http://schemas.openxmlformats.org/drawingml/2006/main" noGrp="1"/>
          </p:cNvSpPr>
          <p:nvPr/>
        </p:nvSpPr>
        <p:spPr>
          <a:xfrm xmlns:a="http://schemas.openxmlformats.org/drawingml/2006/main">
            <a:off x="11239500" y="633412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E6A70"/>
                </a:solidFill>
                <a:latin typeface="Helvetica Neue"/>
                <a:ea typeface="Helvetica Neue"/>
                <a:cs typeface="Helvetica Neue"/>
              </a:defRPr>
            </a:pPr>
            <a:r>
              <a:rPr sz="975" b="0">
                <a:solidFill>
                  <a:srgbClr val="5E6A70"/>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5CBF9C55-FD34-48D2-86B6-EDC6A7B71A88}"/>
              </a:ext>
            </a:extLst>
          </p:cNvPr>
          <p:cNvSpPr>
            <a:spLocks xmlns:a="http://schemas.openxmlformats.org/drawingml/2006/main" noGrp="1"/>
          </p:cNvSpPr>
          <p:nvPr/>
        </p:nvSpPr>
        <p:spPr>
          <a:xfrm xmlns:a="http://schemas.openxmlformats.org/drawingml/2006/main">
            <a:off x="685800" y="1485900"/>
            <a:ext cx="10820400" cy="666750"/>
          </a:xfrm>
          <a:prstGeom xmlns:a="http://schemas.openxmlformats.org/drawingml/2006/main" prst="rect">
            <a:avLst/>
          </a:prstGeom>
          <a:solidFill xmlns:a="http://schemas.openxmlformats.org/drawingml/2006/main">
            <a:srgbClr val="FCFB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6DF9A3-DB4A-4536-A70F-B28AA7010E6B}"/>
              </a:ext>
            </a:extLst>
          </p:cNvPr>
          <p:cNvSpPr>
            <a:spLocks xmlns:a="http://schemas.openxmlformats.org/drawingml/2006/main" noGrp="1"/>
          </p:cNvSpPr>
          <p:nvPr/>
        </p:nvSpPr>
        <p:spPr>
          <a:xfrm xmlns:a="http://schemas.openxmlformats.org/drawingml/2006/main">
            <a:off x="876300" y="166687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D7068"/>
                </a:solidFill>
                <a:latin typeface="Helvetica Neue"/>
                <a:ea typeface="Helvetica Neue"/>
                <a:cs typeface="Helvetica Neue"/>
              </a:defRPr>
            </a:pPr>
            <a:r>
              <a:rPr sz="1275" b="1">
                <a:solidFill>
                  <a:srgbClr val="3D7068"/>
                </a:solidFill>
                <a:latin typeface="Helvetica Neue"/>
                <a:ea typeface="Helvetica Neue"/>
                <a:cs typeface="Helvetica Neue"/>
              </a:rPr>
              <a:t>Workflow anchor</a:t>
            </a:r>
          </a:p>
        </p:txBody>
      </p:sp>
      <p:sp>
        <p:nvSpPr>
          <p:cNvPr id="6" name="">
            <a:extLst xmlns:a="http://schemas.openxmlformats.org/drawingml/2006/main">
              <a:ext uri="{FF2B5EF4-FFF2-40B4-BE49-F238E27FC236}">
                <a16:creationId xmlns:a16="http://schemas.microsoft.com/office/drawing/2014/main" id="{08CDE8B3-5C10-4612-A402-CB8B69400963}"/>
              </a:ext>
            </a:extLst>
          </p:cNvPr>
          <p:cNvSpPr>
            <a:spLocks xmlns:a="http://schemas.openxmlformats.org/drawingml/2006/main" noGrp="1"/>
          </p:cNvSpPr>
          <p:nvPr/>
        </p:nvSpPr>
        <p:spPr>
          <a:xfrm xmlns:a="http://schemas.openxmlformats.org/drawingml/2006/main">
            <a:off x="3238500" y="1638300"/>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7232B"/>
                </a:solidFill>
                <a:latin typeface="Helvetica Neue"/>
                <a:ea typeface="Helvetica Neue"/>
                <a:cs typeface="Helvetica Neue"/>
              </a:defRPr>
            </a:pPr>
            <a:r>
              <a:rPr sz="1500" b="0">
                <a:solidFill>
                  <a:srgbClr val="17232B"/>
                </a:solidFill>
                <a:latin typeface="Helvetica Neue"/>
                <a:ea typeface="Helvetica Neue"/>
                <a:cs typeface="Helvetica Neue"/>
              </a:rPr>
              <a:t>Site Visit comes first. Scheduling can follow later.</a:t>
            </a:r>
          </a:p>
        </p:txBody>
      </p:sp>
      <p:sp>
        <p:nvSpPr>
          <p:cNvPr id="7" name="">
            <a:extLst xmlns:a="http://schemas.openxmlformats.org/drawingml/2006/main">
              <a:ext uri="{FF2B5EF4-FFF2-40B4-BE49-F238E27FC236}">
                <a16:creationId xmlns:a16="http://schemas.microsoft.com/office/drawing/2014/main" id="{EAA1EF14-37F3-4E30-9E92-994406C0BC9C}"/>
              </a:ext>
            </a:extLst>
          </p:cNvPr>
          <p:cNvSpPr>
            <a:spLocks xmlns:a="http://schemas.openxmlformats.org/drawingml/2006/main" noGrp="1"/>
          </p:cNvSpPr>
          <p:nvPr/>
        </p:nvSpPr>
        <p:spPr>
          <a:xfrm xmlns:a="http://schemas.openxmlformats.org/drawingml/2006/main">
            <a:off x="685800" y="2190750"/>
            <a:ext cx="10820400" cy="666750"/>
          </a:xfrm>
          <a:prstGeom xmlns:a="http://schemas.openxmlformats.org/drawingml/2006/main" prst="rect">
            <a:avLst/>
          </a:prstGeom>
          <a:solidFill xmlns:a="http://schemas.openxmlformats.org/drawingml/2006/main">
            <a:srgbClr val="F6F2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22CCC7-4474-4C17-8D5E-C6128DD19304}"/>
              </a:ext>
            </a:extLst>
          </p:cNvPr>
          <p:cNvSpPr>
            <a:spLocks xmlns:a="http://schemas.openxmlformats.org/drawingml/2006/main" noGrp="1"/>
          </p:cNvSpPr>
          <p:nvPr/>
        </p:nvSpPr>
        <p:spPr>
          <a:xfrm xmlns:a="http://schemas.openxmlformats.org/drawingml/2006/main">
            <a:off x="876300" y="237172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D7068"/>
                </a:solidFill>
                <a:latin typeface="Helvetica Neue"/>
                <a:ea typeface="Helvetica Neue"/>
                <a:cs typeface="Helvetica Neue"/>
              </a:defRPr>
            </a:pPr>
            <a:r>
              <a:rPr sz="1275" b="1">
                <a:solidFill>
                  <a:srgbClr val="3D7068"/>
                </a:solidFill>
                <a:latin typeface="Helvetica Neue"/>
                <a:ea typeface="Helvetica Neue"/>
                <a:cs typeface="Helvetica Neue"/>
              </a:rPr>
              <a:t>Ownership</a:t>
            </a:r>
          </a:p>
        </p:txBody>
      </p:sp>
      <p:sp>
        <p:nvSpPr>
          <p:cNvPr id="9" name="">
            <a:extLst xmlns:a="http://schemas.openxmlformats.org/drawingml/2006/main">
              <a:ext uri="{FF2B5EF4-FFF2-40B4-BE49-F238E27FC236}">
                <a16:creationId xmlns:a16="http://schemas.microsoft.com/office/drawing/2014/main" id="{826B4812-FC79-45F3-8B3C-5D4453CD34CF}"/>
              </a:ext>
            </a:extLst>
          </p:cNvPr>
          <p:cNvSpPr>
            <a:spLocks xmlns:a="http://schemas.openxmlformats.org/drawingml/2006/main" noGrp="1"/>
          </p:cNvSpPr>
          <p:nvPr/>
        </p:nvSpPr>
        <p:spPr>
          <a:xfrm xmlns:a="http://schemas.openxmlformats.org/drawingml/2006/main">
            <a:off x="3238500" y="2343150"/>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7232B"/>
                </a:solidFill>
                <a:latin typeface="Helvetica Neue"/>
                <a:ea typeface="Helvetica Neue"/>
                <a:cs typeface="Helvetica Neue"/>
              </a:defRPr>
            </a:pPr>
            <a:r>
              <a:rPr sz="1500" b="0">
                <a:solidFill>
                  <a:srgbClr val="17232B"/>
                </a:solidFill>
                <a:latin typeface="Helvetica Neue"/>
                <a:ea typeface="Helvetica Neue"/>
                <a:cs typeface="Helvetica Neue"/>
              </a:rPr>
              <a:t>PC drives the process. PD has visibility.</a:t>
            </a:r>
          </a:p>
        </p:txBody>
      </p:sp>
      <p:sp>
        <p:nvSpPr>
          <p:cNvPr id="10" name="">
            <a:extLst xmlns:a="http://schemas.openxmlformats.org/drawingml/2006/main">
              <a:ext uri="{FF2B5EF4-FFF2-40B4-BE49-F238E27FC236}">
                <a16:creationId xmlns:a16="http://schemas.microsoft.com/office/drawing/2014/main" id="{D33AAC84-5B57-425E-BB89-2FCB37385969}"/>
              </a:ext>
            </a:extLst>
          </p:cNvPr>
          <p:cNvSpPr>
            <a:spLocks xmlns:a="http://schemas.openxmlformats.org/drawingml/2006/main" noGrp="1"/>
          </p:cNvSpPr>
          <p:nvPr/>
        </p:nvSpPr>
        <p:spPr>
          <a:xfrm xmlns:a="http://schemas.openxmlformats.org/drawingml/2006/main">
            <a:off x="685800" y="2895600"/>
            <a:ext cx="10820400" cy="666750"/>
          </a:xfrm>
          <a:prstGeom xmlns:a="http://schemas.openxmlformats.org/drawingml/2006/main" prst="rect">
            <a:avLst/>
          </a:prstGeom>
          <a:solidFill xmlns:a="http://schemas.openxmlformats.org/drawingml/2006/main">
            <a:srgbClr val="FCFB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9D875A-4FAF-4E5D-B4D2-488C5E0A811D}"/>
              </a:ext>
            </a:extLst>
          </p:cNvPr>
          <p:cNvSpPr>
            <a:spLocks xmlns:a="http://schemas.openxmlformats.org/drawingml/2006/main" noGrp="1"/>
          </p:cNvSpPr>
          <p:nvPr/>
        </p:nvSpPr>
        <p:spPr>
          <a:xfrm xmlns:a="http://schemas.openxmlformats.org/drawingml/2006/main">
            <a:off x="876300" y="307657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D7068"/>
                </a:solidFill>
                <a:latin typeface="Helvetica Neue"/>
                <a:ea typeface="Helvetica Neue"/>
                <a:cs typeface="Helvetica Neue"/>
              </a:defRPr>
            </a:pPr>
            <a:r>
              <a:rPr sz="1275" b="1">
                <a:solidFill>
                  <a:srgbClr val="3D7068"/>
                </a:solidFill>
                <a:latin typeface="Helvetica Neue"/>
                <a:ea typeface="Helvetica Neue"/>
                <a:cs typeface="Helvetica Neue"/>
              </a:rPr>
              <a:t>Applicant responsibility</a:t>
            </a:r>
          </a:p>
        </p:txBody>
      </p:sp>
      <p:sp>
        <p:nvSpPr>
          <p:cNvPr id="12" name="">
            <a:extLst xmlns:a="http://schemas.openxmlformats.org/drawingml/2006/main">
              <a:ext uri="{FF2B5EF4-FFF2-40B4-BE49-F238E27FC236}">
                <a16:creationId xmlns:a16="http://schemas.microsoft.com/office/drawing/2014/main" id="{20F23FF7-C1D1-423F-93A6-6FEEE6ABE5A9}"/>
              </a:ext>
            </a:extLst>
          </p:cNvPr>
          <p:cNvSpPr>
            <a:spLocks xmlns:a="http://schemas.openxmlformats.org/drawingml/2006/main" noGrp="1"/>
          </p:cNvSpPr>
          <p:nvPr/>
        </p:nvSpPr>
        <p:spPr>
          <a:xfrm xmlns:a="http://schemas.openxmlformats.org/drawingml/2006/main">
            <a:off x="3238500" y="3048000"/>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7232B"/>
                </a:solidFill>
                <a:latin typeface="Helvetica Neue"/>
                <a:ea typeface="Helvetica Neue"/>
                <a:cs typeface="Helvetica Neue"/>
              </a:defRPr>
            </a:pPr>
            <a:r>
              <a:rPr sz="1500" b="0">
                <a:solidFill>
                  <a:srgbClr val="17232B"/>
                </a:solidFill>
                <a:latin typeface="Helvetica Neue"/>
                <a:ea typeface="Helvetica Neue"/>
                <a:cs typeface="Helvetica Neue"/>
              </a:rPr>
              <a:t>PI and liaison share responsibility. Uploader identity is secondary.</a:t>
            </a:r>
          </a:p>
        </p:txBody>
      </p:sp>
      <p:sp>
        <p:nvSpPr>
          <p:cNvPr id="13" name="">
            <a:extLst xmlns:a="http://schemas.openxmlformats.org/drawingml/2006/main">
              <a:ext uri="{FF2B5EF4-FFF2-40B4-BE49-F238E27FC236}">
                <a16:creationId xmlns:a16="http://schemas.microsoft.com/office/drawing/2014/main" id="{274E0E26-FAF3-44FE-ABF0-28028A42F5A8}"/>
              </a:ext>
            </a:extLst>
          </p:cNvPr>
          <p:cNvSpPr>
            <a:spLocks xmlns:a="http://schemas.openxmlformats.org/drawingml/2006/main" noGrp="1"/>
          </p:cNvSpPr>
          <p:nvPr/>
        </p:nvSpPr>
        <p:spPr>
          <a:xfrm xmlns:a="http://schemas.openxmlformats.org/drawingml/2006/main">
            <a:off x="685800" y="3600450"/>
            <a:ext cx="10820400" cy="666750"/>
          </a:xfrm>
          <a:prstGeom xmlns:a="http://schemas.openxmlformats.org/drawingml/2006/main" prst="rect">
            <a:avLst/>
          </a:prstGeom>
          <a:solidFill xmlns:a="http://schemas.openxmlformats.org/drawingml/2006/main">
            <a:srgbClr val="F6F2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3B277A9-588A-40EC-8B61-6736CB245856}"/>
              </a:ext>
            </a:extLst>
          </p:cNvPr>
          <p:cNvSpPr>
            <a:spLocks xmlns:a="http://schemas.openxmlformats.org/drawingml/2006/main" noGrp="1"/>
          </p:cNvSpPr>
          <p:nvPr/>
        </p:nvSpPr>
        <p:spPr>
          <a:xfrm xmlns:a="http://schemas.openxmlformats.org/drawingml/2006/main">
            <a:off x="876300" y="378142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D7068"/>
                </a:solidFill>
                <a:latin typeface="Helvetica Neue"/>
                <a:ea typeface="Helvetica Neue"/>
                <a:cs typeface="Helvetica Neue"/>
              </a:defRPr>
            </a:pPr>
            <a:r>
              <a:rPr sz="1275" b="1">
                <a:solidFill>
                  <a:srgbClr val="3D7068"/>
                </a:solidFill>
                <a:latin typeface="Helvetica Neue"/>
                <a:ea typeface="Helvetica Neue"/>
                <a:cs typeface="Helvetica Neue"/>
              </a:rPr>
              <a:t>Minimum set</a:t>
            </a:r>
          </a:p>
        </p:txBody>
      </p:sp>
      <p:sp>
        <p:nvSpPr>
          <p:cNvPr id="15" name="">
            <a:extLst xmlns:a="http://schemas.openxmlformats.org/drawingml/2006/main">
              <a:ext uri="{FF2B5EF4-FFF2-40B4-BE49-F238E27FC236}">
                <a16:creationId xmlns:a16="http://schemas.microsoft.com/office/drawing/2014/main" id="{DAE41002-31EA-4544-B5D0-57150CA41216}"/>
              </a:ext>
            </a:extLst>
          </p:cNvPr>
          <p:cNvSpPr>
            <a:spLocks xmlns:a="http://schemas.openxmlformats.org/drawingml/2006/main" noGrp="1"/>
          </p:cNvSpPr>
          <p:nvPr/>
        </p:nvSpPr>
        <p:spPr>
          <a:xfrm xmlns:a="http://schemas.openxmlformats.org/drawingml/2006/main">
            <a:off x="3238500" y="3752850"/>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7232B"/>
                </a:solidFill>
                <a:latin typeface="Helvetica Neue"/>
                <a:ea typeface="Helvetica Neue"/>
                <a:cs typeface="Helvetica Neue"/>
              </a:defRPr>
            </a:pPr>
            <a:r>
              <a:rPr sz="1500" b="0">
                <a:solidFill>
                  <a:srgbClr val="17232B"/>
                </a:solidFill>
                <a:latin typeface="Helvetica Neue"/>
                <a:ea typeface="Helvetica Neue"/>
                <a:cs typeface="Helvetica Neue"/>
              </a:rPr>
              <a:t>PDF presentation, source presentation, and participant bios.</a:t>
            </a:r>
          </a:p>
        </p:txBody>
      </p:sp>
      <p:sp>
        <p:nvSpPr>
          <p:cNvPr id="16" name="">
            <a:extLst xmlns:a="http://schemas.openxmlformats.org/drawingml/2006/main">
              <a:ext uri="{FF2B5EF4-FFF2-40B4-BE49-F238E27FC236}">
                <a16:creationId xmlns:a16="http://schemas.microsoft.com/office/drawing/2014/main" id="{4C5C288E-1368-4DAD-B9FD-1322C19195AB}"/>
              </a:ext>
            </a:extLst>
          </p:cNvPr>
          <p:cNvSpPr>
            <a:spLocks xmlns:a="http://schemas.openxmlformats.org/drawingml/2006/main" noGrp="1"/>
          </p:cNvSpPr>
          <p:nvPr/>
        </p:nvSpPr>
        <p:spPr>
          <a:xfrm xmlns:a="http://schemas.openxmlformats.org/drawingml/2006/main">
            <a:off x="685800" y="4305300"/>
            <a:ext cx="10820400" cy="666750"/>
          </a:xfrm>
          <a:prstGeom xmlns:a="http://schemas.openxmlformats.org/drawingml/2006/main" prst="rect">
            <a:avLst/>
          </a:prstGeom>
          <a:solidFill xmlns:a="http://schemas.openxmlformats.org/drawingml/2006/main">
            <a:srgbClr val="FCFB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0EE669-31BA-4E4D-A451-39AC0413AC18}"/>
              </a:ext>
            </a:extLst>
          </p:cNvPr>
          <p:cNvSpPr>
            <a:spLocks xmlns:a="http://schemas.openxmlformats.org/drawingml/2006/main" noGrp="1"/>
          </p:cNvSpPr>
          <p:nvPr/>
        </p:nvSpPr>
        <p:spPr>
          <a:xfrm xmlns:a="http://schemas.openxmlformats.org/drawingml/2006/main">
            <a:off x="876300" y="448627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D7068"/>
                </a:solidFill>
                <a:latin typeface="Helvetica Neue"/>
                <a:ea typeface="Helvetica Neue"/>
                <a:cs typeface="Helvetica Neue"/>
              </a:defRPr>
            </a:pPr>
            <a:r>
              <a:rPr sz="1275" b="1">
                <a:solidFill>
                  <a:srgbClr val="3D7068"/>
                </a:solidFill>
                <a:latin typeface="Helvetica Neue"/>
                <a:ea typeface="Helvetica Neue"/>
                <a:cs typeface="Helvetica Neue"/>
              </a:rPr>
              <a:t>File model</a:t>
            </a:r>
          </a:p>
        </p:txBody>
      </p:sp>
      <p:sp>
        <p:nvSpPr>
          <p:cNvPr id="18" name="">
            <a:extLst xmlns:a="http://schemas.openxmlformats.org/drawingml/2006/main">
              <a:ext uri="{FF2B5EF4-FFF2-40B4-BE49-F238E27FC236}">
                <a16:creationId xmlns:a16="http://schemas.microsoft.com/office/drawing/2014/main" id="{C48374E7-AC5F-4D73-B122-BE47C0D4D804}"/>
              </a:ext>
            </a:extLst>
          </p:cNvPr>
          <p:cNvSpPr>
            <a:spLocks xmlns:a="http://schemas.openxmlformats.org/drawingml/2006/main" noGrp="1"/>
          </p:cNvSpPr>
          <p:nvPr/>
        </p:nvSpPr>
        <p:spPr>
          <a:xfrm xmlns:a="http://schemas.openxmlformats.org/drawingml/2006/main">
            <a:off x="3238500" y="4457700"/>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7232B"/>
                </a:solidFill>
                <a:latin typeface="Helvetica Neue"/>
                <a:ea typeface="Helvetica Neue"/>
                <a:cs typeface="Helvetica Neue"/>
              </a:defRPr>
            </a:pPr>
            <a:r>
              <a:rPr sz="1500" b="0">
                <a:solidFill>
                  <a:srgbClr val="17232B"/>
                </a:solidFill>
                <a:latin typeface="Helvetica Neue"/>
                <a:ea typeface="Helvetica Neue"/>
                <a:cs typeface="Helvetica Neue"/>
              </a:rPr>
              <a:t>One canonical SharePoint file. Briefing packages point to exact versions.</a:t>
            </a:r>
          </a:p>
        </p:txBody>
      </p:sp>
      <p:sp>
        <p:nvSpPr>
          <p:cNvPr id="19" name="">
            <a:extLst xmlns:a="http://schemas.openxmlformats.org/drawingml/2006/main">
              <a:ext uri="{FF2B5EF4-FFF2-40B4-BE49-F238E27FC236}">
                <a16:creationId xmlns:a16="http://schemas.microsoft.com/office/drawing/2014/main" id="{9A7C4F25-426F-4607-B7E6-F454FADFB0EE}"/>
              </a:ext>
            </a:extLst>
          </p:cNvPr>
          <p:cNvSpPr>
            <a:spLocks xmlns:a="http://schemas.openxmlformats.org/drawingml/2006/main" noGrp="1"/>
          </p:cNvSpPr>
          <p:nvPr/>
        </p:nvSpPr>
        <p:spPr>
          <a:xfrm xmlns:a="http://schemas.openxmlformats.org/drawingml/2006/main">
            <a:off x="685800" y="5010150"/>
            <a:ext cx="10820400" cy="666750"/>
          </a:xfrm>
          <a:prstGeom xmlns:a="http://schemas.openxmlformats.org/drawingml/2006/main" prst="rect">
            <a:avLst/>
          </a:prstGeom>
          <a:solidFill xmlns:a="http://schemas.openxmlformats.org/drawingml/2006/main">
            <a:srgbClr val="F6F2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3B7EF6A-B03D-4796-9C94-2CE0CE17439E}"/>
              </a:ext>
            </a:extLst>
          </p:cNvPr>
          <p:cNvSpPr>
            <a:spLocks xmlns:a="http://schemas.openxmlformats.org/drawingml/2006/main" noGrp="1"/>
          </p:cNvSpPr>
          <p:nvPr/>
        </p:nvSpPr>
        <p:spPr>
          <a:xfrm xmlns:a="http://schemas.openxmlformats.org/drawingml/2006/main">
            <a:off x="876300" y="519112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D7068"/>
                </a:solidFill>
                <a:latin typeface="Helvetica Neue"/>
                <a:ea typeface="Helvetica Neue"/>
                <a:cs typeface="Helvetica Neue"/>
              </a:defRPr>
            </a:pPr>
            <a:r>
              <a:rPr sz="1275" b="1">
                <a:solidFill>
                  <a:srgbClr val="3D7068"/>
                </a:solidFill>
                <a:latin typeface="Helvetica Neue"/>
                <a:ea typeface="Helvetica Neue"/>
                <a:cs typeface="Helvetica Neue"/>
              </a:rPr>
              <a:t>Current-cycle scope</a:t>
            </a:r>
          </a:p>
        </p:txBody>
      </p:sp>
      <p:sp>
        <p:nvSpPr>
          <p:cNvPr id="21" name="">
            <a:extLst xmlns:a="http://schemas.openxmlformats.org/drawingml/2006/main">
              <a:ext uri="{FF2B5EF4-FFF2-40B4-BE49-F238E27FC236}">
                <a16:creationId xmlns:a16="http://schemas.microsoft.com/office/drawing/2014/main" id="{EFEAA359-A7DD-4CC0-A26E-243EF030D53C}"/>
              </a:ext>
            </a:extLst>
          </p:cNvPr>
          <p:cNvSpPr>
            <a:spLocks xmlns:a="http://schemas.openxmlformats.org/drawingml/2006/main" noGrp="1"/>
          </p:cNvSpPr>
          <p:nvPr/>
        </p:nvSpPr>
        <p:spPr>
          <a:xfrm xmlns:a="http://schemas.openxmlformats.org/drawingml/2006/main">
            <a:off x="3238500" y="5162550"/>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7232B"/>
                </a:solidFill>
                <a:latin typeface="Helvetica Neue"/>
                <a:ea typeface="Helvetica Neue"/>
                <a:cs typeface="Helvetica Neue"/>
              </a:defRPr>
            </a:pPr>
            <a:r>
              <a:rPr sz="1500" b="0">
                <a:solidFill>
                  <a:srgbClr val="17232B"/>
                </a:solidFill>
                <a:latin typeface="Helvetica Neue"/>
                <a:ea typeface="Helvetica Neue"/>
                <a:cs typeface="Helvetica Neue"/>
              </a:rPr>
              <a:t>Collection and briefing room now. Datto retirement later.</a:t>
            </a:r>
          </a:p>
        </p:txBody>
      </p:sp>
      <p:sp>
        <p:nvSpPr>
          <p:cNvPr id="22" name="">
            <a:extLst xmlns:a="http://schemas.openxmlformats.org/drawingml/2006/main">
              <a:ext uri="{FF2B5EF4-FFF2-40B4-BE49-F238E27FC236}">
                <a16:creationId xmlns:a16="http://schemas.microsoft.com/office/drawing/2014/main" id="{A233F24D-6AF4-413E-A4EF-FCD52F59BEEC}"/>
              </a:ext>
            </a:extLst>
          </p:cNvPr>
          <p:cNvSpPr>
            <a:spLocks xmlns:a="http://schemas.openxmlformats.org/drawingml/2006/main" noGrp="1"/>
          </p:cNvSpPr>
          <p:nvPr/>
        </p:nvSpPr>
        <p:spPr>
          <a:xfrm xmlns:a="http://schemas.openxmlformats.org/drawingml/2006/main">
            <a:off x="1619250" y="5934075"/>
            <a:ext cx="895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A95035"/>
                </a:solidFill>
                <a:latin typeface="Helvetica Neue"/>
                <a:ea typeface="Helvetica Neue"/>
                <a:cs typeface="Helvetica Neue"/>
              </a:defRPr>
            </a:pPr>
            <a:r>
              <a:rPr sz="1875" b="1">
                <a:solidFill>
                  <a:srgbClr val="A95035"/>
                </a:solidFill>
                <a:latin typeface="Helvetica Neue"/>
                <a:ea typeface="Helvetica Neue"/>
                <a:cs typeface="Helvetica Neue"/>
              </a:rPr>
              <a:t>Which assumption would create the most friction in practice?</a:t>
            </a:r>
          </a:p>
        </p:txBody>
      </p:sp>
    </p:spTree>
    <p:extLst>
      <p:ext uri="{BB962C8B-B14F-4D97-AF65-F5344CB8AC3E}">
        <p14:creationId xmlns:p14="http://schemas.microsoft.com/office/powerpoint/2010/main" val="2086380575"/>
      </p:ext>
    </p:extLst>
  </p:cSld>
</p:sld>
</file>

<file path=ppt/slides/slide8.xml><?xml version="1.0" encoding="utf-8"?>
<p:sld xmlns:p="http://schemas.openxmlformats.org/presentationml/2006/main">
  <p:cSld>
    <p:bg>
      <p:bgPr>
        <a:solidFill xmlns:a="http://schemas.openxmlformats.org/drawingml/2006/main">
          <a:srgbClr val="1723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DB0CA0-FFC4-49ED-B1DD-CF2482C63A89}"/>
              </a:ext>
            </a:extLst>
          </p:cNvPr>
          <p:cNvSpPr>
            <a:spLocks xmlns:a="http://schemas.openxmlformats.org/drawingml/2006/main" noGrp="1"/>
          </p:cNvSpPr>
          <p:nvPr/>
        </p:nvSpPr>
        <p:spPr>
          <a:xfrm xmlns:a="http://schemas.openxmlformats.org/drawingml/2006/main">
            <a:off x="685800" y="495300"/>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Open questions for PCs and Ops</a:t>
            </a:r>
          </a:p>
        </p:txBody>
      </p:sp>
      <p:sp>
        <p:nvSpPr>
          <p:cNvPr id="2" name="">
            <a:extLst xmlns:a="http://schemas.openxmlformats.org/drawingml/2006/main">
              <a:ext uri="{FF2B5EF4-FFF2-40B4-BE49-F238E27FC236}">
                <a16:creationId xmlns:a16="http://schemas.microsoft.com/office/drawing/2014/main" id="{C9AEE1C8-8A8D-451E-B66A-AA7727655344}"/>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28575">
            <a:solidFill>
              <a:srgbClr val="B58A3A"/>
            </a:solidFill>
            <a:prstDash val="solid"/>
          </a:ln>
        </p:spPr>
      </p:sp>
      <p:sp>
        <p:nvSpPr>
          <p:cNvPr id="3" name="">
            <a:extLst xmlns:a="http://schemas.openxmlformats.org/drawingml/2006/main">
              <a:ext uri="{FF2B5EF4-FFF2-40B4-BE49-F238E27FC236}">
                <a16:creationId xmlns:a16="http://schemas.microsoft.com/office/drawing/2014/main" id="{B098FDA8-79DF-4CC9-B779-A2747F125CDA}"/>
              </a:ext>
            </a:extLst>
          </p:cNvPr>
          <p:cNvSpPr>
            <a:spLocks xmlns:a="http://schemas.openxmlformats.org/drawingml/2006/main" noGrp="1"/>
          </p:cNvSpPr>
          <p:nvPr/>
        </p:nvSpPr>
        <p:spPr>
          <a:xfrm xmlns:a="http://schemas.openxmlformats.org/drawingml/2006/main">
            <a:off x="685800" y="158115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E9DDC4"/>
                </a:solidFill>
                <a:latin typeface="Helvetica Neue"/>
                <a:ea typeface="Helvetica Neue"/>
                <a:cs typeface="Helvetica Neue"/>
              </a:defRPr>
            </a:pPr>
            <a:r>
              <a:rPr sz="1650" b="1">
                <a:solidFill>
                  <a:srgbClr val="E9DDC4"/>
                </a:solidFill>
                <a:latin typeface="Helvetica Neue"/>
                <a:ea typeface="Helvetica Neue"/>
                <a:cs typeface="Helvetica Neue"/>
              </a:rPr>
              <a:t>Materials and follow-up</a:t>
            </a:r>
          </a:p>
        </p:txBody>
      </p:sp>
      <p:sp>
        <p:nvSpPr>
          <p:cNvPr id="4" name="">
            <a:extLst xmlns:a="http://schemas.openxmlformats.org/drawingml/2006/main">
              <a:ext uri="{FF2B5EF4-FFF2-40B4-BE49-F238E27FC236}">
                <a16:creationId xmlns:a16="http://schemas.microsoft.com/office/drawing/2014/main" id="{873693EC-C20E-4A58-881A-7CF62397E402}"/>
              </a:ext>
            </a:extLst>
          </p:cNvPr>
          <p:cNvSpPr>
            <a:spLocks xmlns:a="http://schemas.openxmlformats.org/drawingml/2006/main" noGrp="1"/>
          </p:cNvSpPr>
          <p:nvPr/>
        </p:nvSpPr>
        <p:spPr>
          <a:xfrm xmlns:a="http://schemas.openxmlformats.org/drawingml/2006/main">
            <a:off x="685800" y="204787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Are PDF, source deck, and participant bios the right minimum?</a:t>
            </a:r>
          </a:p>
          <a:p xmlns:a="http://schemas.openxmlformats.org/drawingml/2006/main">
            <a:pPr marL="228600" indent="-114300">
              <a:spcAft>
                <a:spcPts val="10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What other material recurs often enough to include?</a:t>
            </a:r>
          </a:p>
          <a:p xmlns:a="http://schemas.openxmlformats.org/drawingml/2006/main">
            <a:pPr marL="228600" indent="-114300">
              <a:spcAft>
                <a:spcPts val="10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When should reminders start, and how often should they repeat?</a:t>
            </a:r>
          </a:p>
          <a:p xmlns:a="http://schemas.openxmlformats.org/drawingml/2006/main">
            <a:pPr marL="228600" indent="-114300">
              <a:spcAft>
                <a:spcPts val="10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What does an adequate render check include?</a:t>
            </a:r>
          </a:p>
        </p:txBody>
      </p:sp>
      <p:sp>
        <p:nvSpPr>
          <p:cNvPr id="5" name="">
            <a:extLst xmlns:a="http://schemas.openxmlformats.org/drawingml/2006/main">
              <a:ext uri="{FF2B5EF4-FFF2-40B4-BE49-F238E27FC236}">
                <a16:creationId xmlns:a16="http://schemas.microsoft.com/office/drawing/2014/main" id="{716B1547-2E20-4F3C-BB6C-CBD97B60DF38}"/>
              </a:ext>
            </a:extLst>
          </p:cNvPr>
          <p:cNvSpPr>
            <a:spLocks xmlns:a="http://schemas.openxmlformats.org/drawingml/2006/main" noGrp="1"/>
          </p:cNvSpPr>
          <p:nvPr/>
        </p:nvSpPr>
        <p:spPr>
          <a:xfrm xmlns:a="http://schemas.openxmlformats.org/drawingml/2006/main">
            <a:off x="6343650" y="158115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E9DDC4"/>
                </a:solidFill>
                <a:latin typeface="Helvetica Neue"/>
                <a:ea typeface="Helvetica Neue"/>
                <a:cs typeface="Helvetica Neue"/>
              </a:defRPr>
            </a:pPr>
            <a:r>
              <a:rPr sz="1650" b="1">
                <a:solidFill>
                  <a:srgbClr val="E9DDC4"/>
                </a:solidFill>
                <a:latin typeface="Helvetica Neue"/>
                <a:ea typeface="Helvetica Neue"/>
                <a:cs typeface="Helvetica Neue"/>
              </a:rPr>
              <a:t>Briefing and operations</a:t>
            </a:r>
          </a:p>
        </p:txBody>
      </p:sp>
      <p:sp>
        <p:nvSpPr>
          <p:cNvPr id="6" name="">
            <a:extLst xmlns:a="http://schemas.openxmlformats.org/drawingml/2006/main">
              <a:ext uri="{FF2B5EF4-FFF2-40B4-BE49-F238E27FC236}">
                <a16:creationId xmlns:a16="http://schemas.microsoft.com/office/drawing/2014/main" id="{814023FB-1F0F-4180-BE5D-86A020BD7B76}"/>
              </a:ext>
            </a:extLst>
          </p:cNvPr>
          <p:cNvSpPr>
            <a:spLocks xmlns:a="http://schemas.openxmlformats.org/drawingml/2006/main" noGrp="1"/>
          </p:cNvSpPr>
          <p:nvPr/>
        </p:nvSpPr>
        <p:spPr>
          <a:xfrm xmlns:a="http://schemas.openxmlformats.org/drawingml/2006/main">
            <a:off x="6343650" y="2047875"/>
            <a:ext cx="48958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Which files should Board members and consultants see by default?</a:t>
            </a:r>
          </a:p>
          <a:p xmlns:a="http://schemas.openxmlformats.org/drawingml/2006/main">
            <a:pPr marL="228600" indent="-114300">
              <a:spcAft>
                <a:spcPts val="8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How should peer reviews be labeled?</a:t>
            </a:r>
          </a:p>
          <a:p xmlns:a="http://schemas.openxmlformats.org/drawingml/2006/main">
            <a:pPr marL="228600" indent="-114300">
              <a:spcAft>
                <a:spcPts val="8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Which Keynote or large-file cases should we plan for?</a:t>
            </a:r>
          </a:p>
          <a:p xmlns:a="http://schemas.openxmlformats.org/drawingml/2006/main">
            <a:pPr marL="228600" indent="-114300">
              <a:spcAft>
                <a:spcPts val="8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What SharePoint structure stays clear in AkoyaGo?</a:t>
            </a:r>
          </a:p>
          <a:p xmlns:a="http://schemas.openxmlformats.org/drawingml/2006/main">
            <a:pPr marL="228600" indent="-114300">
              <a:spcAft>
                <a:spcPts val="800"/>
              </a:spcAft>
              <a:buChar char="•"/>
              <a:defRPr sz="1425">
                <a:solidFill>
                  <a:srgbClr val="FFFFFF"/>
                </a:solidFill>
                <a:latin typeface="Helvetica Neue"/>
                <a:ea typeface="Helvetica Neue"/>
                <a:cs typeface="Helvetica Neue"/>
              </a:defRPr>
            </a:pPr>
            <a:r>
              <a:rPr sz="1425">
                <a:solidFill>
                  <a:srgbClr val="FFFFFF"/>
                </a:solidFill>
                <a:latin typeface="Helvetica Neue"/>
                <a:ea typeface="Helvetica Neue"/>
                <a:cs typeface="Helvetica Neue"/>
              </a:rPr>
              <a:t>What cutoff and fallback would make the first launch safe?</a:t>
            </a:r>
          </a:p>
        </p:txBody>
      </p:sp>
      <p:sp>
        <p:nvSpPr>
          <p:cNvPr id="7" name="">
            <a:extLst xmlns:a="http://schemas.openxmlformats.org/drawingml/2006/main">
              <a:ext uri="{FF2B5EF4-FFF2-40B4-BE49-F238E27FC236}">
                <a16:creationId xmlns:a16="http://schemas.microsoft.com/office/drawing/2014/main" id="{C1D99ACB-B9E8-4532-B7E8-E63492249FBE}"/>
              </a:ext>
            </a:extLst>
          </p:cNvPr>
          <p:cNvSpPr>
            <a:spLocks xmlns:a="http://schemas.openxmlformats.org/drawingml/2006/main" noGrp="1"/>
          </p:cNvSpPr>
          <p:nvPr/>
        </p:nvSpPr>
        <p:spPr>
          <a:xfrm xmlns:a="http://schemas.openxmlformats.org/drawingml/2006/main">
            <a:off x="685800" y="5314950"/>
            <a:ext cx="10820400" cy="876300"/>
          </a:xfrm>
          <a:prstGeom xmlns:a="http://schemas.openxmlformats.org/drawingml/2006/main" prst="roundRect">
            <a:avLst>
              <a:gd name="adj" fmla="val 15217"/>
            </a:avLst>
          </a:prstGeom>
          <a:solidFill xmlns:a="http://schemas.openxmlformats.org/drawingml/2006/main">
            <a:srgbClr val="B58A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165DC5A-45AC-4FAD-8882-1696FEEC92D9}"/>
              </a:ext>
            </a:extLst>
          </p:cNvPr>
          <p:cNvSpPr>
            <a:spLocks xmlns:a="http://schemas.openxmlformats.org/drawingml/2006/main" noGrp="1"/>
          </p:cNvSpPr>
          <p:nvPr/>
        </p:nvSpPr>
        <p:spPr>
          <a:xfrm xmlns:a="http://schemas.openxmlformats.org/drawingml/2006/main">
            <a:off x="1028700" y="5543550"/>
            <a:ext cx="1013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7232B"/>
                </a:solidFill>
                <a:latin typeface="Helvetica Neue"/>
                <a:ea typeface="Helvetica Neue"/>
                <a:cs typeface="Helvetica Neue"/>
              </a:defRPr>
            </a:pPr>
            <a:r>
              <a:rPr sz="2250" b="1">
                <a:solidFill>
                  <a:srgbClr val="17232B"/>
                </a:solidFill>
                <a:latin typeface="Helvetica Neue"/>
                <a:ea typeface="Helvetica Neue"/>
                <a:cs typeface="Helvetica Neue"/>
              </a:rPr>
              <a:t>What are we missing about the real process?</a:t>
            </a:r>
          </a:p>
        </p:txBody>
      </p:sp>
      <p:sp>
        <p:nvSpPr>
          <p:cNvPr id="9" name="">
            <a:extLst xmlns:a="http://schemas.openxmlformats.org/drawingml/2006/main">
              <a:ext uri="{FF2B5EF4-FFF2-40B4-BE49-F238E27FC236}">
                <a16:creationId xmlns:a16="http://schemas.microsoft.com/office/drawing/2014/main" id="{DC648BFD-9AB1-4699-AD06-6E2F73E0831C}"/>
              </a:ext>
            </a:extLst>
          </p:cNvPr>
          <p:cNvSpPr>
            <a:spLocks xmlns:a="http://schemas.openxmlformats.org/drawingml/2006/main" noGrp="1"/>
          </p:cNvSpPr>
          <p:nvPr/>
        </p:nvSpPr>
        <p:spPr>
          <a:xfrm xmlns:a="http://schemas.openxmlformats.org/drawingml/2006/main">
            <a:off x="1123950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E9DDC4"/>
                </a:solidFill>
                <a:latin typeface="Helvetica Neue"/>
                <a:ea typeface="Helvetica Neue"/>
                <a:cs typeface="Helvetica Neue"/>
              </a:defRPr>
            </a:pPr>
            <a:r>
              <a:rPr sz="975" b="0">
                <a:solidFill>
                  <a:srgbClr val="E9DDC4"/>
                </a:solidFill>
                <a:latin typeface="Helvetica Neue"/>
                <a:ea typeface="Helvetica Neue"/>
                <a:cs typeface="Helvetica Neue"/>
              </a:rPr>
              <a:t>8</a:t>
            </a:r>
          </a:p>
        </p:txBody>
      </p:sp>
    </p:spTree>
    <p:extLst>
      <p:ext uri="{BB962C8B-B14F-4D97-AF65-F5344CB8AC3E}">
        <p14:creationId xmlns:p14="http://schemas.microsoft.com/office/powerpoint/2010/main" val="7925094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2026-09-09T03:34:58.7200000Z</dcterms:created>
  <dcterms:modified xsi:type="dcterms:W3CDTF">2026-09-09T03:34:58.7200000Z</dcterms:modified>
</coreProperties>
</file>