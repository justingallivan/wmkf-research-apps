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52d415e33a4580" /><Relationship Type="http://schemas.openxmlformats.org/officeDocument/2006/relationships/extended-properties" Target="/docProps/app.xml" Id="R15a85c26e3e64919" /><Relationship Type="http://schemas.openxmlformats.org/officeDocument/2006/relationships/officeDocument" Target="/ppt/presentation.xml" Id="R4ee42697bb7c4b3b" /></Relationships>
</file>

<file path=ppt/presentation.xml><?xml version="1.0" encoding="utf-8"?>
<p:presentation xmlns:p="http://schemas.openxmlformats.org/presentationml/2006/main">
  <p:sldMasterIdLst>
    <p:sldMasterId xmlns:r="http://schemas.openxmlformats.org/officeDocument/2006/relationships" id="2147483648" r:id="R35602fc4a775412d"/>
  </p:sldMasterIdLst>
  <p:notesMasterIdLst>
    <p:notesMasterId xmlns:r="http://schemas.openxmlformats.org/officeDocument/2006/relationships" r:id="R41c80ab796204d72"/>
  </p:notesMasterIdLst>
  <p:sldIdLst>
    <p:sldId xmlns:r="http://schemas.openxmlformats.org/officeDocument/2006/relationships" id="256" r:id="Raf53e5f646714220"/>
    <p:sldId xmlns:r="http://schemas.openxmlformats.org/officeDocument/2006/relationships" id="257" r:id="R62e0bf0f53f74b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3c6893676549a8" /><Relationship Type="http://schemas.openxmlformats.org/officeDocument/2006/relationships/slideMaster" Target="/ppt/slideMasters/slideMaster1.xml" Id="R35602fc4a775412d" /><Relationship Type="http://schemas.openxmlformats.org/officeDocument/2006/relationships/notesMaster" Target="/ppt/notesMasters/notesMaster1.xml" Id="R41c80ab796204d72" /><Relationship Type="http://schemas.openxmlformats.org/officeDocument/2006/relationships/presProps" Target="/ppt/presProps.xml" Id="R4accfa4588e34070" /><Relationship Type="http://schemas.openxmlformats.org/officeDocument/2006/relationships/tableStyles" Target="/ppt/tableStyles.xml" Id="R2b26de194b1e4234" /><Relationship Type="http://schemas.openxmlformats.org/officeDocument/2006/relationships/slide" Target="/ppt/slides/slide1.xml" Id="Raf53e5f646714220" /><Relationship Type="http://schemas.openxmlformats.org/officeDocument/2006/relationships/slide" Target="/ppt/slides/slide2.xml" Id="R62e0bf0f53f74b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eac8899b6246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4b13f33acf4d7b" /><Relationship Type="http://schemas.openxmlformats.org/officeDocument/2006/relationships/notesMaster" Target="/ppt/notesMasters/notesMaster1.xml" Id="Rbb31f24c541849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95784038ba4744" /><Relationship Type="http://schemas.openxmlformats.org/officeDocument/2006/relationships/notesMaster" Target="/ppt/notesMasters/notesMaster1.xml" Id="Rdd483185ff9844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request an internal WMKF connection that imports actual video/audio/transcript files, not simply a viewing link. Planned app workflow: import the whole meeting, reconcile speakers, confirm the split, produce separate presentation and staff-discussion materials. No account changes have been made.</a:t>
            </a:r>
          </a:p>
          <a:p xmlns:a="http://schemas.openxmlformats.org/drawingml/2006/main">
            <a:r>
              <a:t>If Developers/Created Apps is unavailable, the owner/admin should verify permission to view and edit Server-to-Server OAuth apps and permission for the requested recording scopes. Portal: User Management &gt; Roles &gt; Role Settings &gt; Advanced features. Some Marketplace layouts use Develop &gt; Build App. The admin may own the app; Duncan does not need an administrator login. Keep a named owner and backup contact.</a:t>
            </a:r>
          </a:p>
          <a:p xmlns:a="http://schemas.openxmlformats.org/drawingml/2006/main">
            <a:r>
              <a:t>Official setup: https://developers.zoom.us/docs/internal-apps/create/</a:t>
            </a:r>
          </a:p>
          <a:p xmlns:a="http://schemas.openxmlformats.org/drawingml/2006/main">
            <a:r>
              <a:t>Role guidance: https://developers.zoom.us/docs/internal-apps/</a:t>
            </a:r>
          </a:p>
          <a:p xmlns:a="http://schemas.openxmlformats.org/drawingml/2006/main">
            <a:r>
              <a:t>Automatic authentication: https://developers.zoom.us/docs/internal-apps/s2s-oauth/</a:t>
            </a:r>
          </a:p>
          <a:p xmlns:a="http://schemas.openxmlformats.org/drawingml/2006/main">
            <a:r>
              <a:t>Checked October 7, 2026. Account eligibility and actual WMKF settings require admin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read scope strings for the app maintainer to find with Add Scopes:</a:t>
            </a:r>
          </a:p>
          <a:p xmlns:a="http://schemas.openxmlformats.org/drawingml/2006/main">
            <a:r>
              <a:t>cloud_recording:read:list_user_recordings:admin</a:t>
            </a:r>
          </a:p>
          <a:p xmlns:a="http://schemas.openxmlformats.org/drawingml/2006/main">
            <a:r>
              <a:t>cloud_recording:read:list_recording_files:admin</a:t>
            </a:r>
          </a:p>
          <a:p xmlns:a="http://schemas.openxmlformats.org/drawingml/2006/main">
            <a:r>
              <a:t>Use regular Zoom Meetings APIs: GET /users/{userId}/recordings and GET /meetings/{meetingId}/recordings. Configure approved host IDs/emails rather than adding user-directory permissions for the first test. These admin scopes can have broad account reach; the app must enforce the approved-host list and request access. No webhook is needed for the first recording picker. Zoom documents authenticated file downloads using the access token. Confirm scope availability and download behavior in the test.</a:t>
            </a:r>
          </a:p>
          <a:p xmlns:a="http://schemas.openxmlformats.org/drawingml/2006/main">
            <a:r>
              <a:t>Credentials are app credentials, not the shared Zoom password or an MFA code. Do not put secrets in these slides, ordinary email, chat, screenshots or source code. Admin/maintainer places them in approved backend secret storage. Activate the app before testing.</a:t>
            </a:r>
          </a:p>
          <a:p xmlns:a="http://schemas.openxmlformats.org/drawingml/2006/main">
            <a:r>
              <a:t>Later deletion planning: cloud_recording:delete:recording_file:admin and applicable host deletion permission. User wants automatic deletion of full originals and discussion materials at the Board meeting deadline, while keeping the presentation archive. Confirm Zoom Trash settings, existing auto-delete timing, retention holds, and whether the deadline means permanent erasure. Trash-enabled deletion may remain recoverable 30 days. Do not disable account-wide Trash during this meeting without a separate policy decision. Permanent purge via the ordinary Meetings API remains unverified.</a:t>
            </a:r>
          </a:p>
          <a:p xmlns:a="http://schemas.openxmlformats.org/drawingml/2006/main">
            <a:r>
              <a:t>Meeting deliverables: active read app, secure credential handoff arrangement, stable app owner, approved host(s), test meeting, and recorded deletion settings.</a:t>
            </a:r>
          </a:p>
          <a:p xmlns:a="http://schemas.openxmlformats.org/drawingml/2006/main">
            <a:r>
              <a:t>Sources: https://developers.zoom.us/docs/internal-apps/create/</a:t>
            </a:r>
          </a:p>
          <a:p xmlns:a="http://schemas.openxmlformats.org/drawingml/2006/main">
            <a:r>
              <a:t>https://developers.zoom.us/docs/integrations/oauth-scopes-granular/</a:t>
            </a:r>
          </a:p>
          <a:p xmlns:a="http://schemas.openxmlformats.org/drawingml/2006/main">
            <a:r>
              <a:t>https://developers.zoom.us/docs/api/meetings/</a:t>
            </a:r>
          </a:p>
          <a:p xmlns:a="http://schemas.openxmlformats.org/drawingml/2006/main">
            <a:r>
              <a:t>https://support.zoom.com/hc/en/article?id=zm_kb&amp;sysparm_article=KB0066493</a:t>
            </a:r>
          </a:p>
          <a:p xmlns:a="http://schemas.openxmlformats.org/drawingml/2006/main">
            <a:r>
              <a:t>Checked October 7,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83ce01ce7f4d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bb4cf0ad414676" /><Relationship Type="http://schemas.openxmlformats.org/officeDocument/2006/relationships/slideLayout" Target="/ppt/slideLayouts/slideLayout1.xml" Id="R66fd27e0444c41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fd27e0444c41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ab745c9a1244e5" /><Relationship Type="http://schemas.openxmlformats.org/officeDocument/2006/relationships/notesSlide" Target="/ppt/notesSlides/notesSlide1.xml" Id="R60d5808cae7e4a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1309957a5a41d2" /><Relationship Type="http://schemas.openxmlformats.org/officeDocument/2006/relationships/notesSlide" Target="/ppt/notesSlides/notesSlide2.xml" Id="R03b941c92f544f58"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74811EF-840C-4174-99F6-3E6FE180FB62}"/>
              </a:ext>
            </a:extLst>
          </p:cNvPr>
          <p:cNvSpPr>
            <a:spLocks xmlns:a="http://schemas.openxmlformats.org/drawingml/2006/main" noGrp="1"/>
          </p:cNvSpPr>
          <p:nvPr/>
        </p:nvSpPr>
        <p:spPr>
          <a:xfrm xmlns:a="http://schemas.openxmlformats.org/drawingml/2006/main">
            <a:off x="609600" y="3048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Helvetica Neue"/>
                <a:ea typeface="Helvetica Neue"/>
                <a:cs typeface="Helvetica Neue"/>
              </a:defRPr>
            </a:pPr>
            <a:r>
              <a:rPr sz="1350" b="0">
                <a:solidFill>
                  <a:srgbClr val="526575"/>
                </a:solidFill>
                <a:latin typeface="Helvetica Neue"/>
                <a:ea typeface="Helvetica Neue"/>
                <a:cs typeface="Helvetica Neue"/>
              </a:rPr>
              <a:t>WMKF  /  ZOOM ADMIN MEETING  /  OCTOBER 8, 2026</a:t>
            </a:r>
          </a:p>
        </p:txBody>
      </p:sp>
      <p:sp>
        <p:nvSpPr>
          <p:cNvPr id="2" name="">
            <a:extLst xmlns:a="http://schemas.openxmlformats.org/drawingml/2006/main">
              <a:ext uri="{FF2B5EF4-FFF2-40B4-BE49-F238E27FC236}">
                <a16:creationId xmlns:a16="http://schemas.microsoft.com/office/drawing/2014/main" id="{647F0652-BDE8-419C-A5E6-C46977C3A7E4}"/>
              </a:ext>
            </a:extLst>
          </p:cNvPr>
          <p:cNvSpPr>
            <a:spLocks xmlns:a="http://schemas.openxmlformats.org/drawingml/2006/main" noGrp="1"/>
          </p:cNvSpPr>
          <p:nvPr/>
        </p:nvSpPr>
        <p:spPr>
          <a:xfrm xmlns:a="http://schemas.openxmlformats.org/drawingml/2006/main">
            <a:off x="609600" y="8667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8"/>
                </a:solidFill>
                <a:latin typeface="Helvetica Neue"/>
                <a:ea typeface="Helvetica Neue"/>
                <a:cs typeface="Helvetica Neue"/>
              </a:defRPr>
            </a:pPr>
            <a:r>
              <a:rPr sz="3300" b="1">
                <a:solidFill>
                  <a:srgbClr val="193448"/>
                </a:solidFill>
                <a:latin typeface="Helvetica Neue"/>
                <a:ea typeface="Helvetica Neue"/>
                <a:cs typeface="Helvetica Neue"/>
              </a:rPr>
              <a:t>Zoom access for the WMKF meeting app</a:t>
            </a:r>
          </a:p>
        </p:txBody>
      </p:sp>
      <p:sp>
        <p:nvSpPr>
          <p:cNvPr id="3" name="">
            <a:extLst xmlns:a="http://schemas.openxmlformats.org/drawingml/2006/main">
              <a:ext uri="{FF2B5EF4-FFF2-40B4-BE49-F238E27FC236}">
                <a16:creationId xmlns:a16="http://schemas.microsoft.com/office/drawing/2014/main" id="{EC800E29-E0EA-40A7-8A4E-1FCFECFFC5A0}"/>
              </a:ext>
            </a:extLst>
          </p:cNvPr>
          <p:cNvSpPr>
            <a:spLocks xmlns:a="http://schemas.openxmlformats.org/drawingml/2006/main" noGrp="1"/>
          </p:cNvSpPr>
          <p:nvPr/>
        </p:nvSpPr>
        <p:spPr>
          <a:xfrm xmlns:a="http://schemas.openxmlformats.org/drawingml/2006/main">
            <a:off x="10953750" y="6391275"/>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575"/>
                </a:solidFill>
                <a:latin typeface="Helvetica Neue"/>
                <a:ea typeface="Helvetica Neue"/>
                <a:cs typeface="Helvetica Neue"/>
              </a:defRPr>
            </a:pPr>
            <a:r>
              <a:rPr sz="1275" b="0">
                <a:solidFill>
                  <a:srgbClr val="526575"/>
                </a:solidFill>
                <a:latin typeface="Helvetica Neue"/>
                <a:ea typeface="Helvetica Neue"/>
                <a:cs typeface="Helvetica Neue"/>
              </a:rPr>
              <a:t>1 / 2</a:t>
            </a:r>
          </a:p>
        </p:txBody>
      </p:sp>
      <p:sp>
        <p:nvSpPr>
          <p:cNvPr id="4" name="">
            <a:extLst xmlns:a="http://schemas.openxmlformats.org/drawingml/2006/main">
              <a:ext uri="{FF2B5EF4-FFF2-40B4-BE49-F238E27FC236}">
                <a16:creationId xmlns:a16="http://schemas.microsoft.com/office/drawing/2014/main" id="{4259905F-A543-46DE-8ED8-5406F9259BCD}"/>
              </a:ext>
            </a:extLst>
          </p:cNvPr>
          <p:cNvSpPr>
            <a:spLocks xmlns:a="http://schemas.openxmlformats.org/drawingml/2006/main" noGrp="1"/>
          </p:cNvSpPr>
          <p:nvPr/>
        </p:nvSpPr>
        <p:spPr>
          <a:xfrm xmlns:a="http://schemas.openxmlformats.org/drawingml/2006/main">
            <a:off x="609600" y="16192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93448"/>
                </a:solidFill>
                <a:latin typeface="Helvetica Neue"/>
                <a:ea typeface="Helvetica Neue"/>
                <a:cs typeface="Helvetica Neue"/>
              </a:defRPr>
            </a:pPr>
            <a:r>
              <a:rPr sz="2250" b="0">
                <a:solidFill>
                  <a:srgbClr val="193448"/>
                </a:solidFill>
                <a:latin typeface="Helvetica Neue"/>
                <a:ea typeface="Helvetica Neue"/>
                <a:cs typeface="Helvetica Neue"/>
              </a:rPr>
              <a:t>Goal: Duncan selects a meeting. The app copies its recording files into WMKF storage.</a:t>
            </a:r>
          </a:p>
        </p:txBody>
      </p:sp>
      <p:sp>
        <p:nvSpPr>
          <p:cNvPr id="5" name="">
            <a:extLst xmlns:a="http://schemas.openxmlformats.org/drawingml/2006/main">
              <a:ext uri="{FF2B5EF4-FFF2-40B4-BE49-F238E27FC236}">
                <a16:creationId xmlns:a16="http://schemas.microsoft.com/office/drawing/2014/main" id="{77F14EB0-3545-4399-A132-EF50F9C6B767}"/>
              </a:ext>
            </a:extLst>
          </p:cNvPr>
          <p:cNvSpPr>
            <a:spLocks xmlns:a="http://schemas.openxmlformats.org/drawingml/2006/main" noGrp="1"/>
          </p:cNvSpPr>
          <p:nvPr/>
        </p:nvSpPr>
        <p:spPr>
          <a:xfrm xmlns:a="http://schemas.openxmlformats.org/drawingml/2006/main">
            <a:off x="628650" y="26860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7A77"/>
                </a:solidFill>
                <a:latin typeface="Helvetica Neue"/>
                <a:ea typeface="Helvetica Neue"/>
                <a:cs typeface="Helvetica Neue"/>
              </a:defRPr>
            </a:pPr>
            <a:r>
              <a:rPr sz="2550" b="1">
                <a:solidFill>
                  <a:srgbClr val="197A77"/>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45375A57-0152-4081-9E53-98BAFBEEC709}"/>
              </a:ext>
            </a:extLst>
          </p:cNvPr>
          <p:cNvSpPr>
            <a:spLocks xmlns:a="http://schemas.openxmlformats.org/drawingml/2006/main" noGrp="1"/>
          </p:cNvSpPr>
          <p:nvPr/>
        </p:nvSpPr>
        <p:spPr>
          <a:xfrm xmlns:a="http://schemas.openxmlformats.org/drawingml/2006/main">
            <a:off x="1238250" y="2686050"/>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3448"/>
                </a:solidFill>
                <a:latin typeface="Helvetica Neue"/>
                <a:ea typeface="Helvetica Neue"/>
                <a:cs typeface="Helvetica Neue"/>
              </a:defRPr>
            </a:pPr>
            <a:r>
              <a:rPr sz="2175" b="1">
                <a:solidFill>
                  <a:srgbClr val="193448"/>
                </a:solidFill>
                <a:latin typeface="Helvetica Neue"/>
                <a:ea typeface="Helvetica Neue"/>
                <a:cs typeface="Helvetica Neue"/>
              </a:rPr>
              <a:t>Sign in with the Zoom administrator</a:t>
            </a:r>
          </a:p>
        </p:txBody>
      </p:sp>
      <p:sp>
        <p:nvSpPr>
          <p:cNvPr id="7" name="">
            <a:extLst xmlns:a="http://schemas.openxmlformats.org/drawingml/2006/main">
              <a:ext uri="{FF2B5EF4-FFF2-40B4-BE49-F238E27FC236}">
                <a16:creationId xmlns:a16="http://schemas.microsoft.com/office/drawing/2014/main" id="{6498F2C6-352D-4064-92F0-8FD10E64C05A}"/>
              </a:ext>
            </a:extLst>
          </p:cNvPr>
          <p:cNvSpPr>
            <a:spLocks xmlns:a="http://schemas.openxmlformats.org/drawingml/2006/main" noGrp="1"/>
          </p:cNvSpPr>
          <p:nvPr/>
        </p:nvSpPr>
        <p:spPr>
          <a:xfrm xmlns:a="http://schemas.openxmlformats.org/drawingml/2006/main">
            <a:off x="1238250" y="310515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448"/>
                </a:solidFill>
                <a:latin typeface="Helvetica Neue"/>
                <a:ea typeface="Helvetica Neue"/>
                <a:cs typeface="Helvetica Neue"/>
              </a:defRPr>
            </a:pPr>
            <a:r>
              <a:rPr sz="1800" b="0">
                <a:solidFill>
                  <a:srgbClr val="193448"/>
                </a:solidFill>
                <a:latin typeface="Helvetica Neue"/>
                <a:ea typeface="Helvetica Neue"/>
                <a:cs typeface="Helvetica Neue"/>
              </a:rPr>
              <a:t>Complete the usual two-factor verification. Keep it enabled.</a:t>
            </a:r>
          </a:p>
        </p:txBody>
      </p:sp>
      <p:sp>
        <p:nvSpPr>
          <p:cNvPr id="8" name="">
            <a:extLst xmlns:a="http://schemas.openxmlformats.org/drawingml/2006/main">
              <a:ext uri="{FF2B5EF4-FFF2-40B4-BE49-F238E27FC236}">
                <a16:creationId xmlns:a16="http://schemas.microsoft.com/office/drawing/2014/main" id="{4396320C-8C30-4D9E-A1BB-85E684DCE9F8}"/>
              </a:ext>
            </a:extLst>
          </p:cNvPr>
          <p:cNvSpPr>
            <a:spLocks xmlns:a="http://schemas.openxmlformats.org/drawingml/2006/main" noGrp="1"/>
          </p:cNvSpPr>
          <p:nvPr/>
        </p:nvSpPr>
        <p:spPr>
          <a:xfrm xmlns:a="http://schemas.openxmlformats.org/drawingml/2006/main">
            <a:off x="628650" y="3714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7A77"/>
                </a:solidFill>
                <a:latin typeface="Helvetica Neue"/>
                <a:ea typeface="Helvetica Neue"/>
                <a:cs typeface="Helvetica Neue"/>
              </a:defRPr>
            </a:pPr>
            <a:r>
              <a:rPr sz="2550" b="1">
                <a:solidFill>
                  <a:srgbClr val="197A77"/>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3F29352E-942D-45B3-88CD-DBF1019FD05E}"/>
              </a:ext>
            </a:extLst>
          </p:cNvPr>
          <p:cNvSpPr>
            <a:spLocks xmlns:a="http://schemas.openxmlformats.org/drawingml/2006/main" noGrp="1"/>
          </p:cNvSpPr>
          <p:nvPr/>
        </p:nvSpPr>
        <p:spPr>
          <a:xfrm xmlns:a="http://schemas.openxmlformats.org/drawingml/2006/main">
            <a:off x="1238250" y="3714750"/>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3448"/>
                </a:solidFill>
                <a:latin typeface="Helvetica Neue"/>
                <a:ea typeface="Helvetica Neue"/>
                <a:cs typeface="Helvetica Neue"/>
              </a:defRPr>
            </a:pPr>
            <a:r>
              <a:rPr sz="2175" b="1">
                <a:solidFill>
                  <a:srgbClr val="193448"/>
                </a:solidFill>
                <a:latin typeface="Helvetica Neue"/>
                <a:ea typeface="Helvetica Neue"/>
                <a:cs typeface="Helvetica Neue"/>
              </a:rPr>
              <a:t>Open Zoom App Marketplace</a:t>
            </a:r>
          </a:p>
        </p:txBody>
      </p:sp>
      <p:sp>
        <p:nvSpPr>
          <p:cNvPr id="10" name="">
            <a:extLst xmlns:a="http://schemas.openxmlformats.org/drawingml/2006/main">
              <a:ext uri="{FF2B5EF4-FFF2-40B4-BE49-F238E27FC236}">
                <a16:creationId xmlns:a16="http://schemas.microsoft.com/office/drawing/2014/main" id="{87E490B9-3D48-4FE9-8E03-03779CD8C710}"/>
              </a:ext>
            </a:extLst>
          </p:cNvPr>
          <p:cNvSpPr>
            <a:spLocks xmlns:a="http://schemas.openxmlformats.org/drawingml/2006/main" noGrp="1"/>
          </p:cNvSpPr>
          <p:nvPr/>
        </p:nvSpPr>
        <p:spPr>
          <a:xfrm xmlns:a="http://schemas.openxmlformats.org/drawingml/2006/main">
            <a:off x="1238250" y="413385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448"/>
                </a:solidFill>
                <a:latin typeface="Helvetica Neue"/>
                <a:ea typeface="Helvetica Neue"/>
                <a:cs typeface="Helvetica Neue"/>
              </a:defRPr>
            </a:pPr>
            <a:r>
              <a:rPr sz="1800" b="0">
                <a:solidFill>
                  <a:srgbClr val="193448"/>
                </a:solidFill>
                <a:latin typeface="Helvetica Neue"/>
                <a:ea typeface="Helvetica Neue"/>
                <a:cs typeface="Helvetica Neue"/>
              </a:rPr>
              <a:t>marketplace.zoom.us / Developers / Created Apps / + / Build an app</a:t>
            </a:r>
          </a:p>
        </p:txBody>
      </p:sp>
      <p:sp>
        <p:nvSpPr>
          <p:cNvPr id="11" name="">
            <a:extLst xmlns:a="http://schemas.openxmlformats.org/drawingml/2006/main">
              <a:ext uri="{FF2B5EF4-FFF2-40B4-BE49-F238E27FC236}">
                <a16:creationId xmlns:a16="http://schemas.microsoft.com/office/drawing/2014/main" id="{815B9054-A8D5-4282-9A22-E962DA37D992}"/>
              </a:ext>
            </a:extLst>
          </p:cNvPr>
          <p:cNvSpPr>
            <a:spLocks xmlns:a="http://schemas.openxmlformats.org/drawingml/2006/main" noGrp="1"/>
          </p:cNvSpPr>
          <p:nvPr/>
        </p:nvSpPr>
        <p:spPr>
          <a:xfrm xmlns:a="http://schemas.openxmlformats.org/drawingml/2006/main">
            <a:off x="628650" y="47434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7A77"/>
                </a:solidFill>
                <a:latin typeface="Helvetica Neue"/>
                <a:ea typeface="Helvetica Neue"/>
                <a:cs typeface="Helvetica Neue"/>
              </a:defRPr>
            </a:pPr>
            <a:r>
              <a:rPr sz="2550" b="1">
                <a:solidFill>
                  <a:srgbClr val="197A77"/>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C38DDBA7-8895-4916-882F-7B98487766C5}"/>
              </a:ext>
            </a:extLst>
          </p:cNvPr>
          <p:cNvSpPr>
            <a:spLocks xmlns:a="http://schemas.openxmlformats.org/drawingml/2006/main" noGrp="1"/>
          </p:cNvSpPr>
          <p:nvPr/>
        </p:nvSpPr>
        <p:spPr>
          <a:xfrm xmlns:a="http://schemas.openxmlformats.org/drawingml/2006/main">
            <a:off x="1238250" y="4743450"/>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3448"/>
                </a:solidFill>
                <a:latin typeface="Helvetica Neue"/>
                <a:ea typeface="Helvetica Neue"/>
                <a:cs typeface="Helvetica Neue"/>
              </a:defRPr>
            </a:pPr>
            <a:r>
              <a:rPr sz="2175" b="1">
                <a:solidFill>
                  <a:srgbClr val="193448"/>
                </a:solidFill>
                <a:latin typeface="Helvetica Neue"/>
                <a:ea typeface="Helvetica Neue"/>
                <a:cs typeface="Helvetica Neue"/>
              </a:rPr>
              <a:t>Choose “Server-to-Server OAuth”</a:t>
            </a:r>
          </a:p>
        </p:txBody>
      </p:sp>
      <p:sp>
        <p:nvSpPr>
          <p:cNvPr id="13" name="">
            <a:extLst xmlns:a="http://schemas.openxmlformats.org/drawingml/2006/main">
              <a:ext uri="{FF2B5EF4-FFF2-40B4-BE49-F238E27FC236}">
                <a16:creationId xmlns:a16="http://schemas.microsoft.com/office/drawing/2014/main" id="{834064AF-2BCD-431A-95F2-A7B55B1A6CA0}"/>
              </a:ext>
            </a:extLst>
          </p:cNvPr>
          <p:cNvSpPr>
            <a:spLocks xmlns:a="http://schemas.openxmlformats.org/drawingml/2006/main" noGrp="1"/>
          </p:cNvSpPr>
          <p:nvPr/>
        </p:nvSpPr>
        <p:spPr>
          <a:xfrm xmlns:a="http://schemas.openxmlformats.org/drawingml/2006/main">
            <a:off x="1238250" y="516255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93448"/>
                </a:solidFill>
                <a:latin typeface="Helvetica Neue"/>
                <a:ea typeface="Helvetica Neue"/>
                <a:cs typeface="Helvetica Neue"/>
              </a:defRPr>
            </a:pPr>
            <a:r>
              <a:rPr sz="1800" b="0">
                <a:solidFill>
                  <a:srgbClr val="193448"/>
                </a:solidFill>
                <a:latin typeface="Helvetica Neue"/>
                <a:ea typeface="Helvetica Neue"/>
                <a:cs typeface="Helvetica Neue"/>
              </a:rPr>
              <a:t>Suggested name: WMKF Meeting Recordings. Add the company and contact details.</a:t>
            </a:r>
          </a:p>
        </p:txBody>
      </p:sp>
      <p:sp>
        <p:nvSpPr>
          <p:cNvPr id="14" name="">
            <a:extLst xmlns:a="http://schemas.openxmlformats.org/drawingml/2006/main">
              <a:ext uri="{FF2B5EF4-FFF2-40B4-BE49-F238E27FC236}">
                <a16:creationId xmlns:a16="http://schemas.microsoft.com/office/drawing/2014/main" id="{3AC09C7B-955B-486F-948F-BD8976036A4F}"/>
              </a:ext>
            </a:extLst>
          </p:cNvPr>
          <p:cNvSpPr>
            <a:spLocks xmlns:a="http://schemas.openxmlformats.org/drawingml/2006/main" noGrp="1"/>
          </p:cNvSpPr>
          <p:nvPr/>
        </p:nvSpPr>
        <p:spPr>
          <a:xfrm xmlns:a="http://schemas.openxmlformats.org/drawingml/2006/main">
            <a:off x="609600" y="5915025"/>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5"/>
                </a:solidFill>
                <a:latin typeface="Helvetica Neue"/>
                <a:ea typeface="Helvetica Neue"/>
                <a:cs typeface="Helvetica Neue"/>
              </a:defRPr>
            </a:pPr>
            <a:r>
              <a:rPr sz="1650" b="0">
                <a:solidFill>
                  <a:srgbClr val="526575"/>
                </a:solidFill>
                <a:latin typeface="Helvetica Neue"/>
                <a:ea typeface="Helvetica Neue"/>
                <a:cs typeface="Helvetica Neue"/>
              </a:rPr>
              <a:t>After setup, the app connects automatically. Duncan does not need the shared account password or a 2FA code for each import.</a:t>
            </a:r>
          </a:p>
        </p:txBody>
      </p:sp>
    </p:spTree>
    <p:extLst>
      <p:ext uri="{BB962C8B-B14F-4D97-AF65-F5344CB8AC3E}">
        <p14:creationId xmlns:p14="http://schemas.microsoft.com/office/powerpoint/2010/main" val="567486256"/>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3FDEA69-29E5-4BD2-8333-DAB98A665548}"/>
              </a:ext>
            </a:extLst>
          </p:cNvPr>
          <p:cNvSpPr>
            <a:spLocks xmlns:a="http://schemas.openxmlformats.org/drawingml/2006/main" noGrp="1"/>
          </p:cNvSpPr>
          <p:nvPr/>
        </p:nvSpPr>
        <p:spPr>
          <a:xfrm xmlns:a="http://schemas.openxmlformats.org/drawingml/2006/main">
            <a:off x="609600" y="30480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5"/>
                </a:solidFill>
                <a:latin typeface="Helvetica Neue"/>
                <a:ea typeface="Helvetica Neue"/>
                <a:cs typeface="Helvetica Neue"/>
              </a:defRPr>
            </a:pPr>
            <a:r>
              <a:rPr sz="1350" b="0">
                <a:solidFill>
                  <a:srgbClr val="526575"/>
                </a:solidFill>
                <a:latin typeface="Helvetica Neue"/>
                <a:ea typeface="Helvetica Neue"/>
                <a:cs typeface="Helvetica Neue"/>
              </a:rPr>
              <a:t>WMKF  /  ZOOM ADMIN MEETING  /  OCTOBER 8, 2026</a:t>
            </a:r>
          </a:p>
        </p:txBody>
      </p:sp>
      <p:sp>
        <p:nvSpPr>
          <p:cNvPr id="2" name="">
            <a:extLst xmlns:a="http://schemas.openxmlformats.org/drawingml/2006/main">
              <a:ext uri="{FF2B5EF4-FFF2-40B4-BE49-F238E27FC236}">
                <a16:creationId xmlns:a16="http://schemas.microsoft.com/office/drawing/2014/main" id="{4A182174-3143-458C-B0E8-5FA99C9C1CDD}"/>
              </a:ext>
            </a:extLst>
          </p:cNvPr>
          <p:cNvSpPr>
            <a:spLocks xmlns:a="http://schemas.openxmlformats.org/drawingml/2006/main" noGrp="1"/>
          </p:cNvSpPr>
          <p:nvPr/>
        </p:nvSpPr>
        <p:spPr>
          <a:xfrm xmlns:a="http://schemas.openxmlformats.org/drawingml/2006/main">
            <a:off x="609600" y="8667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8"/>
                </a:solidFill>
                <a:latin typeface="Helvetica Neue"/>
                <a:ea typeface="Helvetica Neue"/>
                <a:cs typeface="Helvetica Neue"/>
              </a:defRPr>
            </a:pPr>
            <a:r>
              <a:rPr sz="3300" b="1">
                <a:solidFill>
                  <a:srgbClr val="193448"/>
                </a:solidFill>
                <a:latin typeface="Helvetica Neue"/>
                <a:ea typeface="Helvetica Neue"/>
                <a:cs typeface="Helvetica Neue"/>
              </a:rPr>
              <a:t>Permissions and the first import test</a:t>
            </a:r>
          </a:p>
        </p:txBody>
      </p:sp>
      <p:sp>
        <p:nvSpPr>
          <p:cNvPr id="3" name="">
            <a:extLst xmlns:a="http://schemas.openxmlformats.org/drawingml/2006/main">
              <a:ext uri="{FF2B5EF4-FFF2-40B4-BE49-F238E27FC236}">
                <a16:creationId xmlns:a16="http://schemas.microsoft.com/office/drawing/2014/main" id="{C7B3E504-E888-4086-854E-8E44C4418CEF}"/>
              </a:ext>
            </a:extLst>
          </p:cNvPr>
          <p:cNvSpPr>
            <a:spLocks xmlns:a="http://schemas.openxmlformats.org/drawingml/2006/main" noGrp="1"/>
          </p:cNvSpPr>
          <p:nvPr/>
        </p:nvSpPr>
        <p:spPr>
          <a:xfrm xmlns:a="http://schemas.openxmlformats.org/drawingml/2006/main">
            <a:off x="10953750" y="6391275"/>
            <a:ext cx="619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575"/>
                </a:solidFill>
                <a:latin typeface="Helvetica Neue"/>
                <a:ea typeface="Helvetica Neue"/>
                <a:cs typeface="Helvetica Neue"/>
              </a:defRPr>
            </a:pPr>
            <a:r>
              <a:rPr sz="1275" b="0">
                <a:solidFill>
                  <a:srgbClr val="526575"/>
                </a:solidFill>
                <a:latin typeface="Helvetica Neue"/>
                <a:ea typeface="Helvetica Neue"/>
                <a:cs typeface="Helvetica Neue"/>
              </a:rPr>
              <a:t>2 / 2</a:t>
            </a:r>
          </a:p>
        </p:txBody>
      </p:sp>
      <p:sp>
        <p:nvSpPr>
          <p:cNvPr id="4" name="">
            <a:extLst xmlns:a="http://schemas.openxmlformats.org/drawingml/2006/main">
              <a:ext uri="{FF2B5EF4-FFF2-40B4-BE49-F238E27FC236}">
                <a16:creationId xmlns:a16="http://schemas.microsoft.com/office/drawing/2014/main" id="{1748D9E7-DF6C-495B-A684-2C9961C036DB}"/>
              </a:ext>
            </a:extLst>
          </p:cNvPr>
          <p:cNvSpPr>
            <a:spLocks xmlns:a="http://schemas.openxmlformats.org/drawingml/2006/main" noGrp="1"/>
          </p:cNvSpPr>
          <p:nvPr/>
        </p:nvSpPr>
        <p:spPr>
          <a:xfrm xmlns:a="http://schemas.openxmlformats.org/drawingml/2006/main">
            <a:off x="628650" y="17526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7A77"/>
                </a:solidFill>
                <a:latin typeface="Helvetica Neue"/>
                <a:ea typeface="Helvetica Neue"/>
                <a:cs typeface="Helvetica Neue"/>
              </a:defRPr>
            </a:pPr>
            <a:r>
              <a:rPr sz="2550" b="1">
                <a:solidFill>
                  <a:srgbClr val="197A77"/>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6DBF9F9B-14E4-4F53-9B93-2856DE044925}"/>
              </a:ext>
            </a:extLst>
          </p:cNvPr>
          <p:cNvSpPr>
            <a:spLocks xmlns:a="http://schemas.openxmlformats.org/drawingml/2006/main" noGrp="1"/>
          </p:cNvSpPr>
          <p:nvPr/>
        </p:nvSpPr>
        <p:spPr>
          <a:xfrm xmlns:a="http://schemas.openxmlformats.org/drawingml/2006/main">
            <a:off x="1238250" y="1752600"/>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3448"/>
                </a:solidFill>
                <a:latin typeface="Helvetica Neue"/>
                <a:ea typeface="Helvetica Neue"/>
                <a:cs typeface="Helvetica Neue"/>
              </a:defRPr>
            </a:pPr>
            <a:r>
              <a:rPr sz="2175" b="1">
                <a:solidFill>
                  <a:srgbClr val="193448"/>
                </a:solidFill>
                <a:latin typeface="Helvetica Neue"/>
                <a:ea typeface="Helvetica Neue"/>
                <a:cs typeface="Helvetica Neue"/>
              </a:rPr>
              <a:t>Add recording read permissions</a:t>
            </a:r>
          </a:p>
        </p:txBody>
      </p:sp>
      <p:sp>
        <p:nvSpPr>
          <p:cNvPr id="6" name="">
            <a:extLst xmlns:a="http://schemas.openxmlformats.org/drawingml/2006/main">
              <a:ext uri="{FF2B5EF4-FFF2-40B4-BE49-F238E27FC236}">
                <a16:creationId xmlns:a16="http://schemas.microsoft.com/office/drawing/2014/main" id="{13C5B80B-9B57-4FAD-A128-50A6C2A6FA00}"/>
              </a:ext>
            </a:extLst>
          </p:cNvPr>
          <p:cNvSpPr>
            <a:spLocks xmlns:a="http://schemas.openxmlformats.org/drawingml/2006/main" noGrp="1"/>
          </p:cNvSpPr>
          <p:nvPr/>
        </p:nvSpPr>
        <p:spPr>
          <a:xfrm xmlns:a="http://schemas.openxmlformats.org/drawingml/2006/main">
            <a:off x="1238250" y="2171700"/>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448"/>
                </a:solidFill>
                <a:latin typeface="Helvetica Neue"/>
                <a:ea typeface="Helvetica Neue"/>
                <a:cs typeface="Helvetica Neue"/>
              </a:defRPr>
            </a:pPr>
            <a:r>
              <a:rPr sz="1875" b="0">
                <a:solidFill>
                  <a:srgbClr val="193448"/>
                </a:solidFill>
                <a:latin typeface="Helvetica Neue"/>
                <a:ea typeface="Helvetica Neue"/>
                <a:cs typeface="Helvetica Neue"/>
              </a:rPr>
              <a:t>Under Scopes, allow listing a host’s cloud recordings and reading their files.</a:t>
            </a:r>
          </a:p>
        </p:txBody>
      </p:sp>
      <p:sp>
        <p:nvSpPr>
          <p:cNvPr id="7" name="">
            <a:extLst xmlns:a="http://schemas.openxmlformats.org/drawingml/2006/main">
              <a:ext uri="{FF2B5EF4-FFF2-40B4-BE49-F238E27FC236}">
                <a16:creationId xmlns:a16="http://schemas.microsoft.com/office/drawing/2014/main" id="{CAA72099-7CFB-43C9-A0FA-B00DEA5E3175}"/>
              </a:ext>
            </a:extLst>
          </p:cNvPr>
          <p:cNvSpPr>
            <a:spLocks xmlns:a="http://schemas.openxmlformats.org/drawingml/2006/main" noGrp="1"/>
          </p:cNvSpPr>
          <p:nvPr/>
        </p:nvSpPr>
        <p:spPr>
          <a:xfrm xmlns:a="http://schemas.openxmlformats.org/drawingml/2006/main">
            <a:off x="628650" y="28765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7A77"/>
                </a:solidFill>
                <a:latin typeface="Helvetica Neue"/>
                <a:ea typeface="Helvetica Neue"/>
                <a:cs typeface="Helvetica Neue"/>
              </a:defRPr>
            </a:pPr>
            <a:r>
              <a:rPr sz="2550" b="1">
                <a:solidFill>
                  <a:srgbClr val="197A77"/>
                </a:solidFill>
                <a:latin typeface="Helvetica Neue"/>
                <a:ea typeface="Helvetica Neue"/>
                <a:cs typeface="Helvetica Neue"/>
              </a:rPr>
              <a:t>5</a:t>
            </a:r>
          </a:p>
        </p:txBody>
      </p:sp>
      <p:sp>
        <p:nvSpPr>
          <p:cNvPr id="8" name="">
            <a:extLst xmlns:a="http://schemas.openxmlformats.org/drawingml/2006/main">
              <a:ext uri="{FF2B5EF4-FFF2-40B4-BE49-F238E27FC236}">
                <a16:creationId xmlns:a16="http://schemas.microsoft.com/office/drawing/2014/main" id="{38B5AB1E-C9A0-46F5-BE45-DBD46D1D098A}"/>
              </a:ext>
            </a:extLst>
          </p:cNvPr>
          <p:cNvSpPr>
            <a:spLocks xmlns:a="http://schemas.openxmlformats.org/drawingml/2006/main" noGrp="1"/>
          </p:cNvSpPr>
          <p:nvPr/>
        </p:nvSpPr>
        <p:spPr>
          <a:xfrm xmlns:a="http://schemas.openxmlformats.org/drawingml/2006/main">
            <a:off x="1238250" y="2876550"/>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3448"/>
                </a:solidFill>
                <a:latin typeface="Helvetica Neue"/>
                <a:ea typeface="Helvetica Neue"/>
                <a:cs typeface="Helvetica Neue"/>
              </a:defRPr>
            </a:pPr>
            <a:r>
              <a:rPr sz="2175" b="1">
                <a:solidFill>
                  <a:srgbClr val="193448"/>
                </a:solidFill>
                <a:latin typeface="Helvetica Neue"/>
                <a:ea typeface="Helvetica Neue"/>
                <a:cs typeface="Helvetica Neue"/>
              </a:rPr>
              <a:t>Activate and arrange a secure handoff</a:t>
            </a:r>
          </a:p>
        </p:txBody>
      </p:sp>
      <p:sp>
        <p:nvSpPr>
          <p:cNvPr id="9" name="">
            <a:extLst xmlns:a="http://schemas.openxmlformats.org/drawingml/2006/main">
              <a:ext uri="{FF2B5EF4-FFF2-40B4-BE49-F238E27FC236}">
                <a16:creationId xmlns:a16="http://schemas.microsoft.com/office/drawing/2014/main" id="{410BFC2B-95B5-4AE3-B445-D6C0ECD9DB94}"/>
              </a:ext>
            </a:extLst>
          </p:cNvPr>
          <p:cNvSpPr>
            <a:spLocks xmlns:a="http://schemas.openxmlformats.org/drawingml/2006/main" noGrp="1"/>
          </p:cNvSpPr>
          <p:nvPr/>
        </p:nvSpPr>
        <p:spPr>
          <a:xfrm xmlns:a="http://schemas.openxmlformats.org/drawingml/2006/main">
            <a:off x="1238250" y="3295650"/>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448"/>
                </a:solidFill>
                <a:latin typeface="Helvetica Neue"/>
                <a:ea typeface="Helvetica Neue"/>
                <a:cs typeface="Helvetica Neue"/>
              </a:defRPr>
            </a:pPr>
            <a:r>
              <a:rPr sz="1875" b="0">
                <a:solidFill>
                  <a:srgbClr val="193448"/>
                </a:solidFill>
                <a:latin typeface="Helvetica Neue"/>
                <a:ea typeface="Helvetica Neue"/>
                <a:cs typeface="Helvetica Neue"/>
              </a:rPr>
              <a:t>Give the app maintainer the Account ID, Client ID and Client Secret through an approved secure channel.</a:t>
            </a:r>
          </a:p>
        </p:txBody>
      </p:sp>
      <p:sp>
        <p:nvSpPr>
          <p:cNvPr id="10" name="">
            <a:extLst xmlns:a="http://schemas.openxmlformats.org/drawingml/2006/main">
              <a:ext uri="{FF2B5EF4-FFF2-40B4-BE49-F238E27FC236}">
                <a16:creationId xmlns:a16="http://schemas.microsoft.com/office/drawing/2014/main" id="{5D144BEC-886C-4349-89C6-1E527AB8D47B}"/>
              </a:ext>
            </a:extLst>
          </p:cNvPr>
          <p:cNvSpPr>
            <a:spLocks xmlns:a="http://schemas.openxmlformats.org/drawingml/2006/main" noGrp="1"/>
          </p:cNvSpPr>
          <p:nvPr/>
        </p:nvSpPr>
        <p:spPr>
          <a:xfrm xmlns:a="http://schemas.openxmlformats.org/drawingml/2006/main">
            <a:off x="628650" y="40005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7A77"/>
                </a:solidFill>
                <a:latin typeface="Helvetica Neue"/>
                <a:ea typeface="Helvetica Neue"/>
                <a:cs typeface="Helvetica Neue"/>
              </a:defRPr>
            </a:pPr>
            <a:r>
              <a:rPr sz="2550" b="1">
                <a:solidFill>
                  <a:srgbClr val="197A77"/>
                </a:solidFill>
                <a:latin typeface="Helvetica Neue"/>
                <a:ea typeface="Helvetica Neue"/>
                <a:cs typeface="Helvetica Neue"/>
              </a:rPr>
              <a:t>6</a:t>
            </a:r>
          </a:p>
        </p:txBody>
      </p:sp>
      <p:sp>
        <p:nvSpPr>
          <p:cNvPr id="11" name="">
            <a:extLst xmlns:a="http://schemas.openxmlformats.org/drawingml/2006/main">
              <a:ext uri="{FF2B5EF4-FFF2-40B4-BE49-F238E27FC236}">
                <a16:creationId xmlns:a16="http://schemas.microsoft.com/office/drawing/2014/main" id="{DEE17F36-ECC4-4AD9-A747-8420AF8D9116}"/>
              </a:ext>
            </a:extLst>
          </p:cNvPr>
          <p:cNvSpPr>
            <a:spLocks xmlns:a="http://schemas.openxmlformats.org/drawingml/2006/main" noGrp="1"/>
          </p:cNvSpPr>
          <p:nvPr/>
        </p:nvSpPr>
        <p:spPr>
          <a:xfrm xmlns:a="http://schemas.openxmlformats.org/drawingml/2006/main">
            <a:off x="1238250" y="4000500"/>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3448"/>
                </a:solidFill>
                <a:latin typeface="Helvetica Neue"/>
                <a:ea typeface="Helvetica Neue"/>
                <a:cs typeface="Helvetica Neue"/>
              </a:defRPr>
            </a:pPr>
            <a:r>
              <a:rPr sz="2175" b="1">
                <a:solidFill>
                  <a:srgbClr val="193448"/>
                </a:solidFill>
                <a:latin typeface="Helvetica Neue"/>
                <a:ea typeface="Helvetica Neue"/>
                <a:cs typeface="Helvetica Neue"/>
              </a:rPr>
              <a:t>Choose one recording to test</a:t>
            </a:r>
          </a:p>
        </p:txBody>
      </p:sp>
      <p:sp>
        <p:nvSpPr>
          <p:cNvPr id="12" name="">
            <a:extLst xmlns:a="http://schemas.openxmlformats.org/drawingml/2006/main">
              <a:ext uri="{FF2B5EF4-FFF2-40B4-BE49-F238E27FC236}">
                <a16:creationId xmlns:a16="http://schemas.microsoft.com/office/drawing/2014/main" id="{CDFDC180-8DB4-47A0-96DC-F31E7BCEBE35}"/>
              </a:ext>
            </a:extLst>
          </p:cNvPr>
          <p:cNvSpPr>
            <a:spLocks xmlns:a="http://schemas.openxmlformats.org/drawingml/2006/main" noGrp="1"/>
          </p:cNvSpPr>
          <p:nvPr/>
        </p:nvSpPr>
        <p:spPr>
          <a:xfrm xmlns:a="http://schemas.openxmlformats.org/drawingml/2006/main">
            <a:off x="1238250" y="4419600"/>
            <a:ext cx="1000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448"/>
                </a:solidFill>
                <a:latin typeface="Helvetica Neue"/>
                <a:ea typeface="Helvetica Neue"/>
                <a:cs typeface="Helvetica Neue"/>
              </a:defRPr>
            </a:pPr>
            <a:r>
              <a:rPr sz="1875" b="0">
                <a:solidFill>
                  <a:srgbClr val="193448"/>
                </a:solidFill>
                <a:latin typeface="Helvetica Neue"/>
                <a:ea typeface="Helvetica Neue"/>
                <a:cs typeface="Helvetica Neue"/>
              </a:rPr>
              <a:t>Confirm the host account and a meeting with video, audio and captions available.</a:t>
            </a:r>
          </a:p>
        </p:txBody>
      </p:sp>
      <p:sp>
        <p:nvSpPr>
          <p:cNvPr id="13" name="">
            <a:extLst xmlns:a="http://schemas.openxmlformats.org/drawingml/2006/main">
              <a:ext uri="{FF2B5EF4-FFF2-40B4-BE49-F238E27FC236}">
                <a16:creationId xmlns:a16="http://schemas.microsoft.com/office/drawing/2014/main" id="{39BE540F-69F8-464E-AF4D-9F40420492E3}"/>
              </a:ext>
            </a:extLst>
          </p:cNvPr>
          <p:cNvSpPr>
            <a:spLocks xmlns:a="http://schemas.openxmlformats.org/drawingml/2006/main" noGrp="1"/>
          </p:cNvSpPr>
          <p:nvPr/>
        </p:nvSpPr>
        <p:spPr>
          <a:xfrm xmlns:a="http://schemas.openxmlformats.org/drawingml/2006/main">
            <a:off x="609600" y="5257800"/>
            <a:ext cx="1057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3448"/>
                </a:solidFill>
                <a:latin typeface="Helvetica Neue"/>
                <a:ea typeface="Helvetica Neue"/>
                <a:cs typeface="Helvetica Neue"/>
              </a:defRPr>
            </a:pPr>
            <a:r>
              <a:rPr sz="2100" b="1">
                <a:solidFill>
                  <a:srgbClr val="193448"/>
                </a:solidFill>
                <a:latin typeface="Helvetica Neue"/>
                <a:ea typeface="Helvetica Neue"/>
                <a:cs typeface="Helvetica Neue"/>
              </a:rPr>
              <a:t>Decision to capture: Zoom’s deletion settings</a:t>
            </a:r>
          </a:p>
        </p:txBody>
      </p:sp>
      <p:sp>
        <p:nvSpPr>
          <p:cNvPr id="14" name="">
            <a:extLst xmlns:a="http://schemas.openxmlformats.org/drawingml/2006/main">
              <a:ext uri="{FF2B5EF4-FFF2-40B4-BE49-F238E27FC236}">
                <a16:creationId xmlns:a16="http://schemas.microsoft.com/office/drawing/2014/main" id="{588DE2AF-6FD3-4F75-968A-4DA573D889F6}"/>
              </a:ext>
            </a:extLst>
          </p:cNvPr>
          <p:cNvSpPr>
            <a:spLocks xmlns:a="http://schemas.openxmlformats.org/drawingml/2006/main" noGrp="1"/>
          </p:cNvSpPr>
          <p:nvPr/>
        </p:nvSpPr>
        <p:spPr>
          <a:xfrm xmlns:a="http://schemas.openxmlformats.org/drawingml/2006/main">
            <a:off x="609600" y="57054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448"/>
                </a:solidFill>
                <a:latin typeface="Helvetica Neue"/>
                <a:ea typeface="Helvetica Neue"/>
                <a:cs typeface="Helvetica Neue"/>
              </a:defRPr>
            </a:pPr>
            <a:r>
              <a:rPr sz="1875" b="0">
                <a:solidFill>
                  <a:srgbClr val="193448"/>
                </a:solidFill>
                <a:latin typeface="Helvetica Neue"/>
                <a:ea typeface="Helvetica Neue"/>
                <a:cs typeface="Helvetica Neue"/>
              </a:rPr>
              <a:t>Ask whether deleted recordings enter Trash and remain recoverable for 30 days. Leave deletion access and settings unchanged for the first import test.</a:t>
            </a:r>
          </a:p>
        </p:txBody>
      </p:sp>
    </p:spTree>
    <p:extLst>
      <p:ext uri="{BB962C8B-B14F-4D97-AF65-F5344CB8AC3E}">
        <p14:creationId xmlns:p14="http://schemas.microsoft.com/office/powerpoint/2010/main" val="5068424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2026-10-08T02:34:23.7040000Z</dcterms:created>
  <dcterms:modified xsi:type="dcterms:W3CDTF">2026-10-08T02:34:23.7040000Z</dcterms:modified>
</coreProperties>
</file>