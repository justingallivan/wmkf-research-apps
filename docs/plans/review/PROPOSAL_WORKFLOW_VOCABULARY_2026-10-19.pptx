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62" r:id="rId2"/>
    <p:sldId id="263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4A206-12C8-FBDC-0CCD-5DE54FE8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59A3BA-AAF1-7435-F23E-5349B0845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E117EC-5E07-7E4E-8BD0-BFF056474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wording from source inventory in WMKF_Apps, October 19, 2026. Proposed names from user review in this chat. No app implementation is represented. The Scientific dossier label applies to the research product; collection naming remains available for later 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042FA-A1C8-6A26-EFEF-F75FF0AFC6E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2345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6517F-FE46-80A8-75F8-A64A250C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63B2C5-C5C4-51C3-F94A-91C3ABBDE2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522F8-C4D1-C2E7-8C8A-6535F049C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wording from source inventory in WMKF_Apps, October 19, 2026. Proposed names from user review in this chat. No app implementation is represented. The Scientific dossier label applies to the research product; collection naming remains available for later review.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A56BD-2AB4-57EE-E986-4D0F37E628C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072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Schematic mockups, not production screenshots. Current labels verified from shared/components/workbench/StaffDeliberationsTab.js; pages/external/briefing/[token].js; shared/components/meeting-tracker/ProgramBriefingView.js; DiscussionSentimentView.js. Proposed labels reflect the vocabulary discussion with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Schematic mockups, not production screenshots. Current labels verified from shared/components/workbench/StaffDeliberationsTab.js; pages/external/briefing/[token].js; shared/components/meeting-tracker/ProgramBriefingView.js; DiscussionSentimentView.js. Proposed labels reflect the vocabulary discussion with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Schematic mockups, not production screenshots. Current labels verified from shared/components/workbench/StaffDeliberationsTab.js; pages/external/briefing/[token].js; shared/components/meeting-tracker/ProgramBriefingView.js; DiscussionSentimentView.js. Proposed labels reflect the vocabulary discussion with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wording from source inventory in WMKF_Apps, October 19, 2026. Proposed names from user review in this chat. No app implementation is represented. The Scientific dossier label applies to the research product; collection naming remains available for later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Current wording from source inventory in WMKF_Apps, October 19, 2026. Proposed names from user review in this chat. No app implementation is represented. The Scientific dossier label applies to the research product; collection naming remains available for later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4B7C7EC-FE00-42F0-AFC9-FBA634F9B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68C9617-BA88-4EFA-A745-B10D1240B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6880B200-0DE4-4C82-8962-972A5E66D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7F99695-CC95-4266-B9FB-4F5D0EA00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8823E27-B861-4035-A542-4431E2E7B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1E86074A-43C2-4206-8033-A4439D31D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44806BA3-C959-488D-814B-BD46A7134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15F6119A-25E3-4C74-BF63-E7720AF0DF0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BB59E0E-E047-48CD-B611-B2EFCE85E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D5AD325-75CC-444A-9188-C37A61315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81E9-DE9A-D71D-95FF-0A18CCC7E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9C954CE-0EA7-F158-C1FE-43C23C41BD2B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Vocabulary: preparation and meetings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5DEEE2-BD0A-7936-828F-333C3EA50891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Full proposed vocabulary for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ACA872-800A-5F72-038A-BB128EE8EA6F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0FC997-82F5-69BA-C52F-480AB4926CBB}"/>
              </a:ext>
            </a:extLst>
          </p:cNvPr>
          <p:cNvGraphicFramePr/>
          <p:nvPr/>
        </p:nvGraphicFramePr>
        <p:xfrm>
          <a:off x="533400" y="1809750"/>
          <a:ext cx="11125200" cy="41719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CURRENT WORDING / EXAMPLES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PROPOSED NAME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Workspace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Staff Deliberations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Staff Deliberations (keep)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Meeting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Deliberation session / Pre-discussion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Proposal discussion session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Meeting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Site visit / Presentation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Research presentation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Discussion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Staff discussion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discussion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Document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Pre-site briefing / Pre-RP Brief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Proposal discussion brief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Shared page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Deliberation briefing / Briefing page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Proposal review packet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Agenda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Deliberation session agenda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Discussion session agenda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Materials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Site visit materials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Presentation materials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843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00569-EBAD-94BD-8F63-F6A0D47CC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A72D8B4-7A80-8360-06A5-C641FC50EAA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Vocabulary: follow-up and summaries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B6AE4E-1D52-6BC4-0C74-84F9584E1051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Full proposed vocabulary for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FEB801-1721-C951-8497-5243E51D7294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F6172A0-0172-98EE-29E8-4F826275B4CE}"/>
              </a:ext>
            </a:extLst>
          </p:cNvPr>
          <p:cNvGraphicFramePr/>
          <p:nvPr/>
        </p:nvGraphicFramePr>
        <p:xfrm>
          <a:off x="533400" y="1809750"/>
          <a:ext cx="11125200" cy="41719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CURRENT WORDING / EXAMPLES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PROPOSED NAME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Recording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Post-presentation materials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Recording and transcripts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Document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Working writeup / Word Draft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writeup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Document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Final Writeup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Final writeup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Summary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Presentation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Presentation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Summary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Staff discussion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discussion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Analysis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Discussion Sentiment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discussion sentiment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Collection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Program briefing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Discussion summaries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Research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Cycle Dossier / Scientific briefing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Scientific dossier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522148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E28D76-899B-436F-B9E4-D9DFF70816C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Workbench: a document and a meeting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C9595F-66EC-4D3C-9DAD-49C887A68D0B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Staff Deliberations remains the request tab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92F67E-C6A4-417A-9B19-8057212D0877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2330B4-8693-4181-8181-3553C3A8E767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596974"/>
                </a:solidFill>
              </a:defRPr>
            </a:defPPr>
            <a:lvl1pPr>
              <a:defRPr sz="1350" b="1">
                <a:solidFill>
                  <a:srgbClr val="596974"/>
                </a:solidFill>
              </a:defRPr>
            </a:lvl1pPr>
            <a:lvl2pPr>
              <a:defRPr sz="1350" b="1">
                <a:solidFill>
                  <a:srgbClr val="596974"/>
                </a:solidFill>
              </a:defRPr>
            </a:lvl2pPr>
            <a:lvl3pPr>
              <a:defRPr sz="1350" b="1">
                <a:solidFill>
                  <a:srgbClr val="596974"/>
                </a:solidFill>
              </a:defRPr>
            </a:lvl3pPr>
            <a:lvl4pPr>
              <a:defRPr sz="1350" b="1">
                <a:solidFill>
                  <a:srgbClr val="596974"/>
                </a:solidFill>
              </a:defRPr>
            </a:lvl4pPr>
            <a:lvl5pPr>
              <a:defRPr sz="1350" b="1">
                <a:solidFill>
                  <a:srgbClr val="596974"/>
                </a:solidFill>
              </a:defRPr>
            </a:lvl5pPr>
            <a:lvl6pPr>
              <a:defRPr sz="1350" b="1">
                <a:solidFill>
                  <a:srgbClr val="596974"/>
                </a:solidFill>
              </a:defRPr>
            </a:lvl6pPr>
            <a:lvl7pPr>
              <a:defRPr sz="1350" b="1">
                <a:solidFill>
                  <a:srgbClr val="596974"/>
                </a:solidFill>
              </a:defRPr>
            </a:lvl7pPr>
            <a:lvl8pPr>
              <a:defRPr sz="1350" b="1">
                <a:solidFill>
                  <a:srgbClr val="596974"/>
                </a:solidFill>
              </a:defRPr>
            </a:lvl8pPr>
            <a:lvl9pPr>
              <a:defRPr sz="1350" b="1">
                <a:solidFill>
                  <a:srgbClr val="596974"/>
                </a:solidFill>
              </a:defRPr>
            </a:lvl9pPr>
          </a:lstStyle>
          <a:p>
            <a:pPr>
              <a:defRPr sz="1350" b="1">
                <a:solidFill>
                  <a:srgbClr val="596974"/>
                </a:solidFill>
              </a:defRPr>
            </a:pPr>
            <a:r>
              <a:rPr sz="1350" b="1">
                <a:solidFill>
                  <a:srgbClr val="596974"/>
                </a:solidFill>
              </a:rPr>
              <a:t>BEFORE · CURRENT WORDING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6E9806-0E36-4210-9C7F-EB1EA6DE4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901" y="1943100"/>
            <a:ext cx="5313947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7AB6719-1027-4DF0-B640-E83D4EF7C42B}"/>
              </a:ext>
            </a:extLst>
          </p:cNvPr>
          <p:cNvSpPr>
            <a:spLocks noGrp="1"/>
          </p:cNvSpPr>
          <p:nvPr/>
        </p:nvSpPr>
        <p:spPr>
          <a:xfrm>
            <a:off x="6343650" y="157162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236650"/>
                </a:solidFill>
              </a:defRPr>
            </a:defPPr>
            <a:lvl1pPr>
              <a:defRPr sz="1350" b="1">
                <a:solidFill>
                  <a:srgbClr val="236650"/>
                </a:solidFill>
              </a:defRPr>
            </a:lvl1pPr>
            <a:lvl2pPr>
              <a:defRPr sz="1350" b="1">
                <a:solidFill>
                  <a:srgbClr val="236650"/>
                </a:solidFill>
              </a:defRPr>
            </a:lvl2pPr>
            <a:lvl3pPr>
              <a:defRPr sz="1350" b="1">
                <a:solidFill>
                  <a:srgbClr val="236650"/>
                </a:solidFill>
              </a:defRPr>
            </a:lvl3pPr>
            <a:lvl4pPr>
              <a:defRPr sz="1350" b="1">
                <a:solidFill>
                  <a:srgbClr val="236650"/>
                </a:solidFill>
              </a:defRPr>
            </a:lvl4pPr>
            <a:lvl5pPr>
              <a:defRPr sz="1350" b="1">
                <a:solidFill>
                  <a:srgbClr val="236650"/>
                </a:solidFill>
              </a:defRPr>
            </a:lvl5pPr>
            <a:lvl6pPr>
              <a:defRPr sz="1350" b="1">
                <a:solidFill>
                  <a:srgbClr val="236650"/>
                </a:solidFill>
              </a:defRPr>
            </a:lvl6pPr>
            <a:lvl7pPr>
              <a:defRPr sz="1350" b="1">
                <a:solidFill>
                  <a:srgbClr val="236650"/>
                </a:solidFill>
              </a:defRPr>
            </a:lvl7pPr>
            <a:lvl8pPr>
              <a:defRPr sz="1350" b="1">
                <a:solidFill>
                  <a:srgbClr val="236650"/>
                </a:solidFill>
              </a:defRPr>
            </a:lvl8pPr>
            <a:lvl9pPr>
              <a:defRPr sz="1350" b="1">
                <a:solidFill>
                  <a:srgbClr val="236650"/>
                </a:solidFill>
              </a:defRPr>
            </a:lvl9pPr>
          </a:lstStyle>
          <a:p>
            <a:pPr>
              <a:defRPr sz="1350" b="1">
                <a:solidFill>
                  <a:srgbClr val="236650"/>
                </a:solidFill>
              </a:defRPr>
            </a:pPr>
            <a:r>
              <a:rPr sz="1350" b="1">
                <a:solidFill>
                  <a:srgbClr val="236650"/>
                </a:solidFill>
              </a:rPr>
              <a:t>AFTER · PROPOSED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29E3B-B13F-4F04-B6C1-E584BF7C1E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4151" y="1943100"/>
            <a:ext cx="5313947" cy="4038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1FF72AA-13BC-4D05-9BA4-3F3DE8CA782A}"/>
              </a:ext>
            </a:extLst>
          </p:cNvPr>
          <p:cNvSpPr>
            <a:spLocks noGrp="1"/>
          </p:cNvSpPr>
          <p:nvPr/>
        </p:nvSpPr>
        <p:spPr>
          <a:xfrm>
            <a:off x="533400" y="6057900"/>
            <a:ext cx="11144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96974"/>
                </a:solidFill>
              </a:defRPr>
            </a:defPPr>
            <a:lvl1pPr>
              <a:defRPr sz="1500" b="0">
                <a:solidFill>
                  <a:srgbClr val="596974"/>
                </a:solidFill>
              </a:defRPr>
            </a:lvl1pPr>
            <a:lvl2pPr>
              <a:defRPr sz="1500" b="0">
                <a:solidFill>
                  <a:srgbClr val="596974"/>
                </a:solidFill>
              </a:defRPr>
            </a:lvl2pPr>
            <a:lvl3pPr>
              <a:defRPr sz="1500" b="0">
                <a:solidFill>
                  <a:srgbClr val="596974"/>
                </a:solidFill>
              </a:defRPr>
            </a:lvl3pPr>
            <a:lvl4pPr>
              <a:defRPr sz="1500" b="0">
                <a:solidFill>
                  <a:srgbClr val="596974"/>
                </a:solidFill>
              </a:defRPr>
            </a:lvl4pPr>
            <a:lvl5pPr>
              <a:defRPr sz="1500" b="0">
                <a:solidFill>
                  <a:srgbClr val="596974"/>
                </a:solidFill>
              </a:defRPr>
            </a:lvl5pPr>
            <a:lvl6pPr>
              <a:defRPr sz="1500" b="0">
                <a:solidFill>
                  <a:srgbClr val="596974"/>
                </a:solidFill>
              </a:defRPr>
            </a:lvl6pPr>
            <a:lvl7pPr>
              <a:defRPr sz="1500" b="0">
                <a:solidFill>
                  <a:srgbClr val="596974"/>
                </a:solidFill>
              </a:defRPr>
            </a:lvl7pPr>
            <a:lvl8pPr>
              <a:defRPr sz="1500" b="0">
                <a:solidFill>
                  <a:srgbClr val="596974"/>
                </a:solidFill>
              </a:defRPr>
            </a:lvl8pPr>
            <a:lvl9pPr>
              <a:defRPr sz="1500" b="0">
                <a:solidFill>
                  <a:srgbClr val="596974"/>
                </a:solidFill>
              </a:defRPr>
            </a:lvl9pPr>
          </a:lstStyle>
          <a:p>
            <a:pPr>
              <a:defRPr sz="1500" b="0">
                <a:solidFill>
                  <a:srgbClr val="596974"/>
                </a:solidFill>
              </a:defRPr>
            </a:pPr>
            <a:r>
              <a:rPr sz="1500" b="0">
                <a:solidFill>
                  <a:srgbClr val="596974"/>
                </a:solidFill>
              </a:rPr>
              <a:t>The brief is one authored document. The session covers multiple proposals.</a:t>
            </a:r>
          </a:p>
        </p:txBody>
      </p:sp>
    </p:spTree>
    <p:extLst>
      <p:ext uri="{BB962C8B-B14F-4D97-AF65-F5344CB8AC3E}">
        <p14:creationId xmlns:p14="http://schemas.microsoft.com/office/powerpoint/2010/main" val="159549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829256-B31C-4F11-889B-2693165BAA4C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Shared page: the packet contains the brief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F16B3D5-3DAD-4D42-A065-CF3F40FACADB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A distinct name for the collection of supporting materials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69B8CB-9025-4477-9199-35399DCD0AA8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E63D19-2233-4415-928C-18B6F701003B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596974"/>
                </a:solidFill>
              </a:defRPr>
            </a:defPPr>
            <a:lvl1pPr>
              <a:defRPr sz="1350" b="1">
                <a:solidFill>
                  <a:srgbClr val="596974"/>
                </a:solidFill>
              </a:defRPr>
            </a:lvl1pPr>
            <a:lvl2pPr>
              <a:defRPr sz="1350" b="1">
                <a:solidFill>
                  <a:srgbClr val="596974"/>
                </a:solidFill>
              </a:defRPr>
            </a:lvl2pPr>
            <a:lvl3pPr>
              <a:defRPr sz="1350" b="1">
                <a:solidFill>
                  <a:srgbClr val="596974"/>
                </a:solidFill>
              </a:defRPr>
            </a:lvl3pPr>
            <a:lvl4pPr>
              <a:defRPr sz="1350" b="1">
                <a:solidFill>
                  <a:srgbClr val="596974"/>
                </a:solidFill>
              </a:defRPr>
            </a:lvl4pPr>
            <a:lvl5pPr>
              <a:defRPr sz="1350" b="1">
                <a:solidFill>
                  <a:srgbClr val="596974"/>
                </a:solidFill>
              </a:defRPr>
            </a:lvl5pPr>
            <a:lvl6pPr>
              <a:defRPr sz="1350" b="1">
                <a:solidFill>
                  <a:srgbClr val="596974"/>
                </a:solidFill>
              </a:defRPr>
            </a:lvl6pPr>
            <a:lvl7pPr>
              <a:defRPr sz="1350" b="1">
                <a:solidFill>
                  <a:srgbClr val="596974"/>
                </a:solidFill>
              </a:defRPr>
            </a:lvl7pPr>
            <a:lvl8pPr>
              <a:defRPr sz="1350" b="1">
                <a:solidFill>
                  <a:srgbClr val="596974"/>
                </a:solidFill>
              </a:defRPr>
            </a:lvl8pPr>
            <a:lvl9pPr>
              <a:defRPr sz="1350" b="1">
                <a:solidFill>
                  <a:srgbClr val="596974"/>
                </a:solidFill>
              </a:defRPr>
            </a:lvl9pPr>
          </a:lstStyle>
          <a:p>
            <a:pPr>
              <a:defRPr sz="1350" b="1">
                <a:solidFill>
                  <a:srgbClr val="596974"/>
                </a:solidFill>
              </a:defRPr>
            </a:pPr>
            <a:r>
              <a:rPr sz="1350" b="1">
                <a:solidFill>
                  <a:srgbClr val="596974"/>
                </a:solidFill>
              </a:rPr>
              <a:t>BEFORE · CURRENT WORDING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337C2E-163C-4351-BB9E-465EA7CB2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901" y="1943100"/>
            <a:ext cx="5313947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F5366D4-5A24-4BB0-AC62-8FA4EABCF553}"/>
              </a:ext>
            </a:extLst>
          </p:cNvPr>
          <p:cNvSpPr>
            <a:spLocks noGrp="1"/>
          </p:cNvSpPr>
          <p:nvPr/>
        </p:nvSpPr>
        <p:spPr>
          <a:xfrm>
            <a:off x="6343650" y="157162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236650"/>
                </a:solidFill>
              </a:defRPr>
            </a:defPPr>
            <a:lvl1pPr>
              <a:defRPr sz="1350" b="1">
                <a:solidFill>
                  <a:srgbClr val="236650"/>
                </a:solidFill>
              </a:defRPr>
            </a:lvl1pPr>
            <a:lvl2pPr>
              <a:defRPr sz="1350" b="1">
                <a:solidFill>
                  <a:srgbClr val="236650"/>
                </a:solidFill>
              </a:defRPr>
            </a:lvl2pPr>
            <a:lvl3pPr>
              <a:defRPr sz="1350" b="1">
                <a:solidFill>
                  <a:srgbClr val="236650"/>
                </a:solidFill>
              </a:defRPr>
            </a:lvl3pPr>
            <a:lvl4pPr>
              <a:defRPr sz="1350" b="1">
                <a:solidFill>
                  <a:srgbClr val="236650"/>
                </a:solidFill>
              </a:defRPr>
            </a:lvl4pPr>
            <a:lvl5pPr>
              <a:defRPr sz="1350" b="1">
                <a:solidFill>
                  <a:srgbClr val="236650"/>
                </a:solidFill>
              </a:defRPr>
            </a:lvl5pPr>
            <a:lvl6pPr>
              <a:defRPr sz="1350" b="1">
                <a:solidFill>
                  <a:srgbClr val="236650"/>
                </a:solidFill>
              </a:defRPr>
            </a:lvl6pPr>
            <a:lvl7pPr>
              <a:defRPr sz="1350" b="1">
                <a:solidFill>
                  <a:srgbClr val="236650"/>
                </a:solidFill>
              </a:defRPr>
            </a:lvl7pPr>
            <a:lvl8pPr>
              <a:defRPr sz="1350" b="1">
                <a:solidFill>
                  <a:srgbClr val="236650"/>
                </a:solidFill>
              </a:defRPr>
            </a:lvl8pPr>
            <a:lvl9pPr>
              <a:defRPr sz="1350" b="1">
                <a:solidFill>
                  <a:srgbClr val="236650"/>
                </a:solidFill>
              </a:defRPr>
            </a:lvl9pPr>
          </a:lstStyle>
          <a:p>
            <a:pPr>
              <a:defRPr sz="1350" b="1">
                <a:solidFill>
                  <a:srgbClr val="236650"/>
                </a:solidFill>
              </a:defRPr>
            </a:pPr>
            <a:r>
              <a:rPr sz="1350" b="1">
                <a:solidFill>
                  <a:srgbClr val="236650"/>
                </a:solidFill>
              </a:rPr>
              <a:t>AFTER · PROPOSED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CB4EF9-BE6C-434F-AB34-A99F91D6F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4151" y="1943100"/>
            <a:ext cx="5313947" cy="4038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F79066-16EA-43E0-9326-E00196993B0C}"/>
              </a:ext>
            </a:extLst>
          </p:cNvPr>
          <p:cNvSpPr>
            <a:spLocks noGrp="1"/>
          </p:cNvSpPr>
          <p:nvPr/>
        </p:nvSpPr>
        <p:spPr>
          <a:xfrm>
            <a:off x="533400" y="6057900"/>
            <a:ext cx="11144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96974"/>
                </a:solidFill>
              </a:defRPr>
            </a:defPPr>
            <a:lvl1pPr>
              <a:defRPr sz="1500" b="0">
                <a:solidFill>
                  <a:srgbClr val="596974"/>
                </a:solidFill>
              </a:defRPr>
            </a:lvl1pPr>
            <a:lvl2pPr>
              <a:defRPr sz="1500" b="0">
                <a:solidFill>
                  <a:srgbClr val="596974"/>
                </a:solidFill>
              </a:defRPr>
            </a:lvl2pPr>
            <a:lvl3pPr>
              <a:defRPr sz="1500" b="0">
                <a:solidFill>
                  <a:srgbClr val="596974"/>
                </a:solidFill>
              </a:defRPr>
            </a:lvl3pPr>
            <a:lvl4pPr>
              <a:defRPr sz="1500" b="0">
                <a:solidFill>
                  <a:srgbClr val="596974"/>
                </a:solidFill>
              </a:defRPr>
            </a:lvl4pPr>
            <a:lvl5pPr>
              <a:defRPr sz="1500" b="0">
                <a:solidFill>
                  <a:srgbClr val="596974"/>
                </a:solidFill>
              </a:defRPr>
            </a:lvl5pPr>
            <a:lvl6pPr>
              <a:defRPr sz="1500" b="0">
                <a:solidFill>
                  <a:srgbClr val="596974"/>
                </a:solidFill>
              </a:defRPr>
            </a:lvl6pPr>
            <a:lvl7pPr>
              <a:defRPr sz="1500" b="0">
                <a:solidFill>
                  <a:srgbClr val="596974"/>
                </a:solidFill>
              </a:defRPr>
            </a:lvl7pPr>
            <a:lvl8pPr>
              <a:defRPr sz="1500" b="0">
                <a:solidFill>
                  <a:srgbClr val="596974"/>
                </a:solidFill>
              </a:defRPr>
            </a:lvl8pPr>
            <a:lvl9pPr>
              <a:defRPr sz="1500" b="0">
                <a:solidFill>
                  <a:srgbClr val="596974"/>
                </a:solidFill>
              </a:defRPr>
            </a:lvl9pPr>
          </a:lstStyle>
          <a:p>
            <a:pPr>
              <a:defRPr sz="1500" b="0">
                <a:solidFill>
                  <a:srgbClr val="596974"/>
                </a:solidFill>
              </a:defRPr>
            </a:pPr>
            <a:r>
              <a:rPr sz="1500" b="0">
                <a:solidFill>
                  <a:srgbClr val="596974"/>
                </a:solidFill>
              </a:rPr>
              <a:t>“Packet” names the shared page. “Brief” names the document within it.</a:t>
            </a:r>
          </a:p>
        </p:txBody>
      </p:sp>
    </p:spTree>
    <p:extLst>
      <p:ext uri="{BB962C8B-B14F-4D97-AF65-F5344CB8AC3E}">
        <p14:creationId xmlns:p14="http://schemas.microsoft.com/office/powerpoint/2010/main" val="79188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910724E-9B65-48D0-92FF-E3C616A87358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Meeting Tracker: summaries after the presentation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49E64F-E24A-4F91-9A03-01219821BB77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Consistent wording for the discussion and its program-wide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AAD673-7103-4BFA-9A57-C77953EDA6D3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A3BD68-7FAE-4E88-AAE3-B0395C95A170}"/>
              </a:ext>
            </a:extLst>
          </p:cNvPr>
          <p:cNvSpPr>
            <a:spLocks noGrp="1"/>
          </p:cNvSpPr>
          <p:nvPr/>
        </p:nvSpPr>
        <p:spPr>
          <a:xfrm>
            <a:off x="533400" y="157162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596974"/>
                </a:solidFill>
              </a:defRPr>
            </a:defPPr>
            <a:lvl1pPr>
              <a:defRPr sz="1350" b="1">
                <a:solidFill>
                  <a:srgbClr val="596974"/>
                </a:solidFill>
              </a:defRPr>
            </a:lvl1pPr>
            <a:lvl2pPr>
              <a:defRPr sz="1350" b="1">
                <a:solidFill>
                  <a:srgbClr val="596974"/>
                </a:solidFill>
              </a:defRPr>
            </a:lvl2pPr>
            <a:lvl3pPr>
              <a:defRPr sz="1350" b="1">
                <a:solidFill>
                  <a:srgbClr val="596974"/>
                </a:solidFill>
              </a:defRPr>
            </a:lvl3pPr>
            <a:lvl4pPr>
              <a:defRPr sz="1350" b="1">
                <a:solidFill>
                  <a:srgbClr val="596974"/>
                </a:solidFill>
              </a:defRPr>
            </a:lvl4pPr>
            <a:lvl5pPr>
              <a:defRPr sz="1350" b="1">
                <a:solidFill>
                  <a:srgbClr val="596974"/>
                </a:solidFill>
              </a:defRPr>
            </a:lvl5pPr>
            <a:lvl6pPr>
              <a:defRPr sz="1350" b="1">
                <a:solidFill>
                  <a:srgbClr val="596974"/>
                </a:solidFill>
              </a:defRPr>
            </a:lvl6pPr>
            <a:lvl7pPr>
              <a:defRPr sz="1350" b="1">
                <a:solidFill>
                  <a:srgbClr val="596974"/>
                </a:solidFill>
              </a:defRPr>
            </a:lvl7pPr>
            <a:lvl8pPr>
              <a:defRPr sz="1350" b="1">
                <a:solidFill>
                  <a:srgbClr val="596974"/>
                </a:solidFill>
              </a:defRPr>
            </a:lvl8pPr>
            <a:lvl9pPr>
              <a:defRPr sz="1350" b="1">
                <a:solidFill>
                  <a:srgbClr val="596974"/>
                </a:solidFill>
              </a:defRPr>
            </a:lvl9pPr>
          </a:lstStyle>
          <a:p>
            <a:pPr>
              <a:defRPr sz="1350" b="1">
                <a:solidFill>
                  <a:srgbClr val="596974"/>
                </a:solidFill>
              </a:defRPr>
            </a:pPr>
            <a:r>
              <a:rPr sz="1350" b="1">
                <a:solidFill>
                  <a:srgbClr val="596974"/>
                </a:solidFill>
              </a:rPr>
              <a:t>BEFORE · CURRENT WORDING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07C2E5-2127-4144-9A08-3D008FEBE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3901" y="1943100"/>
            <a:ext cx="5313947" cy="4038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97C2268-6D97-430F-A237-AF0D5E8EBB0C}"/>
              </a:ext>
            </a:extLst>
          </p:cNvPr>
          <p:cNvSpPr>
            <a:spLocks noGrp="1"/>
          </p:cNvSpPr>
          <p:nvPr/>
        </p:nvSpPr>
        <p:spPr>
          <a:xfrm>
            <a:off x="6343650" y="157162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350" b="1">
                <a:solidFill>
                  <a:srgbClr val="236650"/>
                </a:solidFill>
              </a:defRPr>
            </a:defPPr>
            <a:lvl1pPr>
              <a:defRPr sz="1350" b="1">
                <a:solidFill>
                  <a:srgbClr val="236650"/>
                </a:solidFill>
              </a:defRPr>
            </a:lvl1pPr>
            <a:lvl2pPr>
              <a:defRPr sz="1350" b="1">
                <a:solidFill>
                  <a:srgbClr val="236650"/>
                </a:solidFill>
              </a:defRPr>
            </a:lvl2pPr>
            <a:lvl3pPr>
              <a:defRPr sz="1350" b="1">
                <a:solidFill>
                  <a:srgbClr val="236650"/>
                </a:solidFill>
              </a:defRPr>
            </a:lvl3pPr>
            <a:lvl4pPr>
              <a:defRPr sz="1350" b="1">
                <a:solidFill>
                  <a:srgbClr val="236650"/>
                </a:solidFill>
              </a:defRPr>
            </a:lvl4pPr>
            <a:lvl5pPr>
              <a:defRPr sz="1350" b="1">
                <a:solidFill>
                  <a:srgbClr val="236650"/>
                </a:solidFill>
              </a:defRPr>
            </a:lvl5pPr>
            <a:lvl6pPr>
              <a:defRPr sz="1350" b="1">
                <a:solidFill>
                  <a:srgbClr val="236650"/>
                </a:solidFill>
              </a:defRPr>
            </a:lvl6pPr>
            <a:lvl7pPr>
              <a:defRPr sz="1350" b="1">
                <a:solidFill>
                  <a:srgbClr val="236650"/>
                </a:solidFill>
              </a:defRPr>
            </a:lvl7pPr>
            <a:lvl8pPr>
              <a:defRPr sz="1350" b="1">
                <a:solidFill>
                  <a:srgbClr val="236650"/>
                </a:solidFill>
              </a:defRPr>
            </a:lvl8pPr>
            <a:lvl9pPr>
              <a:defRPr sz="1350" b="1">
                <a:solidFill>
                  <a:srgbClr val="236650"/>
                </a:solidFill>
              </a:defRPr>
            </a:lvl9pPr>
          </a:lstStyle>
          <a:p>
            <a:pPr>
              <a:defRPr sz="1350" b="1">
                <a:solidFill>
                  <a:srgbClr val="236650"/>
                </a:solidFill>
              </a:defRPr>
            </a:pPr>
            <a:r>
              <a:rPr sz="1350" b="1">
                <a:solidFill>
                  <a:srgbClr val="236650"/>
                </a:solidFill>
              </a:rPr>
              <a:t>AFTER · PROPOSED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D5B394-A248-4947-ACB7-1DADAF9AD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344151" y="1943100"/>
            <a:ext cx="5313947" cy="4038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D332482-1FFE-4E82-BC52-B19B7CFB4B8B}"/>
              </a:ext>
            </a:extLst>
          </p:cNvPr>
          <p:cNvSpPr>
            <a:spLocks noGrp="1"/>
          </p:cNvSpPr>
          <p:nvPr/>
        </p:nvSpPr>
        <p:spPr>
          <a:xfrm>
            <a:off x="533400" y="6057900"/>
            <a:ext cx="11144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596974"/>
                </a:solidFill>
              </a:defRPr>
            </a:defPPr>
            <a:lvl1pPr>
              <a:defRPr sz="1500" b="0">
                <a:solidFill>
                  <a:srgbClr val="596974"/>
                </a:solidFill>
              </a:defRPr>
            </a:lvl1pPr>
            <a:lvl2pPr>
              <a:defRPr sz="1500" b="0">
                <a:solidFill>
                  <a:srgbClr val="596974"/>
                </a:solidFill>
              </a:defRPr>
            </a:lvl2pPr>
            <a:lvl3pPr>
              <a:defRPr sz="1500" b="0">
                <a:solidFill>
                  <a:srgbClr val="596974"/>
                </a:solidFill>
              </a:defRPr>
            </a:lvl3pPr>
            <a:lvl4pPr>
              <a:defRPr sz="1500" b="0">
                <a:solidFill>
                  <a:srgbClr val="596974"/>
                </a:solidFill>
              </a:defRPr>
            </a:lvl4pPr>
            <a:lvl5pPr>
              <a:defRPr sz="1500" b="0">
                <a:solidFill>
                  <a:srgbClr val="596974"/>
                </a:solidFill>
              </a:defRPr>
            </a:lvl5pPr>
            <a:lvl6pPr>
              <a:defRPr sz="1500" b="0">
                <a:solidFill>
                  <a:srgbClr val="596974"/>
                </a:solidFill>
              </a:defRPr>
            </a:lvl6pPr>
            <a:lvl7pPr>
              <a:defRPr sz="1500" b="0">
                <a:solidFill>
                  <a:srgbClr val="596974"/>
                </a:solidFill>
              </a:defRPr>
            </a:lvl7pPr>
            <a:lvl8pPr>
              <a:defRPr sz="1500" b="0">
                <a:solidFill>
                  <a:srgbClr val="596974"/>
                </a:solidFill>
              </a:defRPr>
            </a:lvl8pPr>
            <a:lvl9pPr>
              <a:defRPr sz="1500" b="0">
                <a:solidFill>
                  <a:srgbClr val="596974"/>
                </a:solidFill>
              </a:defRPr>
            </a:lvl9pPr>
          </a:lstStyle>
          <a:p>
            <a:pPr>
              <a:defRPr sz="1500" b="0">
                <a:solidFill>
                  <a:srgbClr val="596974"/>
                </a:solidFill>
              </a:defRPr>
            </a:pPr>
            <a:r>
              <a:rPr sz="1500" b="0">
                <a:solidFill>
                  <a:srgbClr val="596974"/>
                </a:solidFill>
              </a:rPr>
              <a:t>Discussion summaries are grouped by SE and MR. Each entry covers one proposal.</a:t>
            </a:r>
          </a:p>
        </p:txBody>
      </p:sp>
    </p:spTree>
    <p:extLst>
      <p:ext uri="{BB962C8B-B14F-4D97-AF65-F5344CB8AC3E}">
        <p14:creationId xmlns:p14="http://schemas.microsoft.com/office/powerpoint/2010/main" val="13022667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BC2B2D-55BA-48F7-83AE-9F0599F4984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Vocabulary: preparation and meetings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BCFE9-76C7-4A11-A453-7E45A3E7A00B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Full proposed vocabulary for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C3DD03-395F-4653-A8E3-504AFAE56096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5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CB5D0B-9DC8-4783-82B9-87495FD0AE70}"/>
              </a:ext>
            </a:extLst>
          </p:cNvPr>
          <p:cNvGraphicFramePr/>
          <p:nvPr/>
        </p:nvGraphicFramePr>
        <p:xfrm>
          <a:off x="533400" y="1809750"/>
          <a:ext cx="11125200" cy="41719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CURRENT WORDING / EXAMPLES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PROPOSED NAME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Workspace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Staff Deliberations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Staff Deliberations (keep)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Meeting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Deliberation session / Pre-discussion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Proposal discussion session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Meeting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Site visit / Presentation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Research presentation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Discussion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Staff discussion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discussion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Document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Pre-site briefing / Pre-RP Brief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Proposal discussion brief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Shared page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Deliberation briefing / Briefing page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Proposal review packet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Agenda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Deliberation session agenda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Discussion session agenda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Materials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Site visit materials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Presentation materials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446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A645491-D9D5-47A9-B2E5-D83BD5C92A6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11442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150" b="1">
                <a:solidFill>
                  <a:srgbClr val="173247"/>
                </a:solidFill>
              </a:defRPr>
            </a:defPPr>
            <a:lvl1pPr>
              <a:defRPr sz="3150" b="1">
                <a:solidFill>
                  <a:srgbClr val="173247"/>
                </a:solidFill>
              </a:defRPr>
            </a:lvl1pPr>
            <a:lvl2pPr>
              <a:defRPr sz="3150" b="1">
                <a:solidFill>
                  <a:srgbClr val="173247"/>
                </a:solidFill>
              </a:defRPr>
            </a:lvl2pPr>
            <a:lvl3pPr>
              <a:defRPr sz="3150" b="1">
                <a:solidFill>
                  <a:srgbClr val="173247"/>
                </a:solidFill>
              </a:defRPr>
            </a:lvl3pPr>
            <a:lvl4pPr>
              <a:defRPr sz="3150" b="1">
                <a:solidFill>
                  <a:srgbClr val="173247"/>
                </a:solidFill>
              </a:defRPr>
            </a:lvl4pPr>
            <a:lvl5pPr>
              <a:defRPr sz="3150" b="1">
                <a:solidFill>
                  <a:srgbClr val="173247"/>
                </a:solidFill>
              </a:defRPr>
            </a:lvl5pPr>
            <a:lvl6pPr>
              <a:defRPr sz="3150" b="1">
                <a:solidFill>
                  <a:srgbClr val="173247"/>
                </a:solidFill>
              </a:defRPr>
            </a:lvl6pPr>
            <a:lvl7pPr>
              <a:defRPr sz="3150" b="1">
                <a:solidFill>
                  <a:srgbClr val="173247"/>
                </a:solidFill>
              </a:defRPr>
            </a:lvl7pPr>
            <a:lvl8pPr>
              <a:defRPr sz="3150" b="1">
                <a:solidFill>
                  <a:srgbClr val="173247"/>
                </a:solidFill>
              </a:defRPr>
            </a:lvl8pPr>
            <a:lvl9pPr>
              <a:defRPr sz="3150" b="1">
                <a:solidFill>
                  <a:srgbClr val="173247"/>
                </a:solidFill>
              </a:defRPr>
            </a:lvl9pPr>
          </a:lstStyle>
          <a:p>
            <a:pPr>
              <a:defRPr sz="3150" b="1">
                <a:solidFill>
                  <a:srgbClr val="173247"/>
                </a:solidFill>
              </a:defRPr>
            </a:pPr>
            <a:r>
              <a:rPr sz="3150" b="1">
                <a:solidFill>
                  <a:srgbClr val="173247"/>
                </a:solidFill>
              </a:rPr>
              <a:t>Vocabulary: follow-up and summaries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259CFE-DE17-42F6-9A90-050882DF14A8}"/>
              </a:ext>
            </a:extLst>
          </p:cNvPr>
          <p:cNvSpPr>
            <a:spLocks noGrp="1"/>
          </p:cNvSpPr>
          <p:nvPr/>
        </p:nvSpPr>
        <p:spPr>
          <a:xfrm>
            <a:off x="533400" y="1000125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96974"/>
                </a:solidFill>
              </a:defRPr>
            </a:defPPr>
            <a:lvl1pPr>
              <a:defRPr sz="1725" b="0">
                <a:solidFill>
                  <a:srgbClr val="596974"/>
                </a:solidFill>
              </a:defRPr>
            </a:lvl1pPr>
            <a:lvl2pPr>
              <a:defRPr sz="1725" b="0">
                <a:solidFill>
                  <a:srgbClr val="596974"/>
                </a:solidFill>
              </a:defRPr>
            </a:lvl2pPr>
            <a:lvl3pPr>
              <a:defRPr sz="1725" b="0">
                <a:solidFill>
                  <a:srgbClr val="596974"/>
                </a:solidFill>
              </a:defRPr>
            </a:lvl3pPr>
            <a:lvl4pPr>
              <a:defRPr sz="1725" b="0">
                <a:solidFill>
                  <a:srgbClr val="596974"/>
                </a:solidFill>
              </a:defRPr>
            </a:lvl4pPr>
            <a:lvl5pPr>
              <a:defRPr sz="1725" b="0">
                <a:solidFill>
                  <a:srgbClr val="596974"/>
                </a:solidFill>
              </a:defRPr>
            </a:lvl5pPr>
            <a:lvl6pPr>
              <a:defRPr sz="1725" b="0">
                <a:solidFill>
                  <a:srgbClr val="596974"/>
                </a:solidFill>
              </a:defRPr>
            </a:lvl6pPr>
            <a:lvl7pPr>
              <a:defRPr sz="1725" b="0">
                <a:solidFill>
                  <a:srgbClr val="596974"/>
                </a:solidFill>
              </a:defRPr>
            </a:lvl7pPr>
            <a:lvl8pPr>
              <a:defRPr sz="1725" b="0">
                <a:solidFill>
                  <a:srgbClr val="596974"/>
                </a:solidFill>
              </a:defRPr>
            </a:lvl8pPr>
            <a:lvl9pPr>
              <a:defRPr sz="1725" b="0">
                <a:solidFill>
                  <a:srgbClr val="596974"/>
                </a:solidFill>
              </a:defRPr>
            </a:lvl9pPr>
          </a:lstStyle>
          <a:p>
            <a:pPr>
              <a:defRPr sz="1725" b="0">
                <a:solidFill>
                  <a:srgbClr val="596974"/>
                </a:solidFill>
              </a:defRPr>
            </a:pPr>
            <a:r>
              <a:rPr sz="1725" b="0">
                <a:solidFill>
                  <a:srgbClr val="596974"/>
                </a:solidFill>
              </a:rPr>
              <a:t>Full proposed vocabulary for review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E362B1-18D4-4DC6-B616-66FD63B22A16}"/>
              </a:ext>
            </a:extLst>
          </p:cNvPr>
          <p:cNvSpPr>
            <a:spLocks noGrp="1"/>
          </p:cNvSpPr>
          <p:nvPr/>
        </p:nvSpPr>
        <p:spPr>
          <a:xfrm>
            <a:off x="533400" y="6457950"/>
            <a:ext cx="11144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125" b="0">
                <a:solidFill>
                  <a:srgbClr val="596974"/>
                </a:solidFill>
              </a:defRPr>
            </a:defPPr>
            <a:lvl1pPr>
              <a:defRPr sz="1125" b="0">
                <a:solidFill>
                  <a:srgbClr val="596974"/>
                </a:solidFill>
              </a:defRPr>
            </a:lvl1pPr>
            <a:lvl2pPr>
              <a:defRPr sz="1125" b="0">
                <a:solidFill>
                  <a:srgbClr val="596974"/>
                </a:solidFill>
              </a:defRPr>
            </a:lvl2pPr>
            <a:lvl3pPr>
              <a:defRPr sz="1125" b="0">
                <a:solidFill>
                  <a:srgbClr val="596974"/>
                </a:solidFill>
              </a:defRPr>
            </a:lvl3pPr>
            <a:lvl4pPr>
              <a:defRPr sz="1125" b="0">
                <a:solidFill>
                  <a:srgbClr val="596974"/>
                </a:solidFill>
              </a:defRPr>
            </a:lvl4pPr>
            <a:lvl5pPr>
              <a:defRPr sz="1125" b="0">
                <a:solidFill>
                  <a:srgbClr val="596974"/>
                </a:solidFill>
              </a:defRPr>
            </a:lvl5pPr>
            <a:lvl6pPr>
              <a:defRPr sz="1125" b="0">
                <a:solidFill>
                  <a:srgbClr val="596974"/>
                </a:solidFill>
              </a:defRPr>
            </a:lvl6pPr>
            <a:lvl7pPr>
              <a:defRPr sz="1125" b="0">
                <a:solidFill>
                  <a:srgbClr val="596974"/>
                </a:solidFill>
              </a:defRPr>
            </a:lvl7pPr>
            <a:lvl8pPr>
              <a:defRPr sz="1125" b="0">
                <a:solidFill>
                  <a:srgbClr val="596974"/>
                </a:solidFill>
              </a:defRPr>
            </a:lvl8pPr>
            <a:lvl9pPr>
              <a:defRPr sz="1125" b="0">
                <a:solidFill>
                  <a:srgbClr val="596974"/>
                </a:solidFill>
              </a:defRPr>
            </a:lvl9pPr>
          </a:lstStyle>
          <a:p>
            <a:pPr>
              <a:defRPr sz="1125" b="0">
                <a:solidFill>
                  <a:srgbClr val="596974"/>
                </a:solidFill>
              </a:defRPr>
            </a:pPr>
            <a:r>
              <a:rPr sz="1125" b="0">
                <a:solidFill>
                  <a:srgbClr val="596974"/>
                </a:solidFill>
              </a:rPr>
              <a:t>Vocabulary review    •    Proposed wording    •    6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222A16F-89F4-4ED6-8446-0960C11CCE87}"/>
              </a:ext>
            </a:extLst>
          </p:cNvPr>
          <p:cNvGraphicFramePr/>
          <p:nvPr/>
        </p:nvGraphicFramePr>
        <p:xfrm>
          <a:off x="533400" y="1809750"/>
          <a:ext cx="11125200" cy="417195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6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355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CURRENT WORDING / EXAMPLES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PROPOSED NAME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>
                      <a:solidFill>
                        <a:srgbClr val="DCE2E5"/>
                      </a:solidFill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1732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Recording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Post-presentation materials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Recording and transcripts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Document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Working writeup / Word Draft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writeup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Document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Final Writeup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Final writeup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Summary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Presentation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Presentation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Summary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Staff discussion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discussion summary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Analysis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Discussion Sentiment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Post-presentation discussion sentiment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Collection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Program briefing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Discussion summaries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355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Research</a:t>
                      </a:r>
                    </a:p>
                  </a:txBody>
                  <a:tcPr>
                    <a:lnL w="9525">
                      <a:solidFill>
                        <a:srgbClr val="DCE2E5"/>
                      </a:solidFill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73247"/>
                          </a:solidFill>
                        </a:rPr>
                        <a:t>Cycle Dossier / Scientific briefing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73247"/>
                          </a:solidFill>
                        </a:rPr>
                        <a:t>Scientific dossier</a:t>
                      </a:r>
                    </a:p>
                  </a:txBody>
                  <a:tcPr>
                    <a:lnL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CE2E5"/>
                      </a:solidFill>
                    </a:lnR>
                    <a:lnT w="9525" cap="flat" cmpd="sng" algn="ctr">
                      <a:solidFill>
                        <a:srgbClr val="DCE2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CE2E5"/>
                      </a:solidFill>
                    </a:lnB>
                    <a:solidFill>
                      <a:srgbClr val="EDF2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9478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806</Words>
  <Application>Microsoft Macintosh PowerPoint</Application>
  <DocSecurity>0</DocSecurity>
  <PresentationFormat>Widescreen</PresentationFormat>
  <Paragraphs>145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Aptos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Justin Gallivan</cp:lastModifiedBy>
  <cp:revision>1</cp:revision>
  <dcterms:created xsi:type="dcterms:W3CDTF">2026-10-20T01:09:13Z</dcterms:created>
  <dcterms:modified xsi:type="dcterms:W3CDTF">2026-10-20T02:57:18Z</dcterms:modified>
</cp:coreProperties>
</file>