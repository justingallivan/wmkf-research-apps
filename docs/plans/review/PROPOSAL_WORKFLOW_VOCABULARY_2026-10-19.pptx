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2d8f7da4c3475b" /><Relationship Type="http://schemas.openxmlformats.org/officeDocument/2006/relationships/extended-properties" Target="/docProps/app.xml" Id="R38ae8c81317e4273" /><Relationship Type="http://schemas.openxmlformats.org/officeDocument/2006/relationships/officeDocument" Target="/ppt/presentation.xml" Id="R746425cffd184e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a6fc0f15a440c4"/>
  </p:sldMasterIdLst>
  <p:notesMasterIdLst>
    <p:notesMasterId xmlns:r="http://schemas.openxmlformats.org/officeDocument/2006/relationships" r:id="Ra62853b5fd2c4c2f"/>
  </p:notesMasterIdLst>
  <p:sldIdLst>
    <p:sldId xmlns:r="http://schemas.openxmlformats.org/officeDocument/2006/relationships" id="256" r:id="R7f752d45767f46ad"/>
    <p:sldId xmlns:r="http://schemas.openxmlformats.org/officeDocument/2006/relationships" id="257" r:id="R3b324417a46d4bc3"/>
    <p:sldId xmlns:r="http://schemas.openxmlformats.org/officeDocument/2006/relationships" id="258" r:id="R25c29c3e2a5c4283"/>
    <p:sldId xmlns:r="http://schemas.openxmlformats.org/officeDocument/2006/relationships" id="259" r:id="Rd32d3f42e19d4a3f"/>
    <p:sldId xmlns:r="http://schemas.openxmlformats.org/officeDocument/2006/relationships" id="260" r:id="Rfa2f89f4f42843d7"/>
    <p:sldId xmlns:r="http://schemas.openxmlformats.org/officeDocument/2006/relationships" id="261" r:id="R8b929d4a400f4146"/>
    <p:sldId xmlns:r="http://schemas.openxmlformats.org/officeDocument/2006/relationships" id="262" r:id="R3110382d7ef94b91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b5c824eced4fc5" /><Relationship Type="http://schemas.openxmlformats.org/officeDocument/2006/relationships/slideMaster" Target="/ppt/slideMasters/slideMaster1.xml" Id="R3da6fc0f15a440c4" /><Relationship Type="http://schemas.openxmlformats.org/officeDocument/2006/relationships/notesMaster" Target="/ppt/notesMasters/notesMaster1.xml" Id="Ra62853b5fd2c4c2f" /><Relationship Type="http://schemas.openxmlformats.org/officeDocument/2006/relationships/presProps" Target="/ppt/presProps.xml" Id="R9c626a23b9024888" /><Relationship Type="http://schemas.openxmlformats.org/officeDocument/2006/relationships/viewProps" Target="/ppt/viewProps.xml" Id="R20cf774bc27b418c" /><Relationship Type="http://schemas.openxmlformats.org/officeDocument/2006/relationships/tableStyles" Target="/ppt/tableStyles.xml" Id="Rd5e159d762704a86" /><Relationship Type="http://schemas.openxmlformats.org/officeDocument/2006/relationships/slide" Target="/ppt/slides/slide1.xml" Id="R7f752d45767f46ad" /><Relationship Type="http://schemas.openxmlformats.org/officeDocument/2006/relationships/slide" Target="/ppt/slides/slide2.xml" Id="R3b324417a46d4bc3" /><Relationship Type="http://schemas.openxmlformats.org/officeDocument/2006/relationships/slide" Target="/ppt/slides/slide3.xml" Id="R25c29c3e2a5c4283" /><Relationship Type="http://schemas.openxmlformats.org/officeDocument/2006/relationships/slide" Target="/ppt/slides/slide4.xml" Id="Rd32d3f42e19d4a3f" /><Relationship Type="http://schemas.openxmlformats.org/officeDocument/2006/relationships/slide" Target="/ppt/slides/slide5.xml" Id="Rfa2f89f4f42843d7" /><Relationship Type="http://schemas.openxmlformats.org/officeDocument/2006/relationships/slide" Target="/ppt/slides/slide6.xml" Id="R8b929d4a400f4146" /><Relationship Type="http://schemas.openxmlformats.org/officeDocument/2006/relationships/slide" Target="/ppt/slides/slide7.xml" Id="R3110382d7ef94b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70a6d59d0845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b18c70926d44b0" /><Relationship Type="http://schemas.openxmlformats.org/officeDocument/2006/relationships/notesMaster" Target="/ppt/notesMasters/notesMaster1.xml" Id="R4dd1ff10926545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08d8eb70c64806" /><Relationship Type="http://schemas.openxmlformats.org/officeDocument/2006/relationships/notesMaster" Target="/ppt/notesMasters/notesMaster1.xml" Id="Rca2363d2fb0444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9fb8162b4c4a35" /><Relationship Type="http://schemas.openxmlformats.org/officeDocument/2006/relationships/notesMaster" Target="/ppt/notesMasters/notesMaster1.xml" Id="Rca40df888d3747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b9af8bb35f4b36" /><Relationship Type="http://schemas.openxmlformats.org/officeDocument/2006/relationships/notesMaster" Target="/ppt/notesMasters/notesMaster1.xml" Id="R758a373facc540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bd61058407415c" /><Relationship Type="http://schemas.openxmlformats.org/officeDocument/2006/relationships/notesMaster" Target="/ppt/notesMasters/notesMaster1.xml" Id="Reb7b99c2175d4e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fd8e2177454df8" /><Relationship Type="http://schemas.openxmlformats.org/officeDocument/2006/relationships/notesMaster" Target="/ppt/notesMasters/notesMaster1.xml" Id="R4ac321984f4c4b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9dbd49f97140a9" /><Relationship Type="http://schemas.openxmlformats.org/officeDocument/2006/relationships/notesMaster" Target="/ppt/notesMasters/notesMaster1.xml" Id="Rf209aaa6dbbf49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wording from source inventory in WMKF_Apps, October 19, 2026. Proposed names from user review in this chat. No app implementation is represented. The Scientific dossier label applies to the research product; collection naming remains available for later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wording from source inventory in WMKF_Apps, October 19, 2026. Proposed names from user review in this chat. No app implementation is represented. The Scientific dossier label applies to the research product; collection naming remains available for later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mockups, not production screenshots. Current labels verified from shared/components/workbench/StaffDeliberationsTab.js; pages/external/briefing/[token].js; shared/components/meeting-tracker/ProgramBriefingView.js; DiscussionSentimentView.js. Proposed labels reflect the vocabulary discussion with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mockups, not production screenshots. Current labels verified from shared/components/workbench/StaffDeliberationsTab.js; pages/external/briefing/[token].js; shared/components/meeting-tracker/ProgramBriefingView.js; DiscussionSentimentView.js. Proposed labels reflect the vocabulary discussion with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mockups, not production screenshots. Current labels verified from shared/components/workbench/StaffDeliberationsTab.js; pages/external/briefing/[token].js; shared/components/meeting-tracker/ProgramBriefingView.js; DiscussionSentimentView.js. Proposed labels reflect the vocabulary discussion with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wording from source inventory in WMKF_Apps, October 19, 2026. Proposed names from user review in this chat. No app implementation is represented. The Scientific dossier label applies to the research product; collection naming remains available for later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wording from source inventory in WMKF_Apps, October 19, 2026. Proposed names from user review in this chat. No app implementation is represented. The Scientific dossier label applies to the research product; collection naming remains available for later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c4a805bbfd442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b382d4077846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438ac8c62f4b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78a2e5fb91455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7744ef984241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3a6610367647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B7C7EC-FE00-42F0-AFC9-FBA634F9BC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68C9617-BA88-4EFA-A745-B10D1240BF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880B200-0DE4-4C82-8962-972A5E66DF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F99695-CC95-4266-B9FB-4F5D0EA00B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8823E27-B861-4035-A542-4431E2E7BD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E86074A-43C2-4206-8033-A4439D31D4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806BA3-C959-488D-814B-BD46A71342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5F6119A-25E3-4C74-BF63-E7720AF0DF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B59E0E-E047-48CD-B611-B2EFCE85EA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5AD325-75CC-444A-9188-C37A613157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32f0bffacf4d5c" /><Relationship Type="http://schemas.openxmlformats.org/officeDocument/2006/relationships/slideLayout" Target="/ppt/slideLayouts/slideLayout1.xml" Id="Ra1bf7a17eb6c430f" /><Relationship Type="http://schemas.openxmlformats.org/officeDocument/2006/relationships/slideLayout" Target="/ppt/slideLayouts/slideLayout2.xml" Id="R4c8646d0ecf5410c" /><Relationship Type="http://schemas.openxmlformats.org/officeDocument/2006/relationships/slideLayout" Target="/ppt/slideLayouts/slideLayout3.xml" Id="Rd8da451c8dab4805" /><Relationship Type="http://schemas.openxmlformats.org/officeDocument/2006/relationships/slideLayout" Target="/ppt/slideLayouts/slideLayout4.xml" Id="Rdb07c3b38efa4d2f" /><Relationship Type="http://schemas.openxmlformats.org/officeDocument/2006/relationships/slideLayout" Target="/ppt/slideLayouts/slideLayout5.xml" Id="Rb07f6735d3e34ac1" /><Relationship Type="http://schemas.openxmlformats.org/officeDocument/2006/relationships/slideLayout" Target="/ppt/slideLayouts/slideLayout6.xml" Id="Ref320cbffb144b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bf7a17eb6c430f"/>
    <p:sldLayoutId xmlns:r="http://schemas.openxmlformats.org/officeDocument/2006/relationships" id="2147483650" r:id="R4c8646d0ecf5410c"/>
    <p:sldLayoutId xmlns:r="http://schemas.openxmlformats.org/officeDocument/2006/relationships" id="2147483651" r:id="Rd8da451c8dab4805"/>
    <p:sldLayoutId xmlns:r="http://schemas.openxmlformats.org/officeDocument/2006/relationships" id="2147483652" r:id="Rdb07c3b38efa4d2f"/>
    <p:sldLayoutId xmlns:r="http://schemas.openxmlformats.org/officeDocument/2006/relationships" id="2147483653" r:id="Rb07f6735d3e34ac1"/>
    <p:sldLayoutId xmlns:r="http://schemas.openxmlformats.org/officeDocument/2006/relationships" id="2147483654" r:id="Ref320cbffb144b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dd3ab245e84ade" /><Relationship Type="http://schemas.openxmlformats.org/officeDocument/2006/relationships/notesSlide" Target="/ppt/notesSlides/notesSlide1.xml" Id="Rddc7594affc041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040e3a9d82482a" /><Relationship Type="http://schemas.openxmlformats.org/officeDocument/2006/relationships/notesSlide" Target="/ppt/notesSlides/notesSlide2.xml" Id="Rc89dcf6e588143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a7334fcb54bd6" /><Relationship Type="http://schemas.openxmlformats.org/officeDocument/2006/relationships/image" Target="/ppt/media/image.png" Id="R5e768ae98c7b4550" /><Relationship Type="http://schemas.openxmlformats.org/officeDocument/2006/relationships/image" Target="/ppt/media/image2.png" Id="Re0007c19b220412b" /><Relationship Type="http://schemas.openxmlformats.org/officeDocument/2006/relationships/notesSlide" Target="/ppt/notesSlides/notesSlide3.xml" Id="Rb7985e07666e4a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b37849d74b4e99" /><Relationship Type="http://schemas.openxmlformats.org/officeDocument/2006/relationships/image" Target="/ppt/media/image3.png" Id="Rdd72c8876135483e" /><Relationship Type="http://schemas.openxmlformats.org/officeDocument/2006/relationships/image" Target="/ppt/media/image4.png" Id="Rd3bb852e04564783" /><Relationship Type="http://schemas.openxmlformats.org/officeDocument/2006/relationships/notesSlide" Target="/ppt/notesSlides/notesSlide4.xml" Id="R3c33f04cab6244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5f37f0643e4a0a" /><Relationship Type="http://schemas.openxmlformats.org/officeDocument/2006/relationships/image" Target="/ppt/media/image5.png" Id="Rf365e018bff249de" /><Relationship Type="http://schemas.openxmlformats.org/officeDocument/2006/relationships/image" Target="/ppt/media/image6.png" Id="R6d919229fecd4088" /><Relationship Type="http://schemas.openxmlformats.org/officeDocument/2006/relationships/notesSlide" Target="/ppt/notesSlides/notesSlide5.xml" Id="Re991a1d1653245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224effc0e4483e" /><Relationship Type="http://schemas.openxmlformats.org/officeDocument/2006/relationships/notesSlide" Target="/ppt/notesSlides/notesSlide6.xml" Id="Ra3684f64a9f949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29b71ab57249d0" /><Relationship Type="http://schemas.openxmlformats.org/officeDocument/2006/relationships/notesSlide" Target="/ppt/notesSlides/notesSlide7.xml" Id="R8bce921e3f7944f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C954CE-0EA7-F158-C1FE-43C23C41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3247"/>
                </a:solidFill>
              </a:defRPr>
            </a:defPPr>
            <a:lvl1pPr>
              <a:buNone/>
              <a:defRPr sz="3150" b="1">
                <a:solidFill>
                  <a:srgbClr val="173247"/>
                </a:solidFill>
              </a:defRPr>
            </a:lvl1pPr>
            <a:lvl2pPr>
              <a:buNone/>
              <a:defRPr sz="3150" b="1">
                <a:solidFill>
                  <a:srgbClr val="173247"/>
                </a:solidFill>
              </a:defRPr>
            </a:lvl2pPr>
            <a:lvl3pPr>
              <a:buNone/>
              <a:defRPr sz="3150" b="1">
                <a:solidFill>
                  <a:srgbClr val="173247"/>
                </a:solidFill>
              </a:defRPr>
            </a:lvl3pPr>
            <a:lvl4pPr>
              <a:buNone/>
              <a:defRPr sz="3150" b="1">
                <a:solidFill>
                  <a:srgbClr val="173247"/>
                </a:solidFill>
              </a:defRPr>
            </a:lvl4pPr>
            <a:lvl5pPr>
              <a:buNone/>
              <a:defRPr sz="3150" b="1">
                <a:solidFill>
                  <a:srgbClr val="173247"/>
                </a:solidFill>
              </a:defRPr>
            </a:lvl5pPr>
            <a:lvl6pPr>
              <a:buNone/>
              <a:defRPr sz="3150" b="1">
                <a:solidFill>
                  <a:srgbClr val="173247"/>
                </a:solidFill>
              </a:defRPr>
            </a:lvl6pPr>
            <a:lvl7pPr>
              <a:buNone/>
              <a:defRPr sz="3150" b="1">
                <a:solidFill>
                  <a:srgbClr val="173247"/>
                </a:solidFill>
              </a:defRPr>
            </a:lvl7pPr>
            <a:lvl8pPr>
              <a:buNone/>
              <a:defRPr sz="3150" b="1">
                <a:solidFill>
                  <a:srgbClr val="173247"/>
                </a:solidFill>
              </a:defRPr>
            </a:lvl8pPr>
            <a:lvl9pPr>
              <a:buNone/>
              <a:defRPr sz="3150" b="1">
                <a:solidFill>
                  <a:srgbClr val="173247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73247"/>
                </a:solidFill>
              </a:defRPr>
            </a:pPr>
            <a:r>
              <a:rPr sz="3150" b="1">
                <a:solidFill>
                  <a:srgbClr val="173247"/>
                </a:solidFill>
              </a:rPr>
              <a:t>Vocabulary: preparation and meetings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35DEEE2-BD0A-7936-828F-333C3EA5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96974"/>
                </a:solidFill>
              </a:defRPr>
            </a:defPPr>
            <a:lvl1pPr>
              <a:buNone/>
              <a:defRPr sz="1725" b="0">
                <a:solidFill>
                  <a:srgbClr val="596974"/>
                </a:solidFill>
              </a:defRPr>
            </a:lvl1pPr>
            <a:lvl2pPr>
              <a:buNone/>
              <a:defRPr sz="1725" b="0">
                <a:solidFill>
                  <a:srgbClr val="596974"/>
                </a:solidFill>
              </a:defRPr>
            </a:lvl2pPr>
            <a:lvl3pPr>
              <a:buNone/>
              <a:defRPr sz="1725" b="0">
                <a:solidFill>
                  <a:srgbClr val="596974"/>
                </a:solidFill>
              </a:defRPr>
            </a:lvl3pPr>
            <a:lvl4pPr>
              <a:buNone/>
              <a:defRPr sz="1725" b="0">
                <a:solidFill>
                  <a:srgbClr val="596974"/>
                </a:solidFill>
              </a:defRPr>
            </a:lvl4pPr>
            <a:lvl5pPr>
              <a:buNone/>
              <a:defRPr sz="1725" b="0">
                <a:solidFill>
                  <a:srgbClr val="596974"/>
                </a:solidFill>
              </a:defRPr>
            </a:lvl5pPr>
            <a:lvl6pPr>
              <a:buNone/>
              <a:defRPr sz="1725" b="0">
                <a:solidFill>
                  <a:srgbClr val="596974"/>
                </a:solidFill>
              </a:defRPr>
            </a:lvl6pPr>
            <a:lvl7pPr>
              <a:buNone/>
              <a:defRPr sz="1725" b="0">
                <a:solidFill>
                  <a:srgbClr val="596974"/>
                </a:solidFill>
              </a:defRPr>
            </a:lvl7pPr>
            <a:lvl8pPr>
              <a:buNone/>
              <a:defRPr sz="1725" b="0">
                <a:solidFill>
                  <a:srgbClr val="596974"/>
                </a:solidFill>
              </a:defRPr>
            </a:lvl8pPr>
            <a:lvl9pPr>
              <a:buNone/>
              <a:defRPr sz="17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96974"/>
                </a:solidFill>
              </a:defRPr>
            </a:pPr>
            <a:r>
              <a:rPr sz="1725" b="0">
                <a:solidFill>
                  <a:srgbClr val="596974"/>
                </a:solidFill>
              </a:rPr>
              <a:t>Approved vocabulary · October 21, 2026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ACA872-800A-5F72-038A-BB128EE8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974"/>
                </a:solidFill>
              </a:defRPr>
            </a:defPPr>
            <a:lvl1pPr>
              <a:buNone/>
              <a:defRPr sz="1125" b="0">
                <a:solidFill>
                  <a:srgbClr val="596974"/>
                </a:solidFill>
              </a:defRPr>
            </a:lvl1pPr>
            <a:lvl2pPr>
              <a:buNone/>
              <a:defRPr sz="1125" b="0">
                <a:solidFill>
                  <a:srgbClr val="596974"/>
                </a:solidFill>
              </a:defRPr>
            </a:lvl2pPr>
            <a:lvl3pPr>
              <a:buNone/>
              <a:defRPr sz="1125" b="0">
                <a:solidFill>
                  <a:srgbClr val="596974"/>
                </a:solidFill>
              </a:defRPr>
            </a:lvl3pPr>
            <a:lvl4pPr>
              <a:buNone/>
              <a:defRPr sz="1125" b="0">
                <a:solidFill>
                  <a:srgbClr val="596974"/>
                </a:solidFill>
              </a:defRPr>
            </a:lvl4pPr>
            <a:lvl5pPr>
              <a:buNone/>
              <a:defRPr sz="1125" b="0">
                <a:solidFill>
                  <a:srgbClr val="596974"/>
                </a:solidFill>
              </a:defRPr>
            </a:lvl5pPr>
            <a:lvl6pPr>
              <a:buNone/>
              <a:defRPr sz="1125" b="0">
                <a:solidFill>
                  <a:srgbClr val="596974"/>
                </a:solidFill>
              </a:defRPr>
            </a:lvl6pPr>
            <a:lvl7pPr>
              <a:buNone/>
              <a:defRPr sz="1125" b="0">
                <a:solidFill>
                  <a:srgbClr val="596974"/>
                </a:solidFill>
              </a:defRPr>
            </a:lvl7pPr>
            <a:lvl8pPr>
              <a:buNone/>
              <a:defRPr sz="1125" b="0">
                <a:solidFill>
                  <a:srgbClr val="596974"/>
                </a:solidFill>
              </a:defRPr>
            </a:lvl8pPr>
            <a:lvl9pPr>
              <a:buNone/>
              <a:defRPr sz="11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596974"/>
                </a:solidFill>
              </a:defRPr>
            </a:pPr>
            <a:r>
              <a:rPr sz="1125" b="0">
                <a:solidFill>
                  <a:srgbClr val="596974"/>
                </a:solidFill>
              </a:rPr>
              <a:t>Vocabulary review    •    </a:t>
            </a:r>
            <a:r>
              <a:rPr sz="1125" b="0">
                <a:solidFill>
                  <a:srgbClr val="596974"/>
                </a:solidFill>
              </a:rPr>
              <a:t>Approved wording</a:t>
            </a:r>
            <a:r>
              <a:rPr sz="1125" b="0">
                <a:solidFill>
                  <a:srgbClr val="596974"/>
                </a:solidFill>
              </a:rPr>
              <a:t>    •    5</a:t>
            </a:r>
          </a:p>
        </p:txBody>
      </p:sp>
      <p:graphicFrame>
        <p:nvGraphicFramePr>
          <p:cNvPr id="4" name="Table 3">
            <a:extLst xmlns:a="http://schemas.openxmlformats.org/drawingml/2006/main">
              <a:ext uri="{FF2B5EF4-FFF2-40B4-BE49-F238E27FC236}">
                <a16:creationId xmlns:a16="http://schemas.microsoft.com/office/drawing/2014/main" id="{6D98F433-F0B5-40CE-882B-BFAEC92D07C5}"/>
              </a:ext>
            </a:extLst>
          </p:cNvPr>
          <p:cNvGraphicFramePr/>
          <p:nvPr/>
        </p:nvGraphicFramePr>
        <p:xfrm>
          <a:off xmlns:a="http://schemas.openxmlformats.org/drawingml/2006/main" x="533400" y="1809750"/>
          <a:ext xmlns:a="http://schemas.openxmlformats.org/drawingml/2006/main" cx="111252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4524375"/>
                <a:gridCol w="5076825"/>
              </a:tblGrid>
              <a:tr h="463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CURRENT WORDING / EXAMPLES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APPROVED NAME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Workspace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Staff Deliberations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Staff Deliberations (keep)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Meeting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Deliberation session / Pre-discussion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Proposal discussion session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Meeting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Site visit / Presentation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Research presentation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Discussion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Staff discussion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Post-presentation discussion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Document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Pre-site briefing / Pre-RP Brief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Proposal discussion brief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Shared page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Deliberation briefing / Briefing page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Proposal review packet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Agenda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Deliberation session agenda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Discussion session agenda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Materials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Site visit materials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Presentation materials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84338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A72D8B4-7A80-8360-06A5-C641FC50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3247"/>
                </a:solidFill>
              </a:defRPr>
            </a:defPPr>
            <a:lvl1pPr>
              <a:buNone/>
              <a:defRPr sz="3150" b="1">
                <a:solidFill>
                  <a:srgbClr val="173247"/>
                </a:solidFill>
              </a:defRPr>
            </a:lvl1pPr>
            <a:lvl2pPr>
              <a:buNone/>
              <a:defRPr sz="3150" b="1">
                <a:solidFill>
                  <a:srgbClr val="173247"/>
                </a:solidFill>
              </a:defRPr>
            </a:lvl2pPr>
            <a:lvl3pPr>
              <a:buNone/>
              <a:defRPr sz="3150" b="1">
                <a:solidFill>
                  <a:srgbClr val="173247"/>
                </a:solidFill>
              </a:defRPr>
            </a:lvl3pPr>
            <a:lvl4pPr>
              <a:buNone/>
              <a:defRPr sz="3150" b="1">
                <a:solidFill>
                  <a:srgbClr val="173247"/>
                </a:solidFill>
              </a:defRPr>
            </a:lvl4pPr>
            <a:lvl5pPr>
              <a:buNone/>
              <a:defRPr sz="3150" b="1">
                <a:solidFill>
                  <a:srgbClr val="173247"/>
                </a:solidFill>
              </a:defRPr>
            </a:lvl5pPr>
            <a:lvl6pPr>
              <a:buNone/>
              <a:defRPr sz="3150" b="1">
                <a:solidFill>
                  <a:srgbClr val="173247"/>
                </a:solidFill>
              </a:defRPr>
            </a:lvl6pPr>
            <a:lvl7pPr>
              <a:buNone/>
              <a:defRPr sz="3150" b="1">
                <a:solidFill>
                  <a:srgbClr val="173247"/>
                </a:solidFill>
              </a:defRPr>
            </a:lvl7pPr>
            <a:lvl8pPr>
              <a:buNone/>
              <a:defRPr sz="3150" b="1">
                <a:solidFill>
                  <a:srgbClr val="173247"/>
                </a:solidFill>
              </a:defRPr>
            </a:lvl8pPr>
            <a:lvl9pPr>
              <a:buNone/>
              <a:defRPr sz="3150" b="1">
                <a:solidFill>
                  <a:srgbClr val="173247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73247"/>
                </a:solidFill>
              </a:defRPr>
            </a:pPr>
            <a:r>
              <a:rPr sz="3150" b="1">
                <a:solidFill>
                  <a:srgbClr val="173247"/>
                </a:solidFill>
              </a:rPr>
              <a:t>Vocabulary: follow-up and summaries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AB6AE4E-1D52-6BC4-0C74-84F9584E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96974"/>
                </a:solidFill>
              </a:defRPr>
            </a:defPPr>
            <a:lvl1pPr>
              <a:buNone/>
              <a:defRPr sz="1725" b="0">
                <a:solidFill>
                  <a:srgbClr val="596974"/>
                </a:solidFill>
              </a:defRPr>
            </a:lvl1pPr>
            <a:lvl2pPr>
              <a:buNone/>
              <a:defRPr sz="1725" b="0">
                <a:solidFill>
                  <a:srgbClr val="596974"/>
                </a:solidFill>
              </a:defRPr>
            </a:lvl2pPr>
            <a:lvl3pPr>
              <a:buNone/>
              <a:defRPr sz="1725" b="0">
                <a:solidFill>
                  <a:srgbClr val="596974"/>
                </a:solidFill>
              </a:defRPr>
            </a:lvl3pPr>
            <a:lvl4pPr>
              <a:buNone/>
              <a:defRPr sz="1725" b="0">
                <a:solidFill>
                  <a:srgbClr val="596974"/>
                </a:solidFill>
              </a:defRPr>
            </a:lvl4pPr>
            <a:lvl5pPr>
              <a:buNone/>
              <a:defRPr sz="1725" b="0">
                <a:solidFill>
                  <a:srgbClr val="596974"/>
                </a:solidFill>
              </a:defRPr>
            </a:lvl5pPr>
            <a:lvl6pPr>
              <a:buNone/>
              <a:defRPr sz="1725" b="0">
                <a:solidFill>
                  <a:srgbClr val="596974"/>
                </a:solidFill>
              </a:defRPr>
            </a:lvl6pPr>
            <a:lvl7pPr>
              <a:buNone/>
              <a:defRPr sz="1725" b="0">
                <a:solidFill>
                  <a:srgbClr val="596974"/>
                </a:solidFill>
              </a:defRPr>
            </a:lvl7pPr>
            <a:lvl8pPr>
              <a:buNone/>
              <a:defRPr sz="1725" b="0">
                <a:solidFill>
                  <a:srgbClr val="596974"/>
                </a:solidFill>
              </a:defRPr>
            </a:lvl8pPr>
            <a:lvl9pPr>
              <a:buNone/>
              <a:defRPr sz="17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96974"/>
                </a:solidFill>
              </a:defRPr>
            </a:pPr>
            <a:r>
              <a:rPr sz="1725" b="0">
                <a:solidFill>
                  <a:srgbClr val="596974"/>
                </a:solidFill>
              </a:rPr>
              <a:t>Approved vocabulary · October 21, 2026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6FEB801-1721-C951-8497-5243E51D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974"/>
                </a:solidFill>
              </a:defRPr>
            </a:defPPr>
            <a:lvl1pPr>
              <a:buNone/>
              <a:defRPr sz="1125" b="0">
                <a:solidFill>
                  <a:srgbClr val="596974"/>
                </a:solidFill>
              </a:defRPr>
            </a:lvl1pPr>
            <a:lvl2pPr>
              <a:buNone/>
              <a:defRPr sz="1125" b="0">
                <a:solidFill>
                  <a:srgbClr val="596974"/>
                </a:solidFill>
              </a:defRPr>
            </a:lvl2pPr>
            <a:lvl3pPr>
              <a:buNone/>
              <a:defRPr sz="1125" b="0">
                <a:solidFill>
                  <a:srgbClr val="596974"/>
                </a:solidFill>
              </a:defRPr>
            </a:lvl3pPr>
            <a:lvl4pPr>
              <a:buNone/>
              <a:defRPr sz="1125" b="0">
                <a:solidFill>
                  <a:srgbClr val="596974"/>
                </a:solidFill>
              </a:defRPr>
            </a:lvl4pPr>
            <a:lvl5pPr>
              <a:buNone/>
              <a:defRPr sz="1125" b="0">
                <a:solidFill>
                  <a:srgbClr val="596974"/>
                </a:solidFill>
              </a:defRPr>
            </a:lvl5pPr>
            <a:lvl6pPr>
              <a:buNone/>
              <a:defRPr sz="1125" b="0">
                <a:solidFill>
                  <a:srgbClr val="596974"/>
                </a:solidFill>
              </a:defRPr>
            </a:lvl6pPr>
            <a:lvl7pPr>
              <a:buNone/>
              <a:defRPr sz="1125" b="0">
                <a:solidFill>
                  <a:srgbClr val="596974"/>
                </a:solidFill>
              </a:defRPr>
            </a:lvl7pPr>
            <a:lvl8pPr>
              <a:buNone/>
              <a:defRPr sz="1125" b="0">
                <a:solidFill>
                  <a:srgbClr val="596974"/>
                </a:solidFill>
              </a:defRPr>
            </a:lvl8pPr>
            <a:lvl9pPr>
              <a:buNone/>
              <a:defRPr sz="11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596974"/>
                </a:solidFill>
              </a:defRPr>
            </a:pPr>
            <a:r>
              <a:rPr sz="1125" b="0">
                <a:solidFill>
                  <a:srgbClr val="596974"/>
                </a:solidFill>
              </a:rPr>
              <a:t>Vocabulary review    •    </a:t>
            </a:r>
            <a:r>
              <a:rPr sz="1125" b="0">
                <a:solidFill>
                  <a:srgbClr val="596974"/>
                </a:solidFill>
              </a:rPr>
              <a:t>Approved wording</a:t>
            </a:r>
            <a:r>
              <a:rPr sz="1125" b="0">
                <a:solidFill>
                  <a:srgbClr val="596974"/>
                </a:solidFill>
              </a:rPr>
              <a:t>    •    6</a:t>
            </a:r>
          </a:p>
        </p:txBody>
      </p:sp>
      <p:graphicFrame>
        <p:nvGraphicFramePr>
          <p:cNvPr id="4" name="Table 3">
            <a:extLst xmlns:a="http://schemas.openxmlformats.org/drawingml/2006/main">
              <a:ext uri="{FF2B5EF4-FFF2-40B4-BE49-F238E27FC236}">
                <a16:creationId xmlns:a16="http://schemas.microsoft.com/office/drawing/2014/main" id="{5CB6442A-1310-401F-A581-D05D0B2D4FA3}"/>
              </a:ext>
            </a:extLst>
          </p:cNvPr>
          <p:cNvGraphicFramePr/>
          <p:nvPr/>
        </p:nvGraphicFramePr>
        <p:xfrm>
          <a:off xmlns:a="http://schemas.openxmlformats.org/drawingml/2006/main" x="533400" y="1809750"/>
          <a:ext xmlns:a="http://schemas.openxmlformats.org/drawingml/2006/main" cx="111252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4524375"/>
                <a:gridCol w="5076825"/>
              </a:tblGrid>
              <a:tr h="463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CURRENT WORDING / EXAMPLES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APPROVED NAME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Recording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Post-presentation materials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Recording and transcripts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Document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Working writeup / Word Draft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Draft writeup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Document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Final Writeup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Final writeup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Summary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Presentation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Presentation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Summary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Staff discussion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Post-presentation discussion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Analysis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Discussion Sentiment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Post-presentation discussion sentiment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Collection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Program briefing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Discussion summaries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Research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Cycle Dossier / Scientific briefing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Scientific dossier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22148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7E28D76-899B-436F-B9E4-D9DFF708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3247"/>
                </a:solidFill>
              </a:defRPr>
            </a:defPPr>
            <a:lvl1pPr>
              <a:buNone/>
              <a:defRPr sz="3150" b="1">
                <a:solidFill>
                  <a:srgbClr val="173247"/>
                </a:solidFill>
              </a:defRPr>
            </a:lvl1pPr>
            <a:lvl2pPr>
              <a:buNone/>
              <a:defRPr sz="3150" b="1">
                <a:solidFill>
                  <a:srgbClr val="173247"/>
                </a:solidFill>
              </a:defRPr>
            </a:lvl2pPr>
            <a:lvl3pPr>
              <a:buNone/>
              <a:defRPr sz="3150" b="1">
                <a:solidFill>
                  <a:srgbClr val="173247"/>
                </a:solidFill>
              </a:defRPr>
            </a:lvl3pPr>
            <a:lvl4pPr>
              <a:buNone/>
              <a:defRPr sz="3150" b="1">
                <a:solidFill>
                  <a:srgbClr val="173247"/>
                </a:solidFill>
              </a:defRPr>
            </a:lvl4pPr>
            <a:lvl5pPr>
              <a:buNone/>
              <a:defRPr sz="3150" b="1">
                <a:solidFill>
                  <a:srgbClr val="173247"/>
                </a:solidFill>
              </a:defRPr>
            </a:lvl5pPr>
            <a:lvl6pPr>
              <a:buNone/>
              <a:defRPr sz="3150" b="1">
                <a:solidFill>
                  <a:srgbClr val="173247"/>
                </a:solidFill>
              </a:defRPr>
            </a:lvl6pPr>
            <a:lvl7pPr>
              <a:buNone/>
              <a:defRPr sz="3150" b="1">
                <a:solidFill>
                  <a:srgbClr val="173247"/>
                </a:solidFill>
              </a:defRPr>
            </a:lvl7pPr>
            <a:lvl8pPr>
              <a:buNone/>
              <a:defRPr sz="3150" b="1">
                <a:solidFill>
                  <a:srgbClr val="173247"/>
                </a:solidFill>
              </a:defRPr>
            </a:lvl8pPr>
            <a:lvl9pPr>
              <a:buNone/>
              <a:defRPr sz="3150" b="1">
                <a:solidFill>
                  <a:srgbClr val="173247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73247"/>
                </a:solidFill>
              </a:defRPr>
            </a:pPr>
            <a:r>
              <a:rPr sz="3150" b="1">
                <a:solidFill>
                  <a:srgbClr val="173247"/>
                </a:solidFill>
              </a:rPr>
              <a:t>Workbench: a document and a meeting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C9595F-66EC-4D3C-9DAD-49C887A6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96974"/>
                </a:solidFill>
              </a:defRPr>
            </a:defPPr>
            <a:lvl1pPr>
              <a:buNone/>
              <a:defRPr sz="1725" b="0">
                <a:solidFill>
                  <a:srgbClr val="596974"/>
                </a:solidFill>
              </a:defRPr>
            </a:lvl1pPr>
            <a:lvl2pPr>
              <a:buNone/>
              <a:defRPr sz="1725" b="0">
                <a:solidFill>
                  <a:srgbClr val="596974"/>
                </a:solidFill>
              </a:defRPr>
            </a:lvl2pPr>
            <a:lvl3pPr>
              <a:buNone/>
              <a:defRPr sz="1725" b="0">
                <a:solidFill>
                  <a:srgbClr val="596974"/>
                </a:solidFill>
              </a:defRPr>
            </a:lvl3pPr>
            <a:lvl4pPr>
              <a:buNone/>
              <a:defRPr sz="1725" b="0">
                <a:solidFill>
                  <a:srgbClr val="596974"/>
                </a:solidFill>
              </a:defRPr>
            </a:lvl4pPr>
            <a:lvl5pPr>
              <a:buNone/>
              <a:defRPr sz="1725" b="0">
                <a:solidFill>
                  <a:srgbClr val="596974"/>
                </a:solidFill>
              </a:defRPr>
            </a:lvl5pPr>
            <a:lvl6pPr>
              <a:buNone/>
              <a:defRPr sz="1725" b="0">
                <a:solidFill>
                  <a:srgbClr val="596974"/>
                </a:solidFill>
              </a:defRPr>
            </a:lvl6pPr>
            <a:lvl7pPr>
              <a:buNone/>
              <a:defRPr sz="1725" b="0">
                <a:solidFill>
                  <a:srgbClr val="596974"/>
                </a:solidFill>
              </a:defRPr>
            </a:lvl7pPr>
            <a:lvl8pPr>
              <a:buNone/>
              <a:defRPr sz="1725" b="0">
                <a:solidFill>
                  <a:srgbClr val="596974"/>
                </a:solidFill>
              </a:defRPr>
            </a:lvl8pPr>
            <a:lvl9pPr>
              <a:buNone/>
              <a:defRPr sz="17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96974"/>
                </a:solidFill>
              </a:defRPr>
            </a:pPr>
            <a:r>
              <a:rPr sz="1725" b="0">
                <a:solidFill>
                  <a:srgbClr val="596974"/>
                </a:solidFill>
              </a:rPr>
              <a:t>Staff Deliberations remains the request tab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92F67E-C6A4-417A-9B19-8057212D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974"/>
                </a:solidFill>
              </a:defRPr>
            </a:defPPr>
            <a:lvl1pPr>
              <a:buNone/>
              <a:defRPr sz="1125" b="0">
                <a:solidFill>
                  <a:srgbClr val="596974"/>
                </a:solidFill>
              </a:defRPr>
            </a:lvl1pPr>
            <a:lvl2pPr>
              <a:buNone/>
              <a:defRPr sz="1125" b="0">
                <a:solidFill>
                  <a:srgbClr val="596974"/>
                </a:solidFill>
              </a:defRPr>
            </a:lvl2pPr>
            <a:lvl3pPr>
              <a:buNone/>
              <a:defRPr sz="1125" b="0">
                <a:solidFill>
                  <a:srgbClr val="596974"/>
                </a:solidFill>
              </a:defRPr>
            </a:lvl3pPr>
            <a:lvl4pPr>
              <a:buNone/>
              <a:defRPr sz="1125" b="0">
                <a:solidFill>
                  <a:srgbClr val="596974"/>
                </a:solidFill>
              </a:defRPr>
            </a:lvl4pPr>
            <a:lvl5pPr>
              <a:buNone/>
              <a:defRPr sz="1125" b="0">
                <a:solidFill>
                  <a:srgbClr val="596974"/>
                </a:solidFill>
              </a:defRPr>
            </a:lvl5pPr>
            <a:lvl6pPr>
              <a:buNone/>
              <a:defRPr sz="1125" b="0">
                <a:solidFill>
                  <a:srgbClr val="596974"/>
                </a:solidFill>
              </a:defRPr>
            </a:lvl6pPr>
            <a:lvl7pPr>
              <a:buNone/>
              <a:defRPr sz="1125" b="0">
                <a:solidFill>
                  <a:srgbClr val="596974"/>
                </a:solidFill>
              </a:defRPr>
            </a:lvl7pPr>
            <a:lvl8pPr>
              <a:buNone/>
              <a:defRPr sz="1125" b="0">
                <a:solidFill>
                  <a:srgbClr val="596974"/>
                </a:solidFill>
              </a:defRPr>
            </a:lvl8pPr>
            <a:lvl9pPr>
              <a:buNone/>
              <a:defRPr sz="11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596974"/>
                </a:solidFill>
              </a:defRPr>
            </a:pPr>
            <a:r>
              <a:rPr sz="1125" b="0">
                <a:solidFill>
                  <a:srgbClr val="596974"/>
                </a:solidFill>
              </a:rPr>
              <a:t>Vocabulary review    •    </a:t>
            </a:r>
            <a:r>
              <a:rPr sz="1125" b="0">
                <a:solidFill>
                  <a:srgbClr val="596974"/>
                </a:solidFill>
              </a:rPr>
              <a:t>Approved wording</a:t>
            </a:r>
            <a:r>
              <a:rPr sz="1125" b="0">
                <a:solidFill>
                  <a:srgbClr val="596974"/>
                </a:solidFill>
              </a:rPr>
              <a:t>    •    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2330B4-8693-4181-8181-3553C3A8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96974"/>
                </a:solidFill>
              </a:defRPr>
            </a:defPPr>
            <a:lvl1pPr>
              <a:buNone/>
              <a:defRPr sz="1350" b="1">
                <a:solidFill>
                  <a:srgbClr val="596974"/>
                </a:solidFill>
              </a:defRPr>
            </a:lvl1pPr>
            <a:lvl2pPr>
              <a:buNone/>
              <a:defRPr sz="1350" b="1">
                <a:solidFill>
                  <a:srgbClr val="596974"/>
                </a:solidFill>
              </a:defRPr>
            </a:lvl2pPr>
            <a:lvl3pPr>
              <a:buNone/>
              <a:defRPr sz="1350" b="1">
                <a:solidFill>
                  <a:srgbClr val="596974"/>
                </a:solidFill>
              </a:defRPr>
            </a:lvl3pPr>
            <a:lvl4pPr>
              <a:buNone/>
              <a:defRPr sz="1350" b="1">
                <a:solidFill>
                  <a:srgbClr val="596974"/>
                </a:solidFill>
              </a:defRPr>
            </a:lvl4pPr>
            <a:lvl5pPr>
              <a:buNone/>
              <a:defRPr sz="1350" b="1">
                <a:solidFill>
                  <a:srgbClr val="596974"/>
                </a:solidFill>
              </a:defRPr>
            </a:lvl5pPr>
            <a:lvl6pPr>
              <a:buNone/>
              <a:defRPr sz="1350" b="1">
                <a:solidFill>
                  <a:srgbClr val="596974"/>
                </a:solidFill>
              </a:defRPr>
            </a:lvl6pPr>
            <a:lvl7pPr>
              <a:buNone/>
              <a:defRPr sz="1350" b="1">
                <a:solidFill>
                  <a:srgbClr val="596974"/>
                </a:solidFill>
              </a:defRPr>
            </a:lvl7pPr>
            <a:lvl8pPr>
              <a:buNone/>
              <a:defRPr sz="1350" b="1">
                <a:solidFill>
                  <a:srgbClr val="596974"/>
                </a:solidFill>
              </a:defRPr>
            </a:lvl8pPr>
            <a:lvl9pPr>
              <a:buNone/>
              <a:defRPr sz="1350" b="1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596974"/>
                </a:solidFill>
              </a:defRPr>
            </a:pPr>
            <a:r>
              <a:rPr sz="1350" b="1">
                <a:solidFill>
                  <a:srgbClr val="596974"/>
                </a:solidFill>
              </a:rPr>
              <a:t>BEFORE · CURRENT WORDING</a:t>
            </a:r>
          </a:p>
        </p:txBody>
      </p:sp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8CEDA84F-6453-459D-A8C5-18B9953405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768ae98c7b4550"/>
          <a:stretch xmlns:a="http://schemas.openxmlformats.org/drawingml/2006/main"/>
        </p:blipFill>
        <p:spPr>
          <a:xfrm xmlns:a="http://schemas.openxmlformats.org/drawingml/2006/main">
            <a:off x="533901" y="1943100"/>
            <a:ext cx="5313947" cy="4038600"/>
          </a:xfrm>
          <a:prstGeom xmlns:a="http://schemas.openxmlformats.org/drawingml/2006/main" prst="rect">
            <a:avLst/>
          </a:prstGeom>
        </p:spPr>
      </p:pic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7AB6719-1027-4DF0-B640-E83D4EF7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36650"/>
                </a:solidFill>
              </a:defRPr>
            </a:defPPr>
            <a:lvl1pPr>
              <a:buNone/>
              <a:defRPr sz="1350" b="1">
                <a:solidFill>
                  <a:srgbClr val="236650"/>
                </a:solidFill>
              </a:defRPr>
            </a:lvl1pPr>
            <a:lvl2pPr>
              <a:buNone/>
              <a:defRPr sz="1350" b="1">
                <a:solidFill>
                  <a:srgbClr val="236650"/>
                </a:solidFill>
              </a:defRPr>
            </a:lvl2pPr>
            <a:lvl3pPr>
              <a:buNone/>
              <a:defRPr sz="1350" b="1">
                <a:solidFill>
                  <a:srgbClr val="236650"/>
                </a:solidFill>
              </a:defRPr>
            </a:lvl3pPr>
            <a:lvl4pPr>
              <a:buNone/>
              <a:defRPr sz="1350" b="1">
                <a:solidFill>
                  <a:srgbClr val="236650"/>
                </a:solidFill>
              </a:defRPr>
            </a:lvl4pPr>
            <a:lvl5pPr>
              <a:buNone/>
              <a:defRPr sz="1350" b="1">
                <a:solidFill>
                  <a:srgbClr val="236650"/>
                </a:solidFill>
              </a:defRPr>
            </a:lvl5pPr>
            <a:lvl6pPr>
              <a:buNone/>
              <a:defRPr sz="1350" b="1">
                <a:solidFill>
                  <a:srgbClr val="236650"/>
                </a:solidFill>
              </a:defRPr>
            </a:lvl6pPr>
            <a:lvl7pPr>
              <a:buNone/>
              <a:defRPr sz="1350" b="1">
                <a:solidFill>
                  <a:srgbClr val="236650"/>
                </a:solidFill>
              </a:defRPr>
            </a:lvl7pPr>
            <a:lvl8pPr>
              <a:buNone/>
              <a:defRPr sz="1350" b="1">
                <a:solidFill>
                  <a:srgbClr val="236650"/>
                </a:solidFill>
              </a:defRPr>
            </a:lvl8pPr>
            <a:lvl9pPr>
              <a:buNone/>
              <a:defRPr sz="1350" b="1">
                <a:solidFill>
                  <a:srgbClr val="23665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236650"/>
                </a:solidFill>
              </a:defRPr>
            </a:pPr>
            <a:r>
              <a:rPr sz="1350" b="1">
                <a:solidFill>
                  <a:srgbClr val="236650"/>
                </a:solidFill>
              </a:rPr>
              <a:t>AFTER · APPROVED</a:t>
            </a:r>
          </a:p>
        </p:txBody>
      </p:sp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8D4E1190-D90C-4A89-A315-96F34C630B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07c19b220412b"/>
          <a:stretch xmlns:a="http://schemas.openxmlformats.org/drawingml/2006/main"/>
        </p:blipFill>
        <p:spPr>
          <a:xfrm xmlns:a="http://schemas.openxmlformats.org/drawingml/2006/main">
            <a:off x="6344151" y="1943100"/>
            <a:ext cx="5313947" cy="4038600"/>
          </a:xfrm>
          <a:prstGeom xmlns:a="http://schemas.openxmlformats.org/drawingml/2006/main" prst="rect">
            <a:avLst/>
          </a:prstGeom>
        </p:spPr>
      </p:pic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1FF72AA-13BC-4D05-9BA4-3F3DE8CA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57900"/>
            <a:ext cx="1114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96974"/>
                </a:solidFill>
              </a:defRPr>
            </a:defPPr>
            <a:lvl1pPr>
              <a:buNone/>
              <a:defRPr sz="1500" b="0">
                <a:solidFill>
                  <a:srgbClr val="596974"/>
                </a:solidFill>
              </a:defRPr>
            </a:lvl1pPr>
            <a:lvl2pPr>
              <a:buNone/>
              <a:defRPr sz="1500" b="0">
                <a:solidFill>
                  <a:srgbClr val="596974"/>
                </a:solidFill>
              </a:defRPr>
            </a:lvl2pPr>
            <a:lvl3pPr>
              <a:buNone/>
              <a:defRPr sz="1500" b="0">
                <a:solidFill>
                  <a:srgbClr val="596974"/>
                </a:solidFill>
              </a:defRPr>
            </a:lvl3pPr>
            <a:lvl4pPr>
              <a:buNone/>
              <a:defRPr sz="1500" b="0">
                <a:solidFill>
                  <a:srgbClr val="596974"/>
                </a:solidFill>
              </a:defRPr>
            </a:lvl4pPr>
            <a:lvl5pPr>
              <a:buNone/>
              <a:defRPr sz="1500" b="0">
                <a:solidFill>
                  <a:srgbClr val="596974"/>
                </a:solidFill>
              </a:defRPr>
            </a:lvl5pPr>
            <a:lvl6pPr>
              <a:buNone/>
              <a:defRPr sz="1500" b="0">
                <a:solidFill>
                  <a:srgbClr val="596974"/>
                </a:solidFill>
              </a:defRPr>
            </a:lvl6pPr>
            <a:lvl7pPr>
              <a:buNone/>
              <a:defRPr sz="1500" b="0">
                <a:solidFill>
                  <a:srgbClr val="596974"/>
                </a:solidFill>
              </a:defRPr>
            </a:lvl7pPr>
            <a:lvl8pPr>
              <a:buNone/>
              <a:defRPr sz="1500" b="0">
                <a:solidFill>
                  <a:srgbClr val="596974"/>
                </a:solidFill>
              </a:defRPr>
            </a:lvl8pPr>
            <a:lvl9pPr>
              <a:buNone/>
              <a:defRPr sz="1500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596974"/>
                </a:solidFill>
              </a:defRPr>
            </a:pPr>
            <a:r>
              <a:rPr sz="1500" b="0">
                <a:solidFill>
                  <a:srgbClr val="596974"/>
                </a:solidFill>
              </a:rPr>
              <a:t>The brief is one authored document. The session covers multiple proposals.</a:t>
            </a:r>
          </a:p>
        </p:txBody>
      </p:sp>
    </p:spTree>
    <p:extLst>
      <p:ext uri="{BB962C8B-B14F-4D97-AF65-F5344CB8AC3E}">
        <p14:creationId xmlns:p14="http://schemas.microsoft.com/office/powerpoint/2010/main" val="15954926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7829256-B31C-4F11-889B-2693165B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3247"/>
                </a:solidFill>
              </a:defRPr>
            </a:defPPr>
            <a:lvl1pPr>
              <a:buNone/>
              <a:defRPr sz="3150" b="1">
                <a:solidFill>
                  <a:srgbClr val="173247"/>
                </a:solidFill>
              </a:defRPr>
            </a:lvl1pPr>
            <a:lvl2pPr>
              <a:buNone/>
              <a:defRPr sz="3150" b="1">
                <a:solidFill>
                  <a:srgbClr val="173247"/>
                </a:solidFill>
              </a:defRPr>
            </a:lvl2pPr>
            <a:lvl3pPr>
              <a:buNone/>
              <a:defRPr sz="3150" b="1">
                <a:solidFill>
                  <a:srgbClr val="173247"/>
                </a:solidFill>
              </a:defRPr>
            </a:lvl3pPr>
            <a:lvl4pPr>
              <a:buNone/>
              <a:defRPr sz="3150" b="1">
                <a:solidFill>
                  <a:srgbClr val="173247"/>
                </a:solidFill>
              </a:defRPr>
            </a:lvl4pPr>
            <a:lvl5pPr>
              <a:buNone/>
              <a:defRPr sz="3150" b="1">
                <a:solidFill>
                  <a:srgbClr val="173247"/>
                </a:solidFill>
              </a:defRPr>
            </a:lvl5pPr>
            <a:lvl6pPr>
              <a:buNone/>
              <a:defRPr sz="3150" b="1">
                <a:solidFill>
                  <a:srgbClr val="173247"/>
                </a:solidFill>
              </a:defRPr>
            </a:lvl6pPr>
            <a:lvl7pPr>
              <a:buNone/>
              <a:defRPr sz="3150" b="1">
                <a:solidFill>
                  <a:srgbClr val="173247"/>
                </a:solidFill>
              </a:defRPr>
            </a:lvl7pPr>
            <a:lvl8pPr>
              <a:buNone/>
              <a:defRPr sz="3150" b="1">
                <a:solidFill>
                  <a:srgbClr val="173247"/>
                </a:solidFill>
              </a:defRPr>
            </a:lvl8pPr>
            <a:lvl9pPr>
              <a:buNone/>
              <a:defRPr sz="3150" b="1">
                <a:solidFill>
                  <a:srgbClr val="173247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73247"/>
                </a:solidFill>
              </a:defRPr>
            </a:pPr>
            <a:r>
              <a:rPr sz="3150" b="1">
                <a:solidFill>
                  <a:srgbClr val="173247"/>
                </a:solidFill>
              </a:rPr>
              <a:t>Shared page: the packet contains the brief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16B3D5-3DAD-4D42-A065-CF3F40FA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96974"/>
                </a:solidFill>
              </a:defRPr>
            </a:defPPr>
            <a:lvl1pPr>
              <a:buNone/>
              <a:defRPr sz="1725" b="0">
                <a:solidFill>
                  <a:srgbClr val="596974"/>
                </a:solidFill>
              </a:defRPr>
            </a:lvl1pPr>
            <a:lvl2pPr>
              <a:buNone/>
              <a:defRPr sz="1725" b="0">
                <a:solidFill>
                  <a:srgbClr val="596974"/>
                </a:solidFill>
              </a:defRPr>
            </a:lvl2pPr>
            <a:lvl3pPr>
              <a:buNone/>
              <a:defRPr sz="1725" b="0">
                <a:solidFill>
                  <a:srgbClr val="596974"/>
                </a:solidFill>
              </a:defRPr>
            </a:lvl3pPr>
            <a:lvl4pPr>
              <a:buNone/>
              <a:defRPr sz="1725" b="0">
                <a:solidFill>
                  <a:srgbClr val="596974"/>
                </a:solidFill>
              </a:defRPr>
            </a:lvl4pPr>
            <a:lvl5pPr>
              <a:buNone/>
              <a:defRPr sz="1725" b="0">
                <a:solidFill>
                  <a:srgbClr val="596974"/>
                </a:solidFill>
              </a:defRPr>
            </a:lvl5pPr>
            <a:lvl6pPr>
              <a:buNone/>
              <a:defRPr sz="1725" b="0">
                <a:solidFill>
                  <a:srgbClr val="596974"/>
                </a:solidFill>
              </a:defRPr>
            </a:lvl6pPr>
            <a:lvl7pPr>
              <a:buNone/>
              <a:defRPr sz="1725" b="0">
                <a:solidFill>
                  <a:srgbClr val="596974"/>
                </a:solidFill>
              </a:defRPr>
            </a:lvl7pPr>
            <a:lvl8pPr>
              <a:buNone/>
              <a:defRPr sz="1725" b="0">
                <a:solidFill>
                  <a:srgbClr val="596974"/>
                </a:solidFill>
              </a:defRPr>
            </a:lvl8pPr>
            <a:lvl9pPr>
              <a:buNone/>
              <a:defRPr sz="17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96974"/>
                </a:solidFill>
              </a:defRPr>
            </a:pPr>
            <a:r>
              <a:rPr sz="1725" b="0">
                <a:solidFill>
                  <a:srgbClr val="596974"/>
                </a:solidFill>
              </a:rPr>
              <a:t>A distinct name for the collection of supporting materials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569B8CB-9025-4477-9199-35399DCD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974"/>
                </a:solidFill>
              </a:defRPr>
            </a:defPPr>
            <a:lvl1pPr>
              <a:buNone/>
              <a:defRPr sz="1125" b="0">
                <a:solidFill>
                  <a:srgbClr val="596974"/>
                </a:solidFill>
              </a:defRPr>
            </a:lvl1pPr>
            <a:lvl2pPr>
              <a:buNone/>
              <a:defRPr sz="1125" b="0">
                <a:solidFill>
                  <a:srgbClr val="596974"/>
                </a:solidFill>
              </a:defRPr>
            </a:lvl2pPr>
            <a:lvl3pPr>
              <a:buNone/>
              <a:defRPr sz="1125" b="0">
                <a:solidFill>
                  <a:srgbClr val="596974"/>
                </a:solidFill>
              </a:defRPr>
            </a:lvl3pPr>
            <a:lvl4pPr>
              <a:buNone/>
              <a:defRPr sz="1125" b="0">
                <a:solidFill>
                  <a:srgbClr val="596974"/>
                </a:solidFill>
              </a:defRPr>
            </a:lvl4pPr>
            <a:lvl5pPr>
              <a:buNone/>
              <a:defRPr sz="1125" b="0">
                <a:solidFill>
                  <a:srgbClr val="596974"/>
                </a:solidFill>
              </a:defRPr>
            </a:lvl5pPr>
            <a:lvl6pPr>
              <a:buNone/>
              <a:defRPr sz="1125" b="0">
                <a:solidFill>
                  <a:srgbClr val="596974"/>
                </a:solidFill>
              </a:defRPr>
            </a:lvl6pPr>
            <a:lvl7pPr>
              <a:buNone/>
              <a:defRPr sz="1125" b="0">
                <a:solidFill>
                  <a:srgbClr val="596974"/>
                </a:solidFill>
              </a:defRPr>
            </a:lvl7pPr>
            <a:lvl8pPr>
              <a:buNone/>
              <a:defRPr sz="1125" b="0">
                <a:solidFill>
                  <a:srgbClr val="596974"/>
                </a:solidFill>
              </a:defRPr>
            </a:lvl8pPr>
            <a:lvl9pPr>
              <a:buNone/>
              <a:defRPr sz="11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596974"/>
                </a:solidFill>
              </a:defRPr>
            </a:pPr>
            <a:r>
              <a:rPr sz="1125" b="0">
                <a:solidFill>
                  <a:srgbClr val="596974"/>
                </a:solidFill>
              </a:rPr>
              <a:t>Vocabulary review    •    </a:t>
            </a:r>
            <a:r>
              <a:rPr sz="1125" b="0">
                <a:solidFill>
                  <a:srgbClr val="596974"/>
                </a:solidFill>
              </a:rPr>
              <a:t>Approved wording</a:t>
            </a:r>
            <a:r>
              <a:rPr sz="1125" b="0">
                <a:solidFill>
                  <a:srgbClr val="596974"/>
                </a:solidFill>
              </a:rPr>
              <a:t>    •    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E63D19-2233-4415-928C-18B6F701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96974"/>
                </a:solidFill>
              </a:defRPr>
            </a:defPPr>
            <a:lvl1pPr>
              <a:buNone/>
              <a:defRPr sz="1350" b="1">
                <a:solidFill>
                  <a:srgbClr val="596974"/>
                </a:solidFill>
              </a:defRPr>
            </a:lvl1pPr>
            <a:lvl2pPr>
              <a:buNone/>
              <a:defRPr sz="1350" b="1">
                <a:solidFill>
                  <a:srgbClr val="596974"/>
                </a:solidFill>
              </a:defRPr>
            </a:lvl2pPr>
            <a:lvl3pPr>
              <a:buNone/>
              <a:defRPr sz="1350" b="1">
                <a:solidFill>
                  <a:srgbClr val="596974"/>
                </a:solidFill>
              </a:defRPr>
            </a:lvl3pPr>
            <a:lvl4pPr>
              <a:buNone/>
              <a:defRPr sz="1350" b="1">
                <a:solidFill>
                  <a:srgbClr val="596974"/>
                </a:solidFill>
              </a:defRPr>
            </a:lvl4pPr>
            <a:lvl5pPr>
              <a:buNone/>
              <a:defRPr sz="1350" b="1">
                <a:solidFill>
                  <a:srgbClr val="596974"/>
                </a:solidFill>
              </a:defRPr>
            </a:lvl5pPr>
            <a:lvl6pPr>
              <a:buNone/>
              <a:defRPr sz="1350" b="1">
                <a:solidFill>
                  <a:srgbClr val="596974"/>
                </a:solidFill>
              </a:defRPr>
            </a:lvl6pPr>
            <a:lvl7pPr>
              <a:buNone/>
              <a:defRPr sz="1350" b="1">
                <a:solidFill>
                  <a:srgbClr val="596974"/>
                </a:solidFill>
              </a:defRPr>
            </a:lvl7pPr>
            <a:lvl8pPr>
              <a:buNone/>
              <a:defRPr sz="1350" b="1">
                <a:solidFill>
                  <a:srgbClr val="596974"/>
                </a:solidFill>
              </a:defRPr>
            </a:lvl8pPr>
            <a:lvl9pPr>
              <a:buNone/>
              <a:defRPr sz="1350" b="1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596974"/>
                </a:solidFill>
              </a:defRPr>
            </a:pPr>
            <a:r>
              <a:rPr sz="1350" b="1">
                <a:solidFill>
                  <a:srgbClr val="596974"/>
                </a:solidFill>
              </a:rPr>
              <a:t>BEFORE · CURRENT WORDING</a:t>
            </a:r>
          </a:p>
        </p:txBody>
      </p:sp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8BDCAC2F-54A4-4ABC-8BCD-58D1DEFE19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2c8876135483e"/>
          <a:stretch xmlns:a="http://schemas.openxmlformats.org/drawingml/2006/main"/>
        </p:blipFill>
        <p:spPr>
          <a:xfrm xmlns:a="http://schemas.openxmlformats.org/drawingml/2006/main">
            <a:off x="533901" y="1943100"/>
            <a:ext cx="5313947" cy="4038600"/>
          </a:xfrm>
          <a:prstGeom xmlns:a="http://schemas.openxmlformats.org/drawingml/2006/main" prst="rect">
            <a:avLst/>
          </a:prstGeom>
        </p:spPr>
      </p:pic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F5366D4-5A24-4BB0-AC62-8FA4EABC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36650"/>
                </a:solidFill>
              </a:defRPr>
            </a:defPPr>
            <a:lvl1pPr>
              <a:buNone/>
              <a:defRPr sz="1350" b="1">
                <a:solidFill>
                  <a:srgbClr val="236650"/>
                </a:solidFill>
              </a:defRPr>
            </a:lvl1pPr>
            <a:lvl2pPr>
              <a:buNone/>
              <a:defRPr sz="1350" b="1">
                <a:solidFill>
                  <a:srgbClr val="236650"/>
                </a:solidFill>
              </a:defRPr>
            </a:lvl2pPr>
            <a:lvl3pPr>
              <a:buNone/>
              <a:defRPr sz="1350" b="1">
                <a:solidFill>
                  <a:srgbClr val="236650"/>
                </a:solidFill>
              </a:defRPr>
            </a:lvl3pPr>
            <a:lvl4pPr>
              <a:buNone/>
              <a:defRPr sz="1350" b="1">
                <a:solidFill>
                  <a:srgbClr val="236650"/>
                </a:solidFill>
              </a:defRPr>
            </a:lvl4pPr>
            <a:lvl5pPr>
              <a:buNone/>
              <a:defRPr sz="1350" b="1">
                <a:solidFill>
                  <a:srgbClr val="236650"/>
                </a:solidFill>
              </a:defRPr>
            </a:lvl5pPr>
            <a:lvl6pPr>
              <a:buNone/>
              <a:defRPr sz="1350" b="1">
                <a:solidFill>
                  <a:srgbClr val="236650"/>
                </a:solidFill>
              </a:defRPr>
            </a:lvl6pPr>
            <a:lvl7pPr>
              <a:buNone/>
              <a:defRPr sz="1350" b="1">
                <a:solidFill>
                  <a:srgbClr val="236650"/>
                </a:solidFill>
              </a:defRPr>
            </a:lvl7pPr>
            <a:lvl8pPr>
              <a:buNone/>
              <a:defRPr sz="1350" b="1">
                <a:solidFill>
                  <a:srgbClr val="236650"/>
                </a:solidFill>
              </a:defRPr>
            </a:lvl8pPr>
            <a:lvl9pPr>
              <a:buNone/>
              <a:defRPr sz="1350" b="1">
                <a:solidFill>
                  <a:srgbClr val="23665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236650"/>
                </a:solidFill>
              </a:defRPr>
            </a:pPr>
            <a:r>
              <a:rPr sz="1350" b="1">
                <a:solidFill>
                  <a:srgbClr val="236650"/>
                </a:solidFill>
              </a:rPr>
              <a:t>AFTER · APPROVED</a:t>
            </a:r>
          </a:p>
        </p:txBody>
      </p:sp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5B0AAF88-6C51-46E3-8627-E283F854B9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bb852e04564783"/>
          <a:stretch xmlns:a="http://schemas.openxmlformats.org/drawingml/2006/main"/>
        </p:blipFill>
        <p:spPr>
          <a:xfrm xmlns:a="http://schemas.openxmlformats.org/drawingml/2006/main">
            <a:off x="6344151" y="1943100"/>
            <a:ext cx="5313947" cy="4038600"/>
          </a:xfrm>
          <a:prstGeom xmlns:a="http://schemas.openxmlformats.org/drawingml/2006/main" prst="rect">
            <a:avLst/>
          </a:prstGeom>
        </p:spPr>
      </p:pic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CF79066-16EA-43E0-9326-E0019699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57900"/>
            <a:ext cx="1114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96974"/>
                </a:solidFill>
              </a:defRPr>
            </a:defPPr>
            <a:lvl1pPr>
              <a:buNone/>
              <a:defRPr sz="1500" b="0">
                <a:solidFill>
                  <a:srgbClr val="596974"/>
                </a:solidFill>
              </a:defRPr>
            </a:lvl1pPr>
            <a:lvl2pPr>
              <a:buNone/>
              <a:defRPr sz="1500" b="0">
                <a:solidFill>
                  <a:srgbClr val="596974"/>
                </a:solidFill>
              </a:defRPr>
            </a:lvl2pPr>
            <a:lvl3pPr>
              <a:buNone/>
              <a:defRPr sz="1500" b="0">
                <a:solidFill>
                  <a:srgbClr val="596974"/>
                </a:solidFill>
              </a:defRPr>
            </a:lvl3pPr>
            <a:lvl4pPr>
              <a:buNone/>
              <a:defRPr sz="1500" b="0">
                <a:solidFill>
                  <a:srgbClr val="596974"/>
                </a:solidFill>
              </a:defRPr>
            </a:lvl4pPr>
            <a:lvl5pPr>
              <a:buNone/>
              <a:defRPr sz="1500" b="0">
                <a:solidFill>
                  <a:srgbClr val="596974"/>
                </a:solidFill>
              </a:defRPr>
            </a:lvl5pPr>
            <a:lvl6pPr>
              <a:buNone/>
              <a:defRPr sz="1500" b="0">
                <a:solidFill>
                  <a:srgbClr val="596974"/>
                </a:solidFill>
              </a:defRPr>
            </a:lvl6pPr>
            <a:lvl7pPr>
              <a:buNone/>
              <a:defRPr sz="1500" b="0">
                <a:solidFill>
                  <a:srgbClr val="596974"/>
                </a:solidFill>
              </a:defRPr>
            </a:lvl7pPr>
            <a:lvl8pPr>
              <a:buNone/>
              <a:defRPr sz="1500" b="0">
                <a:solidFill>
                  <a:srgbClr val="596974"/>
                </a:solidFill>
              </a:defRPr>
            </a:lvl8pPr>
            <a:lvl9pPr>
              <a:buNone/>
              <a:defRPr sz="1500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596974"/>
                </a:solidFill>
              </a:defRPr>
            </a:pPr>
            <a:r>
              <a:rPr sz="1500" b="0">
                <a:solidFill>
                  <a:srgbClr val="596974"/>
                </a:solidFill>
              </a:rPr>
              <a:t>“Packet” names the shared page. “Brief” names the document within it.</a:t>
            </a:r>
          </a:p>
        </p:txBody>
      </p:sp>
    </p:spTree>
    <p:extLst>
      <p:ext uri="{BB962C8B-B14F-4D97-AF65-F5344CB8AC3E}">
        <p14:creationId xmlns:p14="http://schemas.microsoft.com/office/powerpoint/2010/main" val="791884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910724E-9B65-48D0-92FF-E3C616A8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3247"/>
                </a:solidFill>
              </a:defRPr>
            </a:defPPr>
            <a:lvl1pPr>
              <a:buNone/>
              <a:defRPr sz="3150" b="1">
                <a:solidFill>
                  <a:srgbClr val="173247"/>
                </a:solidFill>
              </a:defRPr>
            </a:lvl1pPr>
            <a:lvl2pPr>
              <a:buNone/>
              <a:defRPr sz="3150" b="1">
                <a:solidFill>
                  <a:srgbClr val="173247"/>
                </a:solidFill>
              </a:defRPr>
            </a:lvl2pPr>
            <a:lvl3pPr>
              <a:buNone/>
              <a:defRPr sz="3150" b="1">
                <a:solidFill>
                  <a:srgbClr val="173247"/>
                </a:solidFill>
              </a:defRPr>
            </a:lvl3pPr>
            <a:lvl4pPr>
              <a:buNone/>
              <a:defRPr sz="3150" b="1">
                <a:solidFill>
                  <a:srgbClr val="173247"/>
                </a:solidFill>
              </a:defRPr>
            </a:lvl4pPr>
            <a:lvl5pPr>
              <a:buNone/>
              <a:defRPr sz="3150" b="1">
                <a:solidFill>
                  <a:srgbClr val="173247"/>
                </a:solidFill>
              </a:defRPr>
            </a:lvl5pPr>
            <a:lvl6pPr>
              <a:buNone/>
              <a:defRPr sz="3150" b="1">
                <a:solidFill>
                  <a:srgbClr val="173247"/>
                </a:solidFill>
              </a:defRPr>
            </a:lvl6pPr>
            <a:lvl7pPr>
              <a:buNone/>
              <a:defRPr sz="3150" b="1">
                <a:solidFill>
                  <a:srgbClr val="173247"/>
                </a:solidFill>
              </a:defRPr>
            </a:lvl7pPr>
            <a:lvl8pPr>
              <a:buNone/>
              <a:defRPr sz="3150" b="1">
                <a:solidFill>
                  <a:srgbClr val="173247"/>
                </a:solidFill>
              </a:defRPr>
            </a:lvl8pPr>
            <a:lvl9pPr>
              <a:buNone/>
              <a:defRPr sz="3150" b="1">
                <a:solidFill>
                  <a:srgbClr val="173247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73247"/>
                </a:solidFill>
              </a:defRPr>
            </a:pPr>
            <a:r>
              <a:rPr sz="3150" b="1">
                <a:solidFill>
                  <a:srgbClr val="173247"/>
                </a:solidFill>
              </a:rPr>
              <a:t>Meeting Tracker: summaries after the presentation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49E64F-E24A-4F91-9A03-01219821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96974"/>
                </a:solidFill>
              </a:defRPr>
            </a:defPPr>
            <a:lvl1pPr>
              <a:buNone/>
              <a:defRPr sz="1725" b="0">
                <a:solidFill>
                  <a:srgbClr val="596974"/>
                </a:solidFill>
              </a:defRPr>
            </a:lvl1pPr>
            <a:lvl2pPr>
              <a:buNone/>
              <a:defRPr sz="1725" b="0">
                <a:solidFill>
                  <a:srgbClr val="596974"/>
                </a:solidFill>
              </a:defRPr>
            </a:lvl2pPr>
            <a:lvl3pPr>
              <a:buNone/>
              <a:defRPr sz="1725" b="0">
                <a:solidFill>
                  <a:srgbClr val="596974"/>
                </a:solidFill>
              </a:defRPr>
            </a:lvl3pPr>
            <a:lvl4pPr>
              <a:buNone/>
              <a:defRPr sz="1725" b="0">
                <a:solidFill>
                  <a:srgbClr val="596974"/>
                </a:solidFill>
              </a:defRPr>
            </a:lvl4pPr>
            <a:lvl5pPr>
              <a:buNone/>
              <a:defRPr sz="1725" b="0">
                <a:solidFill>
                  <a:srgbClr val="596974"/>
                </a:solidFill>
              </a:defRPr>
            </a:lvl5pPr>
            <a:lvl6pPr>
              <a:buNone/>
              <a:defRPr sz="1725" b="0">
                <a:solidFill>
                  <a:srgbClr val="596974"/>
                </a:solidFill>
              </a:defRPr>
            </a:lvl6pPr>
            <a:lvl7pPr>
              <a:buNone/>
              <a:defRPr sz="1725" b="0">
                <a:solidFill>
                  <a:srgbClr val="596974"/>
                </a:solidFill>
              </a:defRPr>
            </a:lvl7pPr>
            <a:lvl8pPr>
              <a:buNone/>
              <a:defRPr sz="1725" b="0">
                <a:solidFill>
                  <a:srgbClr val="596974"/>
                </a:solidFill>
              </a:defRPr>
            </a:lvl8pPr>
            <a:lvl9pPr>
              <a:buNone/>
              <a:defRPr sz="17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96974"/>
                </a:solidFill>
              </a:defRPr>
            </a:pPr>
            <a:r>
              <a:rPr sz="1725" b="0">
                <a:solidFill>
                  <a:srgbClr val="596974"/>
                </a:solidFill>
              </a:rPr>
              <a:t>Consistent wording for the discussion and its program-wide summary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9AAD673-7103-4BFA-9A57-C77953ED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974"/>
                </a:solidFill>
              </a:defRPr>
            </a:defPPr>
            <a:lvl1pPr>
              <a:buNone/>
              <a:defRPr sz="1125" b="0">
                <a:solidFill>
                  <a:srgbClr val="596974"/>
                </a:solidFill>
              </a:defRPr>
            </a:lvl1pPr>
            <a:lvl2pPr>
              <a:buNone/>
              <a:defRPr sz="1125" b="0">
                <a:solidFill>
                  <a:srgbClr val="596974"/>
                </a:solidFill>
              </a:defRPr>
            </a:lvl2pPr>
            <a:lvl3pPr>
              <a:buNone/>
              <a:defRPr sz="1125" b="0">
                <a:solidFill>
                  <a:srgbClr val="596974"/>
                </a:solidFill>
              </a:defRPr>
            </a:lvl3pPr>
            <a:lvl4pPr>
              <a:buNone/>
              <a:defRPr sz="1125" b="0">
                <a:solidFill>
                  <a:srgbClr val="596974"/>
                </a:solidFill>
              </a:defRPr>
            </a:lvl4pPr>
            <a:lvl5pPr>
              <a:buNone/>
              <a:defRPr sz="1125" b="0">
                <a:solidFill>
                  <a:srgbClr val="596974"/>
                </a:solidFill>
              </a:defRPr>
            </a:lvl5pPr>
            <a:lvl6pPr>
              <a:buNone/>
              <a:defRPr sz="1125" b="0">
                <a:solidFill>
                  <a:srgbClr val="596974"/>
                </a:solidFill>
              </a:defRPr>
            </a:lvl6pPr>
            <a:lvl7pPr>
              <a:buNone/>
              <a:defRPr sz="1125" b="0">
                <a:solidFill>
                  <a:srgbClr val="596974"/>
                </a:solidFill>
              </a:defRPr>
            </a:lvl7pPr>
            <a:lvl8pPr>
              <a:buNone/>
              <a:defRPr sz="1125" b="0">
                <a:solidFill>
                  <a:srgbClr val="596974"/>
                </a:solidFill>
              </a:defRPr>
            </a:lvl8pPr>
            <a:lvl9pPr>
              <a:buNone/>
              <a:defRPr sz="11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596974"/>
                </a:solidFill>
              </a:defRPr>
            </a:pPr>
            <a:r>
              <a:rPr sz="1125" b="0">
                <a:solidFill>
                  <a:srgbClr val="596974"/>
                </a:solidFill>
              </a:rPr>
              <a:t>Vocabulary review    •    </a:t>
            </a:r>
            <a:r>
              <a:rPr sz="1125" b="0">
                <a:solidFill>
                  <a:srgbClr val="596974"/>
                </a:solidFill>
              </a:rPr>
              <a:t>Approved wording</a:t>
            </a:r>
            <a:r>
              <a:rPr sz="1125" b="0">
                <a:solidFill>
                  <a:srgbClr val="596974"/>
                </a:solidFill>
              </a:rPr>
              <a:t>    •    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A3BD68-7FAE-4E88-AAE3-B0395C95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96974"/>
                </a:solidFill>
              </a:defRPr>
            </a:defPPr>
            <a:lvl1pPr>
              <a:buNone/>
              <a:defRPr sz="1350" b="1">
                <a:solidFill>
                  <a:srgbClr val="596974"/>
                </a:solidFill>
              </a:defRPr>
            </a:lvl1pPr>
            <a:lvl2pPr>
              <a:buNone/>
              <a:defRPr sz="1350" b="1">
                <a:solidFill>
                  <a:srgbClr val="596974"/>
                </a:solidFill>
              </a:defRPr>
            </a:lvl2pPr>
            <a:lvl3pPr>
              <a:buNone/>
              <a:defRPr sz="1350" b="1">
                <a:solidFill>
                  <a:srgbClr val="596974"/>
                </a:solidFill>
              </a:defRPr>
            </a:lvl3pPr>
            <a:lvl4pPr>
              <a:buNone/>
              <a:defRPr sz="1350" b="1">
                <a:solidFill>
                  <a:srgbClr val="596974"/>
                </a:solidFill>
              </a:defRPr>
            </a:lvl4pPr>
            <a:lvl5pPr>
              <a:buNone/>
              <a:defRPr sz="1350" b="1">
                <a:solidFill>
                  <a:srgbClr val="596974"/>
                </a:solidFill>
              </a:defRPr>
            </a:lvl5pPr>
            <a:lvl6pPr>
              <a:buNone/>
              <a:defRPr sz="1350" b="1">
                <a:solidFill>
                  <a:srgbClr val="596974"/>
                </a:solidFill>
              </a:defRPr>
            </a:lvl6pPr>
            <a:lvl7pPr>
              <a:buNone/>
              <a:defRPr sz="1350" b="1">
                <a:solidFill>
                  <a:srgbClr val="596974"/>
                </a:solidFill>
              </a:defRPr>
            </a:lvl7pPr>
            <a:lvl8pPr>
              <a:buNone/>
              <a:defRPr sz="1350" b="1">
                <a:solidFill>
                  <a:srgbClr val="596974"/>
                </a:solidFill>
              </a:defRPr>
            </a:lvl8pPr>
            <a:lvl9pPr>
              <a:buNone/>
              <a:defRPr sz="1350" b="1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596974"/>
                </a:solidFill>
              </a:defRPr>
            </a:pPr>
            <a:r>
              <a:rPr sz="1350" b="1">
                <a:solidFill>
                  <a:srgbClr val="596974"/>
                </a:solidFill>
              </a:rPr>
              <a:t>BEFORE · CURRENT WORDING</a:t>
            </a:r>
          </a:p>
        </p:txBody>
      </p:sp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4F5D4C12-8691-4F6B-A2BB-D824ED6AAC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5e018bff249de"/>
          <a:stretch xmlns:a="http://schemas.openxmlformats.org/drawingml/2006/main"/>
        </p:blipFill>
        <p:spPr>
          <a:xfrm xmlns:a="http://schemas.openxmlformats.org/drawingml/2006/main">
            <a:off x="533901" y="1943100"/>
            <a:ext cx="5313947" cy="4038600"/>
          </a:xfrm>
          <a:prstGeom xmlns:a="http://schemas.openxmlformats.org/drawingml/2006/main" prst="rect">
            <a:avLst/>
          </a:prstGeom>
        </p:spPr>
      </p:pic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97C2268-6D97-430F-A237-AF0D5E8E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36650"/>
                </a:solidFill>
              </a:defRPr>
            </a:defPPr>
            <a:lvl1pPr>
              <a:buNone/>
              <a:defRPr sz="1350" b="1">
                <a:solidFill>
                  <a:srgbClr val="236650"/>
                </a:solidFill>
              </a:defRPr>
            </a:lvl1pPr>
            <a:lvl2pPr>
              <a:buNone/>
              <a:defRPr sz="1350" b="1">
                <a:solidFill>
                  <a:srgbClr val="236650"/>
                </a:solidFill>
              </a:defRPr>
            </a:lvl2pPr>
            <a:lvl3pPr>
              <a:buNone/>
              <a:defRPr sz="1350" b="1">
                <a:solidFill>
                  <a:srgbClr val="236650"/>
                </a:solidFill>
              </a:defRPr>
            </a:lvl3pPr>
            <a:lvl4pPr>
              <a:buNone/>
              <a:defRPr sz="1350" b="1">
                <a:solidFill>
                  <a:srgbClr val="236650"/>
                </a:solidFill>
              </a:defRPr>
            </a:lvl4pPr>
            <a:lvl5pPr>
              <a:buNone/>
              <a:defRPr sz="1350" b="1">
                <a:solidFill>
                  <a:srgbClr val="236650"/>
                </a:solidFill>
              </a:defRPr>
            </a:lvl5pPr>
            <a:lvl6pPr>
              <a:buNone/>
              <a:defRPr sz="1350" b="1">
                <a:solidFill>
                  <a:srgbClr val="236650"/>
                </a:solidFill>
              </a:defRPr>
            </a:lvl6pPr>
            <a:lvl7pPr>
              <a:buNone/>
              <a:defRPr sz="1350" b="1">
                <a:solidFill>
                  <a:srgbClr val="236650"/>
                </a:solidFill>
              </a:defRPr>
            </a:lvl7pPr>
            <a:lvl8pPr>
              <a:buNone/>
              <a:defRPr sz="1350" b="1">
                <a:solidFill>
                  <a:srgbClr val="236650"/>
                </a:solidFill>
              </a:defRPr>
            </a:lvl8pPr>
            <a:lvl9pPr>
              <a:buNone/>
              <a:defRPr sz="1350" b="1">
                <a:solidFill>
                  <a:srgbClr val="236650"/>
                </a:solidFill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236650"/>
                </a:solidFill>
              </a:defRPr>
            </a:pPr>
            <a:r>
              <a:rPr sz="1350" b="1">
                <a:solidFill>
                  <a:srgbClr val="236650"/>
                </a:solidFill>
              </a:rPr>
              <a:t>AFTER · APPROVED</a:t>
            </a:r>
          </a:p>
        </p:txBody>
      </p:sp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77138ED4-BA83-4748-AC28-97FDA9633D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19229fecd4088"/>
          <a:stretch xmlns:a="http://schemas.openxmlformats.org/drawingml/2006/main"/>
        </p:blipFill>
        <p:spPr>
          <a:xfrm xmlns:a="http://schemas.openxmlformats.org/drawingml/2006/main">
            <a:off x="6344151" y="1943100"/>
            <a:ext cx="5313947" cy="4038600"/>
          </a:xfrm>
          <a:prstGeom xmlns:a="http://schemas.openxmlformats.org/drawingml/2006/main" prst="rect">
            <a:avLst/>
          </a:prstGeom>
        </p:spPr>
      </p:pic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D332482-1FFE-4E82-BC52-B19B7CFB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57900"/>
            <a:ext cx="1114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96974"/>
                </a:solidFill>
              </a:defRPr>
            </a:defPPr>
            <a:lvl1pPr>
              <a:buNone/>
              <a:defRPr sz="1500" b="0">
                <a:solidFill>
                  <a:srgbClr val="596974"/>
                </a:solidFill>
              </a:defRPr>
            </a:lvl1pPr>
            <a:lvl2pPr>
              <a:buNone/>
              <a:defRPr sz="1500" b="0">
                <a:solidFill>
                  <a:srgbClr val="596974"/>
                </a:solidFill>
              </a:defRPr>
            </a:lvl2pPr>
            <a:lvl3pPr>
              <a:buNone/>
              <a:defRPr sz="1500" b="0">
                <a:solidFill>
                  <a:srgbClr val="596974"/>
                </a:solidFill>
              </a:defRPr>
            </a:lvl3pPr>
            <a:lvl4pPr>
              <a:buNone/>
              <a:defRPr sz="1500" b="0">
                <a:solidFill>
                  <a:srgbClr val="596974"/>
                </a:solidFill>
              </a:defRPr>
            </a:lvl4pPr>
            <a:lvl5pPr>
              <a:buNone/>
              <a:defRPr sz="1500" b="0">
                <a:solidFill>
                  <a:srgbClr val="596974"/>
                </a:solidFill>
              </a:defRPr>
            </a:lvl5pPr>
            <a:lvl6pPr>
              <a:buNone/>
              <a:defRPr sz="1500" b="0">
                <a:solidFill>
                  <a:srgbClr val="596974"/>
                </a:solidFill>
              </a:defRPr>
            </a:lvl6pPr>
            <a:lvl7pPr>
              <a:buNone/>
              <a:defRPr sz="1500" b="0">
                <a:solidFill>
                  <a:srgbClr val="596974"/>
                </a:solidFill>
              </a:defRPr>
            </a:lvl7pPr>
            <a:lvl8pPr>
              <a:buNone/>
              <a:defRPr sz="1500" b="0">
                <a:solidFill>
                  <a:srgbClr val="596974"/>
                </a:solidFill>
              </a:defRPr>
            </a:lvl8pPr>
            <a:lvl9pPr>
              <a:buNone/>
              <a:defRPr sz="1500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596974"/>
                </a:solidFill>
              </a:defRPr>
            </a:pPr>
            <a:r>
              <a:rPr sz="1500" b="0">
                <a:solidFill>
                  <a:srgbClr val="596974"/>
                </a:solidFill>
              </a:rPr>
              <a:t>Discussion summaries are grouped by SE and MR. Each entry covers one proposal.</a:t>
            </a:r>
          </a:p>
        </p:txBody>
      </p:sp>
    </p:spTree>
    <p:extLst>
      <p:ext uri="{BB962C8B-B14F-4D97-AF65-F5344CB8AC3E}">
        <p14:creationId xmlns:p14="http://schemas.microsoft.com/office/powerpoint/2010/main" val="13022667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BC2B2D-55BA-48F7-83AE-9F0599F4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3247"/>
                </a:solidFill>
              </a:defRPr>
            </a:defPPr>
            <a:lvl1pPr>
              <a:buNone/>
              <a:defRPr sz="3150" b="1">
                <a:solidFill>
                  <a:srgbClr val="173247"/>
                </a:solidFill>
              </a:defRPr>
            </a:lvl1pPr>
            <a:lvl2pPr>
              <a:buNone/>
              <a:defRPr sz="3150" b="1">
                <a:solidFill>
                  <a:srgbClr val="173247"/>
                </a:solidFill>
              </a:defRPr>
            </a:lvl2pPr>
            <a:lvl3pPr>
              <a:buNone/>
              <a:defRPr sz="3150" b="1">
                <a:solidFill>
                  <a:srgbClr val="173247"/>
                </a:solidFill>
              </a:defRPr>
            </a:lvl3pPr>
            <a:lvl4pPr>
              <a:buNone/>
              <a:defRPr sz="3150" b="1">
                <a:solidFill>
                  <a:srgbClr val="173247"/>
                </a:solidFill>
              </a:defRPr>
            </a:lvl4pPr>
            <a:lvl5pPr>
              <a:buNone/>
              <a:defRPr sz="3150" b="1">
                <a:solidFill>
                  <a:srgbClr val="173247"/>
                </a:solidFill>
              </a:defRPr>
            </a:lvl5pPr>
            <a:lvl6pPr>
              <a:buNone/>
              <a:defRPr sz="3150" b="1">
                <a:solidFill>
                  <a:srgbClr val="173247"/>
                </a:solidFill>
              </a:defRPr>
            </a:lvl6pPr>
            <a:lvl7pPr>
              <a:buNone/>
              <a:defRPr sz="3150" b="1">
                <a:solidFill>
                  <a:srgbClr val="173247"/>
                </a:solidFill>
              </a:defRPr>
            </a:lvl7pPr>
            <a:lvl8pPr>
              <a:buNone/>
              <a:defRPr sz="3150" b="1">
                <a:solidFill>
                  <a:srgbClr val="173247"/>
                </a:solidFill>
              </a:defRPr>
            </a:lvl8pPr>
            <a:lvl9pPr>
              <a:buNone/>
              <a:defRPr sz="3150" b="1">
                <a:solidFill>
                  <a:srgbClr val="173247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73247"/>
                </a:solidFill>
              </a:defRPr>
            </a:pPr>
            <a:r>
              <a:rPr sz="3150" b="1">
                <a:solidFill>
                  <a:srgbClr val="173247"/>
                </a:solidFill>
              </a:rPr>
              <a:t>Vocabulary: preparation and meetings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BFBCFE9-76C7-4A11-A453-7E45A3E7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96974"/>
                </a:solidFill>
              </a:defRPr>
            </a:defPPr>
            <a:lvl1pPr>
              <a:buNone/>
              <a:defRPr sz="1725" b="0">
                <a:solidFill>
                  <a:srgbClr val="596974"/>
                </a:solidFill>
              </a:defRPr>
            </a:lvl1pPr>
            <a:lvl2pPr>
              <a:buNone/>
              <a:defRPr sz="1725" b="0">
                <a:solidFill>
                  <a:srgbClr val="596974"/>
                </a:solidFill>
              </a:defRPr>
            </a:lvl2pPr>
            <a:lvl3pPr>
              <a:buNone/>
              <a:defRPr sz="1725" b="0">
                <a:solidFill>
                  <a:srgbClr val="596974"/>
                </a:solidFill>
              </a:defRPr>
            </a:lvl3pPr>
            <a:lvl4pPr>
              <a:buNone/>
              <a:defRPr sz="1725" b="0">
                <a:solidFill>
                  <a:srgbClr val="596974"/>
                </a:solidFill>
              </a:defRPr>
            </a:lvl4pPr>
            <a:lvl5pPr>
              <a:buNone/>
              <a:defRPr sz="1725" b="0">
                <a:solidFill>
                  <a:srgbClr val="596974"/>
                </a:solidFill>
              </a:defRPr>
            </a:lvl5pPr>
            <a:lvl6pPr>
              <a:buNone/>
              <a:defRPr sz="1725" b="0">
                <a:solidFill>
                  <a:srgbClr val="596974"/>
                </a:solidFill>
              </a:defRPr>
            </a:lvl6pPr>
            <a:lvl7pPr>
              <a:buNone/>
              <a:defRPr sz="1725" b="0">
                <a:solidFill>
                  <a:srgbClr val="596974"/>
                </a:solidFill>
              </a:defRPr>
            </a:lvl7pPr>
            <a:lvl8pPr>
              <a:buNone/>
              <a:defRPr sz="1725" b="0">
                <a:solidFill>
                  <a:srgbClr val="596974"/>
                </a:solidFill>
              </a:defRPr>
            </a:lvl8pPr>
            <a:lvl9pPr>
              <a:buNone/>
              <a:defRPr sz="17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96974"/>
                </a:solidFill>
              </a:defRPr>
            </a:pPr>
            <a:r>
              <a:rPr sz="1725" b="0">
                <a:solidFill>
                  <a:srgbClr val="596974"/>
                </a:solidFill>
              </a:rPr>
              <a:t>Approved vocabulary · October 21, 2026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4C3DD03-395F-4653-A8E3-504AFAE5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974"/>
                </a:solidFill>
              </a:defRPr>
            </a:defPPr>
            <a:lvl1pPr>
              <a:buNone/>
              <a:defRPr sz="1125" b="0">
                <a:solidFill>
                  <a:srgbClr val="596974"/>
                </a:solidFill>
              </a:defRPr>
            </a:lvl1pPr>
            <a:lvl2pPr>
              <a:buNone/>
              <a:defRPr sz="1125" b="0">
                <a:solidFill>
                  <a:srgbClr val="596974"/>
                </a:solidFill>
              </a:defRPr>
            </a:lvl2pPr>
            <a:lvl3pPr>
              <a:buNone/>
              <a:defRPr sz="1125" b="0">
                <a:solidFill>
                  <a:srgbClr val="596974"/>
                </a:solidFill>
              </a:defRPr>
            </a:lvl3pPr>
            <a:lvl4pPr>
              <a:buNone/>
              <a:defRPr sz="1125" b="0">
                <a:solidFill>
                  <a:srgbClr val="596974"/>
                </a:solidFill>
              </a:defRPr>
            </a:lvl4pPr>
            <a:lvl5pPr>
              <a:buNone/>
              <a:defRPr sz="1125" b="0">
                <a:solidFill>
                  <a:srgbClr val="596974"/>
                </a:solidFill>
              </a:defRPr>
            </a:lvl5pPr>
            <a:lvl6pPr>
              <a:buNone/>
              <a:defRPr sz="1125" b="0">
                <a:solidFill>
                  <a:srgbClr val="596974"/>
                </a:solidFill>
              </a:defRPr>
            </a:lvl6pPr>
            <a:lvl7pPr>
              <a:buNone/>
              <a:defRPr sz="1125" b="0">
                <a:solidFill>
                  <a:srgbClr val="596974"/>
                </a:solidFill>
              </a:defRPr>
            </a:lvl7pPr>
            <a:lvl8pPr>
              <a:buNone/>
              <a:defRPr sz="1125" b="0">
                <a:solidFill>
                  <a:srgbClr val="596974"/>
                </a:solidFill>
              </a:defRPr>
            </a:lvl8pPr>
            <a:lvl9pPr>
              <a:buNone/>
              <a:defRPr sz="11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596974"/>
                </a:solidFill>
              </a:defRPr>
            </a:pPr>
            <a:r>
              <a:rPr sz="1125" b="0">
                <a:solidFill>
                  <a:srgbClr val="596974"/>
                </a:solidFill>
              </a:rPr>
              <a:t>Vocabulary review    •    </a:t>
            </a:r>
            <a:r>
              <a:rPr sz="1125" b="0">
                <a:solidFill>
                  <a:srgbClr val="596974"/>
                </a:solidFill>
              </a:rPr>
              <a:t>Approved wording</a:t>
            </a:r>
            <a:r>
              <a:rPr sz="1125" b="0">
                <a:solidFill>
                  <a:srgbClr val="596974"/>
                </a:solidFill>
              </a:rPr>
              <a:t>    •    5</a:t>
            </a:r>
          </a:p>
        </p:txBody>
      </p:sp>
      <p:graphicFrame>
        <p:nvGraphicFramePr>
          <p:cNvPr id="4" name="Table 3">
            <a:extLst xmlns:a="http://schemas.openxmlformats.org/drawingml/2006/main">
              <a:ext uri="{FF2B5EF4-FFF2-40B4-BE49-F238E27FC236}">
                <a16:creationId xmlns:a16="http://schemas.microsoft.com/office/drawing/2014/main" id="{9E8386B4-EB1A-4B48-8851-192702307FF8}"/>
              </a:ext>
            </a:extLst>
          </p:cNvPr>
          <p:cNvGraphicFramePr/>
          <p:nvPr/>
        </p:nvGraphicFramePr>
        <p:xfrm>
          <a:off xmlns:a="http://schemas.openxmlformats.org/drawingml/2006/main" x="533400" y="1809750"/>
          <a:ext xmlns:a="http://schemas.openxmlformats.org/drawingml/2006/main" cx="111252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4524375"/>
                <a:gridCol w="5076825"/>
              </a:tblGrid>
              <a:tr h="463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CURRENT WORDING / EXAMPLES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APPROVED NAME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Workspace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Staff Deliberations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Staff Deliberations (keep)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Meeting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Deliberation session / Pre-discussion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Proposal discussion session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Meeting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Site visit / Presentation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Research presentation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Discussion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Staff discussion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Post-presentation discussion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Document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Pre-site briefing / Pre-RP Brief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Proposal discussion brief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Shared page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Deliberation briefing / Briefing page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Proposal review packet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Agenda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Deliberation session agenda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Discussion session agenda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Materials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Site visit materials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Presentation materials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34466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A645491-D9D5-47A9-B2E5-D83BD5C9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14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3247"/>
                </a:solidFill>
              </a:defRPr>
            </a:defPPr>
            <a:lvl1pPr>
              <a:buNone/>
              <a:defRPr sz="3150" b="1">
                <a:solidFill>
                  <a:srgbClr val="173247"/>
                </a:solidFill>
              </a:defRPr>
            </a:lvl1pPr>
            <a:lvl2pPr>
              <a:buNone/>
              <a:defRPr sz="3150" b="1">
                <a:solidFill>
                  <a:srgbClr val="173247"/>
                </a:solidFill>
              </a:defRPr>
            </a:lvl2pPr>
            <a:lvl3pPr>
              <a:buNone/>
              <a:defRPr sz="3150" b="1">
                <a:solidFill>
                  <a:srgbClr val="173247"/>
                </a:solidFill>
              </a:defRPr>
            </a:lvl3pPr>
            <a:lvl4pPr>
              <a:buNone/>
              <a:defRPr sz="3150" b="1">
                <a:solidFill>
                  <a:srgbClr val="173247"/>
                </a:solidFill>
              </a:defRPr>
            </a:lvl4pPr>
            <a:lvl5pPr>
              <a:buNone/>
              <a:defRPr sz="3150" b="1">
                <a:solidFill>
                  <a:srgbClr val="173247"/>
                </a:solidFill>
              </a:defRPr>
            </a:lvl5pPr>
            <a:lvl6pPr>
              <a:buNone/>
              <a:defRPr sz="3150" b="1">
                <a:solidFill>
                  <a:srgbClr val="173247"/>
                </a:solidFill>
              </a:defRPr>
            </a:lvl6pPr>
            <a:lvl7pPr>
              <a:buNone/>
              <a:defRPr sz="3150" b="1">
                <a:solidFill>
                  <a:srgbClr val="173247"/>
                </a:solidFill>
              </a:defRPr>
            </a:lvl7pPr>
            <a:lvl8pPr>
              <a:buNone/>
              <a:defRPr sz="3150" b="1">
                <a:solidFill>
                  <a:srgbClr val="173247"/>
                </a:solidFill>
              </a:defRPr>
            </a:lvl8pPr>
            <a:lvl9pPr>
              <a:buNone/>
              <a:defRPr sz="3150" b="1">
                <a:solidFill>
                  <a:srgbClr val="173247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73247"/>
                </a:solidFill>
              </a:defRPr>
            </a:pPr>
            <a:r>
              <a:rPr sz="3150" b="1">
                <a:solidFill>
                  <a:srgbClr val="173247"/>
                </a:solidFill>
              </a:rPr>
              <a:t>Vocabulary: follow-up and summaries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9259CFE-DE17-42F6-9A90-050882DF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96974"/>
                </a:solidFill>
              </a:defRPr>
            </a:defPPr>
            <a:lvl1pPr>
              <a:buNone/>
              <a:defRPr sz="1725" b="0">
                <a:solidFill>
                  <a:srgbClr val="596974"/>
                </a:solidFill>
              </a:defRPr>
            </a:lvl1pPr>
            <a:lvl2pPr>
              <a:buNone/>
              <a:defRPr sz="1725" b="0">
                <a:solidFill>
                  <a:srgbClr val="596974"/>
                </a:solidFill>
              </a:defRPr>
            </a:lvl2pPr>
            <a:lvl3pPr>
              <a:buNone/>
              <a:defRPr sz="1725" b="0">
                <a:solidFill>
                  <a:srgbClr val="596974"/>
                </a:solidFill>
              </a:defRPr>
            </a:lvl3pPr>
            <a:lvl4pPr>
              <a:buNone/>
              <a:defRPr sz="1725" b="0">
                <a:solidFill>
                  <a:srgbClr val="596974"/>
                </a:solidFill>
              </a:defRPr>
            </a:lvl4pPr>
            <a:lvl5pPr>
              <a:buNone/>
              <a:defRPr sz="1725" b="0">
                <a:solidFill>
                  <a:srgbClr val="596974"/>
                </a:solidFill>
              </a:defRPr>
            </a:lvl5pPr>
            <a:lvl6pPr>
              <a:buNone/>
              <a:defRPr sz="1725" b="0">
                <a:solidFill>
                  <a:srgbClr val="596974"/>
                </a:solidFill>
              </a:defRPr>
            </a:lvl6pPr>
            <a:lvl7pPr>
              <a:buNone/>
              <a:defRPr sz="1725" b="0">
                <a:solidFill>
                  <a:srgbClr val="596974"/>
                </a:solidFill>
              </a:defRPr>
            </a:lvl7pPr>
            <a:lvl8pPr>
              <a:buNone/>
              <a:defRPr sz="1725" b="0">
                <a:solidFill>
                  <a:srgbClr val="596974"/>
                </a:solidFill>
              </a:defRPr>
            </a:lvl8pPr>
            <a:lvl9pPr>
              <a:buNone/>
              <a:defRPr sz="17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96974"/>
                </a:solidFill>
              </a:defRPr>
            </a:pPr>
            <a:r>
              <a:rPr sz="1725" b="0">
                <a:solidFill>
                  <a:srgbClr val="596974"/>
                </a:solidFill>
              </a:rPr>
              <a:t>Approved vocabulary · October 21, 2026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6E362B1-18D4-4DC6-B616-66FD63B2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114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96974"/>
                </a:solidFill>
              </a:defRPr>
            </a:defPPr>
            <a:lvl1pPr>
              <a:buNone/>
              <a:defRPr sz="1125" b="0">
                <a:solidFill>
                  <a:srgbClr val="596974"/>
                </a:solidFill>
              </a:defRPr>
            </a:lvl1pPr>
            <a:lvl2pPr>
              <a:buNone/>
              <a:defRPr sz="1125" b="0">
                <a:solidFill>
                  <a:srgbClr val="596974"/>
                </a:solidFill>
              </a:defRPr>
            </a:lvl2pPr>
            <a:lvl3pPr>
              <a:buNone/>
              <a:defRPr sz="1125" b="0">
                <a:solidFill>
                  <a:srgbClr val="596974"/>
                </a:solidFill>
              </a:defRPr>
            </a:lvl3pPr>
            <a:lvl4pPr>
              <a:buNone/>
              <a:defRPr sz="1125" b="0">
                <a:solidFill>
                  <a:srgbClr val="596974"/>
                </a:solidFill>
              </a:defRPr>
            </a:lvl4pPr>
            <a:lvl5pPr>
              <a:buNone/>
              <a:defRPr sz="1125" b="0">
                <a:solidFill>
                  <a:srgbClr val="596974"/>
                </a:solidFill>
              </a:defRPr>
            </a:lvl5pPr>
            <a:lvl6pPr>
              <a:buNone/>
              <a:defRPr sz="1125" b="0">
                <a:solidFill>
                  <a:srgbClr val="596974"/>
                </a:solidFill>
              </a:defRPr>
            </a:lvl6pPr>
            <a:lvl7pPr>
              <a:buNone/>
              <a:defRPr sz="1125" b="0">
                <a:solidFill>
                  <a:srgbClr val="596974"/>
                </a:solidFill>
              </a:defRPr>
            </a:lvl7pPr>
            <a:lvl8pPr>
              <a:buNone/>
              <a:defRPr sz="1125" b="0">
                <a:solidFill>
                  <a:srgbClr val="596974"/>
                </a:solidFill>
              </a:defRPr>
            </a:lvl8pPr>
            <a:lvl9pPr>
              <a:buNone/>
              <a:defRPr sz="1125" b="0">
                <a:solidFill>
                  <a:srgbClr val="596974"/>
                </a:solidFill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596974"/>
                </a:solidFill>
              </a:defRPr>
            </a:pPr>
            <a:r>
              <a:rPr sz="1125" b="0">
                <a:solidFill>
                  <a:srgbClr val="596974"/>
                </a:solidFill>
              </a:rPr>
              <a:t>Vocabulary review    •    </a:t>
            </a:r>
            <a:r>
              <a:rPr sz="1125" b="0">
                <a:solidFill>
                  <a:srgbClr val="596974"/>
                </a:solidFill>
              </a:rPr>
              <a:t>Approved wording</a:t>
            </a:r>
            <a:r>
              <a:rPr sz="1125" b="0">
                <a:solidFill>
                  <a:srgbClr val="596974"/>
                </a:solidFill>
              </a:rPr>
              <a:t>    •    6</a:t>
            </a:r>
          </a:p>
        </p:txBody>
      </p:sp>
      <p:graphicFrame>
        <p:nvGraphicFramePr>
          <p:cNvPr id="4" name="Table 3">
            <a:extLst xmlns:a="http://schemas.openxmlformats.org/drawingml/2006/main">
              <a:ext uri="{FF2B5EF4-FFF2-40B4-BE49-F238E27FC236}">
                <a16:creationId xmlns:a16="http://schemas.microsoft.com/office/drawing/2014/main" id="{1BE9BEA6-58B2-4EF6-B7D8-1F75F7B6C962}"/>
              </a:ext>
            </a:extLst>
          </p:cNvPr>
          <p:cNvGraphicFramePr/>
          <p:nvPr/>
        </p:nvGraphicFramePr>
        <p:xfrm>
          <a:off xmlns:a="http://schemas.openxmlformats.org/drawingml/2006/main" x="533400" y="1809750"/>
          <a:ext xmlns:a="http://schemas.openxmlformats.org/drawingml/2006/main" cx="111252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4524375"/>
                <a:gridCol w="5076825"/>
              </a:tblGrid>
              <a:tr h="463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CURRENT WORDING / EXAMPLES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APPROVED NAME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>
                      <a:solidFill>
                        <a:srgbClr val="DCE2E5"/>
                      </a:solidFill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173247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Recording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Post-presentation materials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Recording and transcripts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Document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Working writeup / Word Draft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Draft writeup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Document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Final Writeup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Final writeup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Summary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Presentation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Presentation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Summary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Staff discussion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Post-presentation discussion summary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Analysis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Discussion Sentiment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Post-presentation discussion sentiment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Collection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Program briefing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Discussion summaries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35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Research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CE2E5"/>
                      </a:solidFill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247"/>
                          </a:solidFill>
                        </a:rPr>
                        <a:t>Cycle Dossier / Scientific briefing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247"/>
                          </a:solidFill>
                        </a:rPr>
                        <a:t>Scientific dossier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DCE2E5"/>
                      </a:solidFill>
                      <a:prstDash val="solid"/>
                    </a:lnL>
                    <a:lnR w="9525">
                      <a:solidFill>
                        <a:srgbClr val="DCE2E5"/>
                      </a:solidFill>
                    </a:lnR>
                    <a:lnT w="9525" cmpd="sng">
                      <a:solidFill>
                        <a:srgbClr val="DCE2E5"/>
                      </a:solidFill>
                      <a:prstDash val="solid"/>
                    </a:lnT>
                    <a:lnB w="9525">
                      <a:solidFill>
                        <a:srgbClr val="DCE2E5"/>
                      </a:solidFill>
                    </a:lnB>
                    <a:solidFill>
                      <a:srgbClr val="EDF2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8947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2026-10-21T23:37:05.7170000Z</dcterms:created>
  <dcterms:modified xsi:type="dcterms:W3CDTF">2026-10-21T23:37:05.7170000Z</dcterms:modified>
</coreProperties>
</file>